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10287000" cx="18288000"/>
  <p:notesSz cx="9144000" cy="5143500"/>
  <p:embeddedFontLst>
    <p:embeddedFont>
      <p:font typeface="Roboto ExtraLight"/>
      <p:regular r:id="rId33"/>
      <p:bold r:id="rId34"/>
      <p:italic r:id="rId35"/>
      <p:boldItalic r:id="rId36"/>
    </p:embeddedFont>
    <p:embeddedFont>
      <p:font typeface="Roboto Thin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Roboto Light"/>
      <p:regular r:id="rId45"/>
      <p:bold r:id="rId46"/>
      <p:italic r:id="rId47"/>
      <p:boldItalic r:id="rId48"/>
    </p:embeddedFont>
    <p:embeddedFont>
      <p:font typeface="Arial Black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000000"/>
          </p15:clr>
        </p15:guide>
        <p15:guide id="2" pos="432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jm7ujxOnMjxNyHTAzMNW5XqRKAb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duarda Brab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Thin-boldItalic.fntdata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RobotoLight-bold.fntdata"/><Relationship Id="rId45" Type="http://schemas.openxmlformats.org/officeDocument/2006/relationships/font" Target="fonts/Roboto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RobotoLight-boldItalic.fntdata"/><Relationship Id="rId47" Type="http://schemas.openxmlformats.org/officeDocument/2006/relationships/font" Target="fonts/RobotoLight-italic.fntdata"/><Relationship Id="rId49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RobotoExtraLight-regular.fntdata"/><Relationship Id="rId32" Type="http://schemas.openxmlformats.org/officeDocument/2006/relationships/slide" Target="slides/slide26.xml"/><Relationship Id="rId35" Type="http://schemas.openxmlformats.org/officeDocument/2006/relationships/font" Target="fonts/RobotoExtraLight-italic.fntdata"/><Relationship Id="rId34" Type="http://schemas.openxmlformats.org/officeDocument/2006/relationships/font" Target="fonts/RobotoExtraLight-bold.fntdata"/><Relationship Id="rId37" Type="http://schemas.openxmlformats.org/officeDocument/2006/relationships/font" Target="fonts/RobotoThin-regular.fntdata"/><Relationship Id="rId36" Type="http://schemas.openxmlformats.org/officeDocument/2006/relationships/font" Target="fonts/RobotoExtraLight-boldItalic.fntdata"/><Relationship Id="rId39" Type="http://schemas.openxmlformats.org/officeDocument/2006/relationships/font" Target="fonts/RobotoThin-italic.fntdata"/><Relationship Id="rId38" Type="http://schemas.openxmlformats.org/officeDocument/2006/relationships/font" Target="fonts/RobotoThin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4T12:37:12.760">
    <p:pos x="1061" y="2468"/>
    <p:text>Lusha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ntgBU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14da4462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414da4462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17493821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417493821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1ed7058d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41ed7058d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414da4462_0_4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414da4462_0_4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14da4462_0_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414da4462_0_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14da4462_0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414da4462_0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14da4462_0_9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414da4462_0_9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414da4462_0_1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414da4462_0_1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414da4462_0_1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414da4462_0_1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14da4462_0_14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414da4462_0_14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414da4462_0_15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414da4462_0_15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414da4462_0_56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414da4462_0_56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14da4462_0_15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414da4462_0_15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414da4462_0_25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414da4462_0_25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414da4462_0_26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414da4462_0_26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414da4462_0_27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d414da4462_0_27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414da4462_0_297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414da4462_0_297:notes"/>
          <p:cNvSpPr/>
          <p:nvPr>
            <p:ph idx="2" type="sldImg"/>
          </p:nvPr>
        </p:nvSpPr>
        <p:spPr>
          <a:xfrm>
            <a:off x="1524300" y="385763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414da4462_0_309:notes"/>
          <p:cNvSpPr/>
          <p:nvPr>
            <p:ph idx="2" type="sldImg"/>
          </p:nvPr>
        </p:nvSpPr>
        <p:spPr>
          <a:xfrm>
            <a:off x="914400" y="642938"/>
            <a:ext cx="73152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414da4462_0_309:notes"/>
          <p:cNvSpPr txBox="1"/>
          <p:nvPr>
            <p:ph idx="1" type="body"/>
          </p:nvPr>
        </p:nvSpPr>
        <p:spPr>
          <a:xfrm>
            <a:off x="914400" y="2475309"/>
            <a:ext cx="7315200" cy="20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d414da4462_0_309:notes"/>
          <p:cNvSpPr txBox="1"/>
          <p:nvPr>
            <p:ph idx="12" type="sldNum"/>
          </p:nvPr>
        </p:nvSpPr>
        <p:spPr>
          <a:xfrm>
            <a:off x="5179484" y="4885432"/>
            <a:ext cx="396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414da4462_0_326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414da4462_0_326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3" name="Google Shape;13;p34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3956044" y="1376918"/>
            <a:ext cx="10375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7" name="Google Shape;17;p35"/>
          <p:cNvSpPr txBox="1"/>
          <p:nvPr>
            <p:ph idx="1" type="body"/>
          </p:nvPr>
        </p:nvSpPr>
        <p:spPr>
          <a:xfrm>
            <a:off x="1177728" y="2594016"/>
            <a:ext cx="79311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600">
                <a:solidFill>
                  <a:srgbClr val="1B365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8" name="Google Shape;18;p35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6"/>
          <p:cNvSpPr txBox="1"/>
          <p:nvPr>
            <p:ph type="title"/>
          </p:nvPr>
        </p:nvSpPr>
        <p:spPr>
          <a:xfrm>
            <a:off x="3956044" y="1376918"/>
            <a:ext cx="10375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ctrTitle"/>
          </p:nvPr>
        </p:nvSpPr>
        <p:spPr>
          <a:xfrm>
            <a:off x="1226050" y="2552700"/>
            <a:ext cx="158358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9" name="Google Shape;29;p37"/>
          <p:cNvSpPr txBox="1"/>
          <p:nvPr>
            <p:ph idx="1" type="subTitle"/>
          </p:nvPr>
        </p:nvSpPr>
        <p:spPr>
          <a:xfrm>
            <a:off x="1226050" y="5181600"/>
            <a:ext cx="8379600" cy="1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600">
                <a:solidFill>
                  <a:srgbClr val="1B365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1" name="Google Shape;31;p37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8"/>
          <p:cNvSpPr/>
          <p:nvPr/>
        </p:nvSpPr>
        <p:spPr>
          <a:xfrm>
            <a:off x="691050" y="2170350"/>
            <a:ext cx="9823450" cy="7393940"/>
          </a:xfrm>
          <a:custGeom>
            <a:rect b="b" l="l" r="r" t="t"/>
            <a:pathLst>
              <a:path extrusionOk="0" h="3696970" w="4911725">
                <a:moveTo>
                  <a:pt x="4295487" y="3696599"/>
                </a:move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2269" y="1853"/>
                </a:lnTo>
                <a:lnTo>
                  <a:pt x="4343606" y="185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7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6" name="Google Shape;36;p38"/>
          <p:cNvSpPr/>
          <p:nvPr/>
        </p:nvSpPr>
        <p:spPr>
          <a:xfrm>
            <a:off x="691050" y="2170350"/>
            <a:ext cx="9823450" cy="7393940"/>
          </a:xfrm>
          <a:custGeom>
            <a:rect b="b" l="l" r="r" t="t"/>
            <a:pathLst>
              <a:path extrusionOk="0" h="3696970" w="4911725">
                <a:moveTo>
                  <a:pt x="0" y="616112"/>
                </a:move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4273" y="193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8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close/>
              </a:path>
            </a:pathLst>
          </a:custGeom>
          <a:noFill/>
          <a:ln cap="flat" cmpd="sng" w="19050">
            <a:solidFill>
              <a:srgbClr val="213E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3956044" y="1376918"/>
            <a:ext cx="10375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1411716" y="2706428"/>
            <a:ext cx="5422800" cy="60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000">
                <a:solidFill>
                  <a:srgbClr val="1B365D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9418320" y="2366010"/>
            <a:ext cx="7955400" cy="6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0" name="Google Shape;40;p38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1" name="Google Shape;41;p38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414da4462_0_410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5" name="Google Shape;45;g3d414da4462_0_410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6" name="Google Shape;46;g3d414da4462_0_410"/>
          <p:cNvSpPr txBox="1"/>
          <p:nvPr>
            <p:ph idx="12" type="sldNum"/>
          </p:nvPr>
        </p:nvSpPr>
        <p:spPr>
          <a:xfrm>
            <a:off x="9829800" y="9534525"/>
            <a:ext cx="32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414da4462_0_414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9" name="Google Shape;49;g3d414da4462_0_414"/>
          <p:cNvSpPr txBox="1"/>
          <p:nvPr>
            <p:ph idx="1" type="body"/>
          </p:nvPr>
        </p:nvSpPr>
        <p:spPr>
          <a:xfrm>
            <a:off x="685800" y="2400300"/>
            <a:ext cx="123444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8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200"/>
            </a:lvl2pPr>
            <a:lvl3pPr indent="-22860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600"/>
            </a:lvl3pPr>
            <a:lvl4pPr indent="-22860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4pPr>
            <a:lvl5pPr indent="-22860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5pPr>
            <a:lvl6pPr indent="-22860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6pPr>
            <a:lvl7pPr indent="-22860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7pPr>
            <a:lvl8pPr indent="-22860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8pPr>
            <a:lvl9pPr indent="-22860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/>
            </a:lvl9pPr>
          </a:lstStyle>
          <a:p/>
        </p:txBody>
      </p:sp>
      <p:sp>
        <p:nvSpPr>
          <p:cNvPr id="50" name="Google Shape;50;g3d414da4462_0_414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1" name="Google Shape;51;g3d414da4462_0_414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2" name="Google Shape;52;g3d414da4462_0_414"/>
          <p:cNvSpPr txBox="1"/>
          <p:nvPr>
            <p:ph idx="12" type="sldNum"/>
          </p:nvPr>
        </p:nvSpPr>
        <p:spPr>
          <a:xfrm>
            <a:off x="9829800" y="9534525"/>
            <a:ext cx="32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414da4462_0_420"/>
          <p:cNvSpPr txBox="1"/>
          <p:nvPr>
            <p:ph type="ctrTitle"/>
          </p:nvPr>
        </p:nvSpPr>
        <p:spPr>
          <a:xfrm>
            <a:off x="1028700" y="3195638"/>
            <a:ext cx="11658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5" name="Google Shape;55;g3d414da4462_0_420"/>
          <p:cNvSpPr txBox="1"/>
          <p:nvPr>
            <p:ph idx="1" type="subTitle"/>
          </p:nvPr>
        </p:nvSpPr>
        <p:spPr>
          <a:xfrm>
            <a:off x="2057400" y="5829300"/>
            <a:ext cx="9601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ctr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lvl="1" algn="ctr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2pPr>
            <a:lvl3pPr lvl="2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g3d414da4462_0_420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7" name="Google Shape;57;g3d414da4462_0_420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8" name="Google Shape;58;g3d414da4462_0_420"/>
          <p:cNvSpPr txBox="1"/>
          <p:nvPr>
            <p:ph idx="12" type="sldNum"/>
          </p:nvPr>
        </p:nvSpPr>
        <p:spPr>
          <a:xfrm>
            <a:off x="9829800" y="9534525"/>
            <a:ext cx="32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956044" y="1376918"/>
            <a:ext cx="10375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1177728" y="2594016"/>
            <a:ext cx="79311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600" u="none" cap="none" strike="noStrike">
                <a:solidFill>
                  <a:srgbClr val="1B365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9" name="Google Shape;9;p33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13167360" y="9566910"/>
            <a:ext cx="42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3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8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hyperlink" Target="https://api.whatsapp.com/send?phone=5511994485006" TargetMode="External"/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9" Type="http://schemas.openxmlformats.org/officeDocument/2006/relationships/image" Target="../media/image16.png"/><Relationship Id="rId5" Type="http://schemas.openxmlformats.org/officeDocument/2006/relationships/hyperlink" Target="https://dealwise.com.br/" TargetMode="External"/><Relationship Id="rId6" Type="http://schemas.openxmlformats.org/officeDocument/2006/relationships/hyperlink" Target="https://www.linkedin.com/company/dealwiseaceleradora/" TargetMode="External"/><Relationship Id="rId7" Type="http://schemas.openxmlformats.org/officeDocument/2006/relationships/image" Target="../media/image17.png"/><Relationship Id="rId8" Type="http://schemas.openxmlformats.org/officeDocument/2006/relationships/hyperlink" Target="https://www.instagram.com/dealwise.aceleradora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1279275" y="3210889"/>
            <a:ext cx="14106000" cy="4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FFFFFF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Como estruturar seu modelo e </a:t>
            </a:r>
            <a:r>
              <a:rPr b="1" lang="en-US" sz="9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operação de vendas</a:t>
            </a:r>
            <a:endParaRPr b="1" sz="9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9275" y="1391381"/>
            <a:ext cx="1964800" cy="3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938400" y="3146125"/>
            <a:ext cx="10934635" cy="1488543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8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456000" y="3496590"/>
            <a:ext cx="9928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1) Garantir que a EMPRESA enxergue o melhor modelo para implementar as estratégias que foram definidas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2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Noções de sucesso do encontro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38400" y="4975054"/>
            <a:ext cx="10934635" cy="1488543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7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1456000" y="5325530"/>
            <a:ext cx="63363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2) Preparar a operação para a definição correta de recursos e equipe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38400" y="6803988"/>
            <a:ext cx="10934635" cy="1488543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8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456000" y="7154465"/>
            <a:ext cx="10171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3) Possibilitar que a EMPRESA possa definir seu processo comercial, de forma alinhada às estratégias definidas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2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414da4462_0_1"/>
          <p:cNvSpPr/>
          <p:nvPr/>
        </p:nvSpPr>
        <p:spPr>
          <a:xfrm rot="2964502">
            <a:off x="10121493" y="2549820"/>
            <a:ext cx="10804666" cy="10804666"/>
          </a:xfrm>
          <a:prstGeom prst="ellipse">
            <a:avLst/>
          </a:prstGeom>
          <a:gradFill>
            <a:gsLst>
              <a:gs pos="0">
                <a:srgbClr val="848FE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g3d414da4462_0_1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6273850" y="3219425"/>
            <a:ext cx="7155651" cy="715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d414da4462_0_1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9581400" y="2419788"/>
            <a:ext cx="7986276" cy="79862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d414da4462_0_1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Modelo e operação de vendas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g3d414da4462_0_1"/>
          <p:cNvSpPr txBox="1"/>
          <p:nvPr/>
        </p:nvSpPr>
        <p:spPr>
          <a:xfrm>
            <a:off x="938400" y="3049425"/>
            <a:ext cx="81804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739140" lvl="0" marL="828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Definir estratégia de crescimento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838200" lvl="1" marL="174243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48FEC"/>
              </a:buClr>
              <a:buSzPts val="2600"/>
              <a:buFont typeface="Roboto"/>
              <a:buAutoNum type="alphaLcParenR"/>
            </a:pPr>
            <a:r>
              <a:rPr b="1" lang="en-US" sz="26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Posicionamento</a:t>
            </a:r>
            <a:endParaRPr b="1" sz="26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38200" lvl="1" marL="17424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2600"/>
              <a:buFont typeface="Roboto"/>
              <a:buAutoNum type="alphaLcParenR"/>
            </a:pPr>
            <a:r>
              <a:rPr b="1" lang="en-US" sz="26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ICP</a:t>
            </a:r>
            <a:endParaRPr b="1" sz="26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14067" lvl="1" marL="17424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2600"/>
              <a:buFont typeface="Roboto"/>
              <a:buAutoNum type="alphaLcParenR"/>
            </a:pPr>
            <a:r>
              <a:rPr b="1" lang="en-US" sz="26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Estratégias de aquisição</a:t>
            </a:r>
            <a:endParaRPr b="1" sz="26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84860" lvl="0" marL="828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Mapear jornada de compra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788670" lvl="0" marL="828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Desenhar funil de aquisição e de vendas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797560" lvl="0" marL="828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Definição da régua de consultividade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798830" lvl="0" marL="828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Definir modelo comercial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802640" lvl="0" marL="828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Definir estrutura de equipe e organograma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772160" lvl="0" marL="82804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600"/>
              <a:buFont typeface="Roboto Light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Definir recursos necessários</a:t>
            </a:r>
            <a:endParaRPr sz="2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6" name="Google Shape;86;g3d414da4462_0_1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417493821_0_0"/>
          <p:cNvSpPr/>
          <p:nvPr/>
        </p:nvSpPr>
        <p:spPr>
          <a:xfrm rot="2964502">
            <a:off x="10121493" y="2549820"/>
            <a:ext cx="10804666" cy="10804666"/>
          </a:xfrm>
          <a:prstGeom prst="ellipse">
            <a:avLst/>
          </a:prstGeom>
          <a:gradFill>
            <a:gsLst>
              <a:gs pos="0">
                <a:srgbClr val="848FE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g3d417493821_0_0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6273850" y="3219425"/>
            <a:ext cx="7155651" cy="715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d417493821_0_0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9581400" y="2419788"/>
            <a:ext cx="7986276" cy="79862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d417493821_0_0"/>
          <p:cNvSpPr/>
          <p:nvPr/>
        </p:nvSpPr>
        <p:spPr>
          <a:xfrm>
            <a:off x="938400" y="4337764"/>
            <a:ext cx="9929387" cy="970145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7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g3d417493821_0_0"/>
          <p:cNvSpPr/>
          <p:nvPr/>
        </p:nvSpPr>
        <p:spPr>
          <a:xfrm>
            <a:off x="938400" y="5529407"/>
            <a:ext cx="9929387" cy="970145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8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g3d417493821_0_0"/>
          <p:cNvSpPr/>
          <p:nvPr/>
        </p:nvSpPr>
        <p:spPr>
          <a:xfrm>
            <a:off x="938400" y="3146125"/>
            <a:ext cx="9929387" cy="970145"/>
          </a:xfrm>
          <a:custGeom>
            <a:rect b="b" l="l" r="r" t="t"/>
            <a:pathLst>
              <a:path extrusionOk="0" h="592455" w="8206105">
                <a:moveTo>
                  <a:pt x="0" y="107370"/>
                </a:moveTo>
                <a:lnTo>
                  <a:pt x="8437" y="65577"/>
                </a:lnTo>
                <a:lnTo>
                  <a:pt x="31448" y="31448"/>
                </a:lnTo>
                <a:lnTo>
                  <a:pt x="65577" y="8437"/>
                </a:lnTo>
                <a:lnTo>
                  <a:pt x="107370" y="0"/>
                </a:lnTo>
                <a:lnTo>
                  <a:pt x="8098229" y="0"/>
                </a:lnTo>
                <a:lnTo>
                  <a:pt x="8139318" y="8173"/>
                </a:lnTo>
                <a:lnTo>
                  <a:pt x="8174151" y="31448"/>
                </a:lnTo>
                <a:lnTo>
                  <a:pt x="8197426" y="66281"/>
                </a:lnTo>
                <a:lnTo>
                  <a:pt x="8205599" y="107370"/>
                </a:lnTo>
                <a:lnTo>
                  <a:pt x="8205599" y="484529"/>
                </a:lnTo>
                <a:lnTo>
                  <a:pt x="8197162" y="526322"/>
                </a:lnTo>
                <a:lnTo>
                  <a:pt x="8174152" y="560451"/>
                </a:lnTo>
                <a:lnTo>
                  <a:pt x="8140023" y="583462"/>
                </a:lnTo>
                <a:lnTo>
                  <a:pt x="8098229" y="591899"/>
                </a:lnTo>
                <a:lnTo>
                  <a:pt x="107370" y="591899"/>
                </a:lnTo>
                <a:lnTo>
                  <a:pt x="65577" y="583462"/>
                </a:lnTo>
                <a:lnTo>
                  <a:pt x="31448" y="560451"/>
                </a:lnTo>
                <a:lnTo>
                  <a:pt x="8437" y="526322"/>
                </a:lnTo>
                <a:lnTo>
                  <a:pt x="0" y="484529"/>
                </a:lnTo>
                <a:lnTo>
                  <a:pt x="0" y="107370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g3d417493821_0_0"/>
          <p:cNvSpPr txBox="1"/>
          <p:nvPr/>
        </p:nvSpPr>
        <p:spPr>
          <a:xfrm>
            <a:off x="1456000" y="3470213"/>
            <a:ext cx="9928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foco é desenhar a lógica ideal do processo comercial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g3d417493821_0_0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Escopo desta etapa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g3d417493821_0_0"/>
          <p:cNvSpPr txBox="1"/>
          <p:nvPr/>
        </p:nvSpPr>
        <p:spPr>
          <a:xfrm>
            <a:off x="1456000" y="4613348"/>
            <a:ext cx="9928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Não é o momento de aprofundar operação em detalhe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g3d417493821_0_0"/>
          <p:cNvSpPr txBox="1"/>
          <p:nvPr/>
        </p:nvSpPr>
        <p:spPr>
          <a:xfrm>
            <a:off x="1456000" y="5811242"/>
            <a:ext cx="10171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objetivo é gerar clareza sobre como a operação deve funcionar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g3d417493821_0_0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1ed7058d_0_0"/>
          <p:cNvSpPr txBox="1"/>
          <p:nvPr/>
        </p:nvSpPr>
        <p:spPr>
          <a:xfrm>
            <a:off x="2027088" y="3424857"/>
            <a:ext cx="11747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Como valorizar e justificar o preço do produto ou serviço</a:t>
            </a:r>
            <a:endParaRPr b="1" sz="30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g3d41ed7058d_0_0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 equação de valor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g3d41ed7058d_0_0"/>
          <p:cNvSpPr txBox="1"/>
          <p:nvPr/>
        </p:nvSpPr>
        <p:spPr>
          <a:xfrm>
            <a:off x="2027088" y="5220025"/>
            <a:ext cx="3508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Resultados dos sonhos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g3d41ed7058d_0_0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d41ed7058d_0_0"/>
          <p:cNvSpPr txBox="1"/>
          <p:nvPr/>
        </p:nvSpPr>
        <p:spPr>
          <a:xfrm>
            <a:off x="7363338" y="5220013"/>
            <a:ext cx="350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Probabilidade percebida de realização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d41ed7058d_0_0"/>
          <p:cNvSpPr txBox="1"/>
          <p:nvPr/>
        </p:nvSpPr>
        <p:spPr>
          <a:xfrm>
            <a:off x="2311388" y="7139675"/>
            <a:ext cx="3508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Atraso do tempo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d41ed7058d_0_0"/>
          <p:cNvSpPr txBox="1"/>
          <p:nvPr/>
        </p:nvSpPr>
        <p:spPr>
          <a:xfrm>
            <a:off x="7647638" y="7139663"/>
            <a:ext cx="3508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Esforço e sacrifício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g3d41ed7058d_0_0"/>
          <p:cNvCxnSpPr/>
          <p:nvPr/>
        </p:nvCxnSpPr>
        <p:spPr>
          <a:xfrm>
            <a:off x="1631488" y="6525660"/>
            <a:ext cx="9231900" cy="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g3d41ed7058d_0_0"/>
          <p:cNvCxnSpPr/>
          <p:nvPr/>
        </p:nvCxnSpPr>
        <p:spPr>
          <a:xfrm rot="10800000">
            <a:off x="11812988" y="4758525"/>
            <a:ext cx="0" cy="155610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g3d41ed7058d_0_0"/>
          <p:cNvCxnSpPr/>
          <p:nvPr/>
        </p:nvCxnSpPr>
        <p:spPr>
          <a:xfrm>
            <a:off x="11839359" y="6789425"/>
            <a:ext cx="0" cy="126600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g3d41ed7058d_0_0"/>
          <p:cNvSpPr txBox="1"/>
          <p:nvPr/>
        </p:nvSpPr>
        <p:spPr>
          <a:xfrm>
            <a:off x="12237213" y="6143438"/>
            <a:ext cx="3508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= valor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g3d41ed7058d_0_0"/>
          <p:cNvSpPr txBox="1"/>
          <p:nvPr/>
        </p:nvSpPr>
        <p:spPr>
          <a:xfrm>
            <a:off x="5983588" y="5404675"/>
            <a:ext cx="438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g3d41ed7058d_0_0"/>
          <p:cNvSpPr txBox="1"/>
          <p:nvPr/>
        </p:nvSpPr>
        <p:spPr>
          <a:xfrm>
            <a:off x="6028288" y="7139675"/>
            <a:ext cx="438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5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414da4462_0_49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Jornada de Compra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g3d414da4462_0_49"/>
          <p:cNvSpPr/>
          <p:nvPr/>
        </p:nvSpPr>
        <p:spPr>
          <a:xfrm rot="10800000">
            <a:off x="4220228" y="7555325"/>
            <a:ext cx="2933100" cy="1341300"/>
          </a:xfrm>
          <a:prstGeom prst="trapezoid">
            <a:avLst>
              <a:gd fmla="val 25000" name="adj"/>
            </a:avLst>
          </a:prstGeom>
          <a:solidFill>
            <a:srgbClr val="848FEC">
              <a:alpha val="20000"/>
            </a:srgbClr>
          </a:solidFill>
          <a:ln cap="flat" cmpd="sng" w="1100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75" lIns="105575" spcFirstLastPara="1" rIns="105575" wrap="square" tIns="10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d414da4462_0_49"/>
          <p:cNvSpPr/>
          <p:nvPr/>
        </p:nvSpPr>
        <p:spPr>
          <a:xfrm rot="10800000">
            <a:off x="3474596" y="6034980"/>
            <a:ext cx="4424400" cy="1514400"/>
          </a:xfrm>
          <a:prstGeom prst="trapezoid">
            <a:avLst>
              <a:gd fmla="val 25000" name="adj"/>
            </a:avLst>
          </a:prstGeom>
          <a:solidFill>
            <a:srgbClr val="848FEC">
              <a:alpha val="30000"/>
            </a:srgbClr>
          </a:solidFill>
          <a:ln cap="flat" cmpd="sng" w="1100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75" lIns="105575" spcFirstLastPara="1" rIns="105575" wrap="square" tIns="10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414da4462_0_49"/>
          <p:cNvSpPr/>
          <p:nvPr/>
        </p:nvSpPr>
        <p:spPr>
          <a:xfrm rot="10800000">
            <a:off x="2874594" y="4526994"/>
            <a:ext cx="5624400" cy="1514400"/>
          </a:xfrm>
          <a:prstGeom prst="trapezoid">
            <a:avLst>
              <a:gd fmla="val 25000" name="adj"/>
            </a:avLst>
          </a:prstGeom>
          <a:solidFill>
            <a:srgbClr val="848FEC">
              <a:alpha val="50000"/>
            </a:srgbClr>
          </a:solidFill>
          <a:ln cap="flat" cmpd="sng" w="1100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75" lIns="105575" spcFirstLastPara="1" rIns="105575" wrap="square" tIns="10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414da4462_0_49"/>
          <p:cNvSpPr/>
          <p:nvPr/>
        </p:nvSpPr>
        <p:spPr>
          <a:xfrm rot="10800000">
            <a:off x="2361088" y="3012447"/>
            <a:ext cx="6651300" cy="1514400"/>
          </a:xfrm>
          <a:prstGeom prst="trapezoid">
            <a:avLst>
              <a:gd fmla="val 25000" name="adj"/>
            </a:avLst>
          </a:prstGeom>
          <a:solidFill>
            <a:srgbClr val="848FEC">
              <a:alpha val="70000"/>
            </a:srgbClr>
          </a:solidFill>
          <a:ln cap="flat" cmpd="sng" w="1100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75" lIns="105575" spcFirstLastPara="1" rIns="105575" wrap="square" tIns="10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d414da4462_0_49"/>
          <p:cNvSpPr/>
          <p:nvPr/>
        </p:nvSpPr>
        <p:spPr>
          <a:xfrm>
            <a:off x="11298793" y="3324450"/>
            <a:ext cx="4628100" cy="7671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414da4462_0_49"/>
          <p:cNvSpPr txBox="1"/>
          <p:nvPr/>
        </p:nvSpPr>
        <p:spPr>
          <a:xfrm>
            <a:off x="11726497" y="3461025"/>
            <a:ext cx="387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Aprendizado e descoberta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g3d414da4462_0_49"/>
          <p:cNvSpPr/>
          <p:nvPr/>
        </p:nvSpPr>
        <p:spPr>
          <a:xfrm>
            <a:off x="10447233" y="4847648"/>
            <a:ext cx="4628100" cy="7671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414da4462_0_49"/>
          <p:cNvSpPr txBox="1"/>
          <p:nvPr/>
        </p:nvSpPr>
        <p:spPr>
          <a:xfrm>
            <a:off x="10820250" y="4958125"/>
            <a:ext cx="402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Reconhecimento do problema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g3d414da4462_0_49"/>
          <p:cNvSpPr/>
          <p:nvPr/>
        </p:nvSpPr>
        <p:spPr>
          <a:xfrm>
            <a:off x="9781363" y="6410975"/>
            <a:ext cx="4628100" cy="7671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d414da4462_0_49"/>
          <p:cNvSpPr txBox="1"/>
          <p:nvPr/>
        </p:nvSpPr>
        <p:spPr>
          <a:xfrm>
            <a:off x="10394473" y="6523000"/>
            <a:ext cx="387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Consideração da solução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d414da4462_0_49"/>
          <p:cNvSpPr/>
          <p:nvPr/>
        </p:nvSpPr>
        <p:spPr>
          <a:xfrm>
            <a:off x="8973588" y="7842425"/>
            <a:ext cx="4628100" cy="7671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414da4462_0_49"/>
          <p:cNvSpPr txBox="1"/>
          <p:nvPr/>
        </p:nvSpPr>
        <p:spPr>
          <a:xfrm>
            <a:off x="9586708" y="7954450"/>
            <a:ext cx="311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Decisão de compra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g3d414da4462_0_49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14da4462_0_23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Pirâmide da consciência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d414da4462_0_23"/>
          <p:cNvSpPr/>
          <p:nvPr/>
        </p:nvSpPr>
        <p:spPr>
          <a:xfrm>
            <a:off x="4608815" y="2680450"/>
            <a:ext cx="2792400" cy="1276800"/>
          </a:xfrm>
          <a:prstGeom prst="trapezoid">
            <a:avLst>
              <a:gd fmla="val 25000" name="adj"/>
            </a:avLst>
          </a:prstGeom>
          <a:solidFill>
            <a:srgbClr val="848FEC">
              <a:alpha val="2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d414da4462_0_23"/>
          <p:cNvSpPr/>
          <p:nvPr/>
        </p:nvSpPr>
        <p:spPr>
          <a:xfrm>
            <a:off x="3898933" y="3963041"/>
            <a:ext cx="42120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3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414da4462_0_23"/>
          <p:cNvSpPr/>
          <p:nvPr/>
        </p:nvSpPr>
        <p:spPr>
          <a:xfrm>
            <a:off x="3327730" y="5398659"/>
            <a:ext cx="53544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5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414da4462_0_23"/>
          <p:cNvSpPr/>
          <p:nvPr/>
        </p:nvSpPr>
        <p:spPr>
          <a:xfrm>
            <a:off x="2838975" y="6840523"/>
            <a:ext cx="63321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7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414da4462_0_23"/>
          <p:cNvSpPr/>
          <p:nvPr/>
        </p:nvSpPr>
        <p:spPr>
          <a:xfrm>
            <a:off x="8682193" y="2826813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414da4462_0_23"/>
          <p:cNvSpPr txBox="1"/>
          <p:nvPr/>
        </p:nvSpPr>
        <p:spPr>
          <a:xfrm>
            <a:off x="9089371" y="2956834"/>
            <a:ext cx="3693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Pronto para comprar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g3d414da4462_0_23"/>
          <p:cNvSpPr/>
          <p:nvPr/>
        </p:nvSpPr>
        <p:spPr>
          <a:xfrm>
            <a:off x="9551604" y="4126246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414da4462_0_23"/>
          <p:cNvSpPr txBox="1"/>
          <p:nvPr/>
        </p:nvSpPr>
        <p:spPr>
          <a:xfrm>
            <a:off x="9906719" y="4231422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Busca do produto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d414da4462_0_23"/>
          <p:cNvSpPr/>
          <p:nvPr/>
        </p:nvSpPr>
        <p:spPr>
          <a:xfrm>
            <a:off x="10304914" y="5564328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414da4462_0_23"/>
          <p:cNvSpPr txBox="1"/>
          <p:nvPr/>
        </p:nvSpPr>
        <p:spPr>
          <a:xfrm>
            <a:off x="10888600" y="5670977"/>
            <a:ext cx="3693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Busca da Solução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3d414da4462_0_23"/>
          <p:cNvSpPr/>
          <p:nvPr/>
        </p:nvSpPr>
        <p:spPr>
          <a:xfrm>
            <a:off x="10992357" y="7027527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414da4462_0_23"/>
          <p:cNvSpPr txBox="1"/>
          <p:nvPr/>
        </p:nvSpPr>
        <p:spPr>
          <a:xfrm>
            <a:off x="11318646" y="7134176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Entendimento do Problema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d414da4462_0_23"/>
          <p:cNvSpPr/>
          <p:nvPr/>
        </p:nvSpPr>
        <p:spPr>
          <a:xfrm>
            <a:off x="11865673" y="8467529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414da4462_0_23"/>
          <p:cNvSpPr txBox="1"/>
          <p:nvPr/>
        </p:nvSpPr>
        <p:spPr>
          <a:xfrm>
            <a:off x="12191962" y="8574178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Inconsciente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d414da4462_0_23"/>
          <p:cNvSpPr/>
          <p:nvPr/>
        </p:nvSpPr>
        <p:spPr>
          <a:xfrm>
            <a:off x="2016237" y="8257276"/>
            <a:ext cx="79773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8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d414da4462_0_23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14da4462_0_72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Processo Comercial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d414da4462_0_72"/>
          <p:cNvSpPr/>
          <p:nvPr/>
        </p:nvSpPr>
        <p:spPr>
          <a:xfrm rot="10800000">
            <a:off x="4608560" y="8211260"/>
            <a:ext cx="2792400" cy="1276800"/>
          </a:xfrm>
          <a:prstGeom prst="trapezoid">
            <a:avLst>
              <a:gd fmla="val 25000" name="adj"/>
            </a:avLst>
          </a:prstGeom>
          <a:solidFill>
            <a:srgbClr val="848FEC">
              <a:alpha val="2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414da4462_0_72"/>
          <p:cNvSpPr/>
          <p:nvPr/>
        </p:nvSpPr>
        <p:spPr>
          <a:xfrm rot="10800000">
            <a:off x="3898842" y="6763669"/>
            <a:ext cx="42120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3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414da4462_0_72"/>
          <p:cNvSpPr/>
          <p:nvPr/>
        </p:nvSpPr>
        <p:spPr>
          <a:xfrm rot="10800000">
            <a:off x="3327645" y="5328051"/>
            <a:ext cx="53544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5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414da4462_0_72"/>
          <p:cNvSpPr/>
          <p:nvPr/>
        </p:nvSpPr>
        <p:spPr>
          <a:xfrm rot="10800000">
            <a:off x="2838700" y="3886187"/>
            <a:ext cx="63321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7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414da4462_0_72"/>
          <p:cNvSpPr/>
          <p:nvPr/>
        </p:nvSpPr>
        <p:spPr>
          <a:xfrm>
            <a:off x="12032062" y="2800436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414da4462_0_72"/>
          <p:cNvSpPr txBox="1"/>
          <p:nvPr/>
        </p:nvSpPr>
        <p:spPr>
          <a:xfrm>
            <a:off x="12439240" y="2930457"/>
            <a:ext cx="3693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Inteligência comercial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d414da4462_0_72"/>
          <p:cNvSpPr/>
          <p:nvPr/>
        </p:nvSpPr>
        <p:spPr>
          <a:xfrm>
            <a:off x="11213350" y="4099869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414da4462_0_72"/>
          <p:cNvSpPr txBox="1"/>
          <p:nvPr/>
        </p:nvSpPr>
        <p:spPr>
          <a:xfrm>
            <a:off x="11568465" y="4205045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Prospecção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d414da4462_0_72"/>
          <p:cNvSpPr/>
          <p:nvPr/>
        </p:nvSpPr>
        <p:spPr>
          <a:xfrm>
            <a:off x="10304914" y="5537951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414da4462_0_72"/>
          <p:cNvSpPr txBox="1"/>
          <p:nvPr/>
        </p:nvSpPr>
        <p:spPr>
          <a:xfrm>
            <a:off x="10888600" y="5644600"/>
            <a:ext cx="3693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Qualificação e Diagnóstico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d414da4462_0_72"/>
          <p:cNvSpPr/>
          <p:nvPr/>
        </p:nvSpPr>
        <p:spPr>
          <a:xfrm>
            <a:off x="9436119" y="7001150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414da4462_0_72"/>
          <p:cNvSpPr txBox="1"/>
          <p:nvPr/>
        </p:nvSpPr>
        <p:spPr>
          <a:xfrm>
            <a:off x="9762408" y="7107799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3d414da4462_0_72"/>
          <p:cNvSpPr/>
          <p:nvPr/>
        </p:nvSpPr>
        <p:spPr>
          <a:xfrm>
            <a:off x="8515804" y="8441152"/>
            <a:ext cx="4406100" cy="730200"/>
          </a:xfrm>
          <a:prstGeom prst="roundRect">
            <a:avLst>
              <a:gd fmla="val 16667" name="adj"/>
            </a:avLst>
          </a:prstGeom>
          <a:solidFill>
            <a:srgbClr val="848FEC"/>
          </a:solidFill>
          <a:ln cap="flat" cmpd="sng" w="90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414da4462_0_72"/>
          <p:cNvSpPr txBox="1"/>
          <p:nvPr/>
        </p:nvSpPr>
        <p:spPr>
          <a:xfrm>
            <a:off x="8842093" y="8547801"/>
            <a:ext cx="3828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025" lIns="87025" spcFirstLastPara="1" rIns="87025" wrap="square" tIns="87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Engajamento e Fechamento</a:t>
            </a:r>
            <a:endParaRPr b="1" sz="209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3d414da4462_0_72"/>
          <p:cNvSpPr/>
          <p:nvPr/>
        </p:nvSpPr>
        <p:spPr>
          <a:xfrm rot="10800000">
            <a:off x="2016237" y="2469435"/>
            <a:ext cx="7977300" cy="1441800"/>
          </a:xfrm>
          <a:prstGeom prst="trapezoid">
            <a:avLst>
              <a:gd fmla="val 25000" name="adj"/>
            </a:avLst>
          </a:prstGeom>
          <a:solidFill>
            <a:srgbClr val="848FEC">
              <a:alpha val="80000"/>
            </a:srgbClr>
          </a:solidFill>
          <a:ln cap="flat" cmpd="sng" w="104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00" lIns="100500" spcFirstLastPara="1" rIns="100500" wrap="square" tIns="10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d414da4462_0_72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414da4462_0_91"/>
          <p:cNvSpPr/>
          <p:nvPr/>
        </p:nvSpPr>
        <p:spPr>
          <a:xfrm rot="2964502">
            <a:off x="-4227557" y="-258830"/>
            <a:ext cx="10804666" cy="10804666"/>
          </a:xfrm>
          <a:prstGeom prst="ellipse">
            <a:avLst/>
          </a:prstGeom>
          <a:gradFill>
            <a:gsLst>
              <a:gs pos="0">
                <a:srgbClr val="848FE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414da4462_0_91"/>
          <p:cNvSpPr txBox="1"/>
          <p:nvPr>
            <p:ph type="title"/>
          </p:nvPr>
        </p:nvSpPr>
        <p:spPr>
          <a:xfrm>
            <a:off x="2125375" y="4137300"/>
            <a:ext cx="66669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Evolução do Pipeline de vendas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g3d414da4462_0_91" title="Fun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4627" y="152400"/>
            <a:ext cx="7985760" cy="99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d414da4462_0_91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4137522" y="883964"/>
            <a:ext cx="7729220" cy="612140"/>
          </a:xfrm>
          <a:custGeom>
            <a:rect b="b" l="l" r="r" t="t"/>
            <a:pathLst>
              <a:path extrusionOk="0" h="306070" w="3864610">
                <a:moveTo>
                  <a:pt x="37749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3863999" y="0"/>
                </a:lnTo>
                <a:lnTo>
                  <a:pt x="3774923" y="305999"/>
                </a:lnTo>
                <a:close/>
              </a:path>
            </a:pathLst>
          </a:custGeom>
          <a:solidFill>
            <a:srgbClr val="848F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0% Identificação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342370" y="1600182"/>
            <a:ext cx="7332980" cy="612138"/>
          </a:xfrm>
          <a:custGeom>
            <a:rect b="b" l="l" r="r" t="t"/>
            <a:pathLst>
              <a:path extrusionOk="0" h="306069" w="3666490">
                <a:moveTo>
                  <a:pt x="35769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3665999" y="0"/>
                </a:lnTo>
                <a:lnTo>
                  <a:pt x="3576923" y="305999"/>
                </a:lnTo>
                <a:close/>
              </a:path>
            </a:pathLst>
          </a:custGeom>
          <a:solidFill>
            <a:srgbClr val="848FEC">
              <a:alpha val="9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10% Agendamento de reunião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547370" y="2316400"/>
            <a:ext cx="6922770" cy="612138"/>
          </a:xfrm>
          <a:custGeom>
            <a:rect b="b" l="l" r="r" t="t"/>
            <a:pathLst>
              <a:path extrusionOk="0" h="306069" w="3461385">
                <a:moveTo>
                  <a:pt x="33720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3461099" y="0"/>
                </a:lnTo>
                <a:lnTo>
                  <a:pt x="3372023" y="305999"/>
                </a:lnTo>
                <a:close/>
              </a:path>
            </a:pathLst>
          </a:custGeom>
          <a:solidFill>
            <a:srgbClr val="848FEC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15% Diagnóstico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956616" y="3743060"/>
            <a:ext cx="6117590" cy="612138"/>
          </a:xfrm>
          <a:custGeom>
            <a:rect b="b" l="l" r="r" t="t"/>
            <a:pathLst>
              <a:path extrusionOk="0" h="306069" w="3058795">
                <a:moveTo>
                  <a:pt x="29694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3058499" y="0"/>
                </a:lnTo>
                <a:lnTo>
                  <a:pt x="2969423" y="305999"/>
                </a:lnTo>
                <a:close/>
              </a:path>
            </a:pathLst>
          </a:custGeom>
          <a:solidFill>
            <a:srgbClr val="848FEC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40% Desenvolver o lead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281558" y="8063496"/>
            <a:ext cx="3604258" cy="612140"/>
          </a:xfrm>
          <a:custGeom>
            <a:rect b="b" l="l" r="r" t="t"/>
            <a:pathLst>
              <a:path extrusionOk="0" h="306070" w="1802129">
                <a:moveTo>
                  <a:pt x="17130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1802099" y="0"/>
                </a:lnTo>
                <a:lnTo>
                  <a:pt x="1713023" y="305999"/>
                </a:lnTo>
                <a:close/>
              </a:path>
            </a:pathLst>
          </a:custGeom>
          <a:solidFill>
            <a:srgbClr val="848FEC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Fechamento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062760" y="7335728"/>
            <a:ext cx="4028440" cy="612140"/>
          </a:xfrm>
          <a:custGeom>
            <a:rect b="b" l="l" r="r" t="t"/>
            <a:pathLst>
              <a:path extrusionOk="0" h="306070" w="2014220">
                <a:moveTo>
                  <a:pt x="19248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2013899" y="0"/>
                </a:lnTo>
                <a:lnTo>
                  <a:pt x="1924823" y="305999"/>
                </a:lnTo>
                <a:close/>
              </a:path>
            </a:pathLst>
          </a:custGeom>
          <a:solidFill>
            <a:srgbClr val="848FEC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95% Ass. contrato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612116" y="5880186"/>
            <a:ext cx="4875530" cy="612138"/>
          </a:xfrm>
          <a:custGeom>
            <a:rect b="b" l="l" r="r" t="t"/>
            <a:pathLst>
              <a:path extrusionOk="0" h="306069" w="2437765">
                <a:moveTo>
                  <a:pt x="23481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2437199" y="0"/>
                </a:lnTo>
                <a:lnTo>
                  <a:pt x="2348123" y="305999"/>
                </a:lnTo>
                <a:close/>
              </a:path>
            </a:pathLst>
          </a:custGeom>
          <a:solidFill>
            <a:srgbClr val="848FEC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80% Negociação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499608" y="8791266"/>
            <a:ext cx="3195320" cy="612140"/>
          </a:xfrm>
          <a:custGeom>
            <a:rect b="b" l="l" r="r" t="t"/>
            <a:pathLst>
              <a:path extrusionOk="0" h="306070" w="1597660">
                <a:moveTo>
                  <a:pt x="15084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1597499" y="0"/>
                </a:lnTo>
                <a:lnTo>
                  <a:pt x="1508423" y="305999"/>
                </a:lnTo>
                <a:close/>
              </a:path>
            </a:pathLst>
          </a:custGeom>
          <a:solidFill>
            <a:srgbClr val="848FEC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844418" y="6607954"/>
            <a:ext cx="4465320" cy="612140"/>
          </a:xfrm>
          <a:custGeom>
            <a:rect b="b" l="l" r="r" t="t"/>
            <a:pathLst>
              <a:path extrusionOk="0" h="306070" w="2232660">
                <a:moveTo>
                  <a:pt x="21432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2232299" y="0"/>
                </a:lnTo>
                <a:lnTo>
                  <a:pt x="2143223" y="305999"/>
                </a:lnTo>
                <a:close/>
              </a:path>
            </a:pathLst>
          </a:custGeom>
          <a:solidFill>
            <a:srgbClr val="848FEC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90% Pré fechamento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765564" y="3032610"/>
            <a:ext cx="6499858" cy="612138"/>
          </a:xfrm>
          <a:custGeom>
            <a:rect b="b" l="l" r="r" t="t"/>
            <a:pathLst>
              <a:path extrusionOk="0" h="306069" w="3249929">
                <a:moveTo>
                  <a:pt x="3160523" y="306000"/>
                </a:moveTo>
                <a:lnTo>
                  <a:pt x="89076" y="306000"/>
                </a:lnTo>
                <a:lnTo>
                  <a:pt x="0" y="0"/>
                </a:lnTo>
                <a:lnTo>
                  <a:pt x="3249599" y="0"/>
                </a:lnTo>
                <a:lnTo>
                  <a:pt x="3160523" y="306000"/>
                </a:lnTo>
                <a:close/>
              </a:path>
            </a:pathLst>
          </a:custGeom>
          <a:solidFill>
            <a:srgbClr val="848FEC">
              <a:alpha val="7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20% Arquitetar solução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175412" y="4453510"/>
            <a:ext cx="5693408" cy="612138"/>
          </a:xfrm>
          <a:custGeom>
            <a:rect b="b" l="l" r="r" t="t"/>
            <a:pathLst>
              <a:path extrusionOk="0" h="306069" w="2846704">
                <a:moveTo>
                  <a:pt x="27576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2846699" y="0"/>
                </a:lnTo>
                <a:lnTo>
                  <a:pt x="2757623" y="305999"/>
                </a:lnTo>
                <a:close/>
              </a:path>
            </a:pathLst>
          </a:custGeom>
          <a:solidFill>
            <a:srgbClr val="848FEC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60% Alinhamento das opções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379662" y="5163960"/>
            <a:ext cx="5298440" cy="612140"/>
          </a:xfrm>
          <a:custGeom>
            <a:rect b="b" l="l" r="r" t="t"/>
            <a:pathLst>
              <a:path extrusionOk="0" h="306069" w="2649220">
                <a:moveTo>
                  <a:pt x="2559923" y="305999"/>
                </a:moveTo>
                <a:lnTo>
                  <a:pt x="89076" y="305999"/>
                </a:lnTo>
                <a:lnTo>
                  <a:pt x="0" y="0"/>
                </a:lnTo>
                <a:lnTo>
                  <a:pt x="2649000" y="0"/>
                </a:lnTo>
                <a:lnTo>
                  <a:pt x="2559923" y="305999"/>
                </a:lnTo>
                <a:close/>
              </a:path>
            </a:pathLst>
          </a:custGeom>
          <a:solidFill>
            <a:srgbClr val="848FEC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70% Resolução de preocupações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737012" y="5162246"/>
            <a:ext cx="132080" cy="1329690"/>
          </a:xfrm>
          <a:custGeom>
            <a:rect b="b" l="l" r="r" t="t"/>
            <a:pathLst>
              <a:path extrusionOk="0" h="664844" w="66039">
                <a:moveTo>
                  <a:pt x="0" y="0"/>
                </a:moveTo>
                <a:lnTo>
                  <a:pt x="25573" y="430"/>
                </a:lnTo>
                <a:lnTo>
                  <a:pt x="46456" y="1603"/>
                </a:lnTo>
                <a:lnTo>
                  <a:pt x="60536" y="3343"/>
                </a:lnTo>
                <a:lnTo>
                  <a:pt x="65699" y="5474"/>
                </a:lnTo>
                <a:lnTo>
                  <a:pt x="65699" y="659325"/>
                </a:lnTo>
                <a:lnTo>
                  <a:pt x="60536" y="661456"/>
                </a:lnTo>
                <a:lnTo>
                  <a:pt x="46456" y="663196"/>
                </a:lnTo>
                <a:lnTo>
                  <a:pt x="25573" y="664369"/>
                </a:lnTo>
                <a:lnTo>
                  <a:pt x="0" y="664799"/>
                </a:lnTo>
              </a:path>
            </a:pathLst>
          </a:custGeom>
          <a:noFill/>
          <a:ln cap="flat" cmpd="sng" w="38050">
            <a:solidFill>
              <a:srgbClr val="1B36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865354" y="883732"/>
            <a:ext cx="157478" cy="2148840"/>
          </a:xfrm>
          <a:custGeom>
            <a:rect b="b" l="l" r="r" t="t"/>
            <a:pathLst>
              <a:path extrusionOk="0" h="1074420" w="78739">
                <a:moveTo>
                  <a:pt x="0" y="0"/>
                </a:moveTo>
                <a:lnTo>
                  <a:pt x="30477" y="512"/>
                </a:lnTo>
                <a:lnTo>
                  <a:pt x="55366" y="1911"/>
                </a:lnTo>
                <a:lnTo>
                  <a:pt x="72146" y="3985"/>
                </a:lnTo>
                <a:lnTo>
                  <a:pt x="78299" y="6524"/>
                </a:lnTo>
                <a:lnTo>
                  <a:pt x="78299" y="1067775"/>
                </a:lnTo>
                <a:lnTo>
                  <a:pt x="72146" y="1070314"/>
                </a:lnTo>
                <a:lnTo>
                  <a:pt x="55366" y="1072388"/>
                </a:lnTo>
                <a:lnTo>
                  <a:pt x="30477" y="1073787"/>
                </a:lnTo>
                <a:lnTo>
                  <a:pt x="0" y="1074300"/>
                </a:lnTo>
              </a:path>
            </a:pathLst>
          </a:custGeom>
          <a:noFill/>
          <a:ln cap="flat" cmpd="sng" w="38050">
            <a:solidFill>
              <a:srgbClr val="1B36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1294554" y="3032384"/>
            <a:ext cx="157478" cy="2039620"/>
          </a:xfrm>
          <a:custGeom>
            <a:rect b="b" l="l" r="r" t="t"/>
            <a:pathLst>
              <a:path extrusionOk="0" h="1019810" w="78739">
                <a:moveTo>
                  <a:pt x="0" y="0"/>
                </a:moveTo>
                <a:lnTo>
                  <a:pt x="30477" y="512"/>
                </a:lnTo>
                <a:lnTo>
                  <a:pt x="55366" y="1911"/>
                </a:lnTo>
                <a:lnTo>
                  <a:pt x="72146" y="3985"/>
                </a:lnTo>
                <a:lnTo>
                  <a:pt x="78299" y="6524"/>
                </a:lnTo>
                <a:lnTo>
                  <a:pt x="78299" y="1013175"/>
                </a:lnTo>
                <a:lnTo>
                  <a:pt x="72146" y="1015715"/>
                </a:lnTo>
                <a:lnTo>
                  <a:pt x="55366" y="1017789"/>
                </a:lnTo>
                <a:lnTo>
                  <a:pt x="30477" y="1019187"/>
                </a:lnTo>
                <a:lnTo>
                  <a:pt x="0" y="1019700"/>
                </a:lnTo>
              </a:path>
            </a:pathLst>
          </a:custGeom>
          <a:noFill/>
          <a:ln cap="flat" cmpd="sng" w="38050">
            <a:solidFill>
              <a:srgbClr val="1B36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0074154" y="6607764"/>
            <a:ext cx="284478" cy="2796540"/>
          </a:xfrm>
          <a:custGeom>
            <a:rect b="b" l="l" r="r" t="t"/>
            <a:pathLst>
              <a:path extrusionOk="0" h="1398270" w="142239">
                <a:moveTo>
                  <a:pt x="109089" y="0"/>
                </a:moveTo>
                <a:lnTo>
                  <a:pt x="121817" y="214"/>
                </a:lnTo>
                <a:lnTo>
                  <a:pt x="132211" y="798"/>
                </a:lnTo>
                <a:lnTo>
                  <a:pt x="139219" y="1664"/>
                </a:lnTo>
                <a:lnTo>
                  <a:pt x="141789" y="2724"/>
                </a:lnTo>
                <a:lnTo>
                  <a:pt x="141789" y="303274"/>
                </a:lnTo>
                <a:lnTo>
                  <a:pt x="139219" y="304335"/>
                </a:lnTo>
                <a:lnTo>
                  <a:pt x="132211" y="305201"/>
                </a:lnTo>
                <a:lnTo>
                  <a:pt x="121817" y="305785"/>
                </a:lnTo>
                <a:lnTo>
                  <a:pt x="109089" y="305999"/>
                </a:lnTo>
              </a:path>
              <a:path extrusionOk="0" h="1398270" w="142239">
                <a:moveTo>
                  <a:pt x="0" y="363888"/>
                </a:moveTo>
                <a:lnTo>
                  <a:pt x="23938" y="364291"/>
                </a:lnTo>
                <a:lnTo>
                  <a:pt x="43486" y="365389"/>
                </a:lnTo>
                <a:lnTo>
                  <a:pt x="56666" y="367018"/>
                </a:lnTo>
                <a:lnTo>
                  <a:pt x="61499" y="369013"/>
                </a:lnTo>
                <a:lnTo>
                  <a:pt x="61499" y="1392563"/>
                </a:lnTo>
                <a:lnTo>
                  <a:pt x="56666" y="1394558"/>
                </a:lnTo>
                <a:lnTo>
                  <a:pt x="43486" y="1396187"/>
                </a:lnTo>
                <a:lnTo>
                  <a:pt x="23938" y="1397285"/>
                </a:lnTo>
                <a:lnTo>
                  <a:pt x="0" y="1397688"/>
                </a:lnTo>
              </a:path>
            </a:pathLst>
          </a:custGeom>
          <a:noFill/>
          <a:ln cap="flat" cmpd="sng" w="38050">
            <a:solidFill>
              <a:srgbClr val="1B36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12194148" y="1586440"/>
            <a:ext cx="1710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Pré-venda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11626248" y="3684392"/>
            <a:ext cx="3476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Diagnóstico e solução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11036106" y="5489438"/>
            <a:ext cx="2141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Engajamento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10517720" y="6631980"/>
            <a:ext cx="1924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Negociação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10274998" y="8187442"/>
            <a:ext cx="2014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Fechamento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2" name="Google Shape;212;p10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414da4462_0_116"/>
          <p:cNvSpPr/>
          <p:nvPr/>
        </p:nvSpPr>
        <p:spPr>
          <a:xfrm rot="2964502">
            <a:off x="10121493" y="2549820"/>
            <a:ext cx="10804666" cy="10804666"/>
          </a:xfrm>
          <a:prstGeom prst="ellipse">
            <a:avLst/>
          </a:prstGeom>
          <a:gradFill>
            <a:gsLst>
              <a:gs pos="0">
                <a:srgbClr val="848FE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g3d414da4462_0_116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9581400" y="2419788"/>
            <a:ext cx="7986276" cy="79862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d414da4462_0_116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Sales engagement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3d414da4462_0_116"/>
          <p:cNvSpPr txBox="1"/>
          <p:nvPr/>
        </p:nvSpPr>
        <p:spPr>
          <a:xfrm>
            <a:off x="938400" y="2713182"/>
            <a:ext cx="8879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Sales Engagement é a metodologia que define como e quando as </a:t>
            </a:r>
            <a:r>
              <a:rPr b="1"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interações entre comprador e vendedor devem ocorrer, </a:t>
            </a: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isto com o objetivo de aumentar a velocidade e efetividade de evolução do funil de vendas.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1" name="Google Shape;221;g3d414da4462_0_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8400" y="4541657"/>
            <a:ext cx="8879023" cy="44580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g3d414da4462_0_116"/>
          <p:cNvCxnSpPr/>
          <p:nvPr/>
        </p:nvCxnSpPr>
        <p:spPr>
          <a:xfrm>
            <a:off x="11095175" y="2672775"/>
            <a:ext cx="0" cy="637890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g3d414da4462_0_116"/>
          <p:cNvSpPr txBox="1"/>
          <p:nvPr/>
        </p:nvSpPr>
        <p:spPr>
          <a:xfrm>
            <a:off x="11874500" y="5092575"/>
            <a:ext cx="391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Não basta só gerenciar seus leads via CRM. Você precisa gerenciar suas ações!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g3d414da4462_0_116" title="Pilar-traço.pn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6273850" y="3219425"/>
            <a:ext cx="7155651" cy="71556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d414da4462_0_116"/>
          <p:cNvSpPr/>
          <p:nvPr/>
        </p:nvSpPr>
        <p:spPr>
          <a:xfrm>
            <a:off x="11672443" y="4860625"/>
            <a:ext cx="4733700" cy="1731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6" name="Google Shape;226;g3d414da4462_0_116" title="[DEALWISE] Logotipo_Horizontal 03.png"/>
          <p:cNvPicPr preferRelativeResize="0"/>
          <p:nvPr/>
        </p:nvPicPr>
        <p:blipFill rotWithShape="1">
          <a:blip r:embed="rId6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414da4462_0_138"/>
          <p:cNvSpPr/>
          <p:nvPr/>
        </p:nvSpPr>
        <p:spPr>
          <a:xfrm rot="2964502">
            <a:off x="-4227557" y="-258830"/>
            <a:ext cx="10804666" cy="10804666"/>
          </a:xfrm>
          <a:prstGeom prst="ellipse">
            <a:avLst/>
          </a:prstGeom>
          <a:gradFill>
            <a:gsLst>
              <a:gs pos="0">
                <a:srgbClr val="848FEC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414da4462_0_138"/>
          <p:cNvSpPr txBox="1"/>
          <p:nvPr>
            <p:ph type="title"/>
          </p:nvPr>
        </p:nvSpPr>
        <p:spPr>
          <a:xfrm>
            <a:off x="2125375" y="4137300"/>
            <a:ext cx="666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Jornada do cliente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g3d414da4462_0_138" title="Fun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4627" y="152400"/>
            <a:ext cx="7985760" cy="99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414da4462_0_138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/>
        </p:nvSpPr>
        <p:spPr>
          <a:xfrm>
            <a:off x="938398" y="2297268"/>
            <a:ext cx="13157100" cy="6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ANTES DO DIAGNÓSTICO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 lead estará com o seguinte nível de consciência: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"O que essa empresa faz exatamente?"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081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"O que eles vão fazer pra me ajudar? Ainda não entendi muito."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"Tô mais é curioso pra entender"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FINAL DO DIAGNÓSTICO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 lead precisa estar com, no mínimo, o seguinte nível de consciência: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"Entendi que eu tenho sim uma necessidade em [ÁREA], que eu preciso parar de sofrer por [motivo]"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081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"Seria bom conseguir ter [resultado]"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9760" lvl="0" marL="939800" marR="10160" rtl="0" algn="l">
              <a:lnSpc>
                <a:spcPct val="108117"/>
              </a:lnSpc>
              <a:spcBef>
                <a:spcPts val="13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"Eles tem uma solução pra isso, mas ainda não entendi exatamente como vão atuar e também nem sei se são bons né"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18490" lvl="0" marL="93853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"Esse preço.. não sei não. Tô com tanta coisa pra fazer.. tem que ver se é o momento"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0" name="Google Shape;240;p17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Jornada de compra na prática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p1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414da4462_0_145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Jornada de compra na prática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3d414da4462_0_145"/>
          <p:cNvSpPr txBox="1"/>
          <p:nvPr/>
        </p:nvSpPr>
        <p:spPr>
          <a:xfrm>
            <a:off x="938398" y="3540573"/>
            <a:ext cx="13448100" cy="3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FINAL DA DEMONSTRAÇÃO DA SOLUÇÃO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 lead precisa estar com, no mínimo, o seguinte nível de consciência: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2300" lvl="0" marL="939800" marR="139700" rtl="0" algn="l">
              <a:lnSpc>
                <a:spcPct val="96555"/>
              </a:lnSpc>
              <a:spcBef>
                <a:spcPts val="1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"Agora sim consegui enxergar o que eles vão fazer. Nossa, faz muito sentido tudo que falaram. Não tinha pensando por esse lado"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86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"Seria muito bom ter exatamente o que fazer dentro de uma [solução"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2300" lvl="0" marL="939800" marR="10160" rtl="0" algn="l">
              <a:lnSpc>
                <a:spcPct val="96555"/>
              </a:lnSpc>
              <a:spcBef>
                <a:spcPts val="19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"Mas será que é pra mim, é o momento? Eles devem atuar com outro tipo de empresa, empresas maiores, mais estruturadas"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86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"Mas quem vai tocar esse projeto? Será que vai entender a realidade do negócio? A gente é diferente.."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"E quanto vou ter de retorno exatamente?"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48" name="Google Shape;248;g3d414da4462_0_145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414da4462_0_151"/>
          <p:cNvSpPr txBox="1"/>
          <p:nvPr>
            <p:ph type="title"/>
          </p:nvPr>
        </p:nvSpPr>
        <p:spPr>
          <a:xfrm>
            <a:off x="938401" y="1032725"/>
            <a:ext cx="1550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7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Jornada de compra na prática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3d414da4462_0_151"/>
          <p:cNvSpPr txBox="1"/>
          <p:nvPr/>
        </p:nvSpPr>
        <p:spPr>
          <a:xfrm>
            <a:off x="938400" y="2487850"/>
            <a:ext cx="15294600" cy="6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FINAL DA PROPOSTA, MAS ANTES DO PREÇO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 lead precisa estar com, no mínimo, o seguinte nível de consciência: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"Nossa, eles são muito preparados. Tem tudo bem definido, captaram muito bem meu negócio. Encaixou perfeitamente."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"Não sabia que tinha um tipo de solução assim no mercado. E o escopo, as horas, o formato me atende 100%."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"Eles têm experiência no meu mercado. Aquele case parece que é meu clone"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"Nossa, quanto depoimento. E agora tô mais seguro"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2300" lvl="0" marL="939800" marR="1016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"Ah, mas será? É um investimento considerável, será que vale a pena mesmo, vou ter retorno? Acho que vou falar que vou conversar internamente, não sei"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 BUSCA DE FECHAMENTO DA PROPOSTA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 lead precisa estar com, no mínimo, o seguinte nível de consciência: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"Nossa, oportunidade boa de fechar"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"Realmente, é fácil ter retorno. Se eu fizer [ações], já pago o investimento. E outra, tô garantido."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"Será que consigo um desconto maior?"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621030" lvl="0" marL="93853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"Ah, tô 90%. Não sei se fecho agora na emoção, talvez seja melhor dar uma pensada."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55" name="Google Shape;255;g3d414da4462_0_151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414da4462_0_561"/>
          <p:cNvSpPr txBox="1"/>
          <p:nvPr/>
        </p:nvSpPr>
        <p:spPr>
          <a:xfrm>
            <a:off x="1674927" y="4562700"/>
            <a:ext cx="85254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Exemplos de processos por estratégia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g3d414da4462_0_561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g3d414da4462_0_157"/>
          <p:cNvGrpSpPr/>
          <p:nvPr/>
        </p:nvGrpSpPr>
        <p:grpSpPr>
          <a:xfrm>
            <a:off x="905150" y="3285484"/>
            <a:ext cx="9823450" cy="5700358"/>
            <a:chOff x="345525" y="1085175"/>
            <a:chExt cx="4911725" cy="3696970"/>
          </a:xfrm>
        </p:grpSpPr>
        <p:sp>
          <p:nvSpPr>
            <p:cNvPr id="267" name="Google Shape;267;g3d414da4462_0_157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4295487" y="3696599"/>
                  </a:move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2269" y="1853"/>
                  </a:lnTo>
                  <a:lnTo>
                    <a:pt x="4343606" y="185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7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  <p:sp>
          <p:nvSpPr>
            <p:cNvPr id="268" name="Google Shape;268;g3d414da4462_0_157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0" y="616112"/>
                  </a:move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4273" y="193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8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sp>
        <p:nvSpPr>
          <p:cNvPr id="269" name="Google Shape;269;g3d414da4462_0_157"/>
          <p:cNvSpPr/>
          <p:nvPr/>
        </p:nvSpPr>
        <p:spPr>
          <a:xfrm>
            <a:off x="12299225" y="3285477"/>
            <a:ext cx="5083635" cy="1321667"/>
          </a:xfrm>
          <a:custGeom>
            <a:rect b="b" l="l" r="r" t="t"/>
            <a:pathLst>
              <a:path extrusionOk="0" h="3696970" w="4911725">
                <a:moveTo>
                  <a:pt x="0" y="616112"/>
                </a:move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4273" y="193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8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close/>
              </a:path>
            </a:pathLst>
          </a:custGeom>
          <a:solidFill>
            <a:srgbClr val="848FEC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Recursos Mínimos</a:t>
            </a:r>
            <a:endParaRPr b="1" sz="28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g3d414da4462_0_157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Outbound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g3d414da4462_0_157"/>
          <p:cNvSpPr txBox="1"/>
          <p:nvPr/>
        </p:nvSpPr>
        <p:spPr>
          <a:xfrm>
            <a:off x="1684990" y="3918511"/>
            <a:ext cx="6288900" cy="4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5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ICP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Captação de lista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snov, apollo, </a:t>
            </a: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luscha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Tentativa de contato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Cadência mista de contato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 conectado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Tentativa de agendamento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○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Qualificação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Reunião marcada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Reunião realizada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d414da4462_0_157"/>
          <p:cNvSpPr txBox="1"/>
          <p:nvPr/>
        </p:nvSpPr>
        <p:spPr>
          <a:xfrm>
            <a:off x="12959775" y="4781900"/>
            <a:ext cx="43146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Uma pessoa (pode ser o próprio sócio) para executar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Ferramentas gratuitas ou de investimento baixo de geração de leads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Roboto Light"/>
              <a:buChar char="●"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CRM ou ferramenta de prospecção (Dealwise)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73" name="Google Shape;273;g3d414da4462_0_157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g3d414da4462_0_255"/>
          <p:cNvGrpSpPr/>
          <p:nvPr/>
        </p:nvGrpSpPr>
        <p:grpSpPr>
          <a:xfrm>
            <a:off x="905150" y="2320651"/>
            <a:ext cx="9823450" cy="7042728"/>
            <a:chOff x="345525" y="1085175"/>
            <a:chExt cx="4911725" cy="3696970"/>
          </a:xfrm>
        </p:grpSpPr>
        <p:sp>
          <p:nvSpPr>
            <p:cNvPr id="279" name="Google Shape;279;g3d414da4462_0_255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4295487" y="3696599"/>
                  </a:move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2269" y="1853"/>
                  </a:lnTo>
                  <a:lnTo>
                    <a:pt x="4343606" y="185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7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  <p:sp>
          <p:nvSpPr>
            <p:cNvPr id="280" name="Google Shape;280;g3d414da4462_0_255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0" y="616112"/>
                  </a:move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4273" y="193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8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sp>
        <p:nvSpPr>
          <p:cNvPr id="281" name="Google Shape;281;g3d414da4462_0_255"/>
          <p:cNvSpPr/>
          <p:nvPr/>
        </p:nvSpPr>
        <p:spPr>
          <a:xfrm>
            <a:off x="12190625" y="2320652"/>
            <a:ext cx="5083635" cy="1321667"/>
          </a:xfrm>
          <a:custGeom>
            <a:rect b="b" l="l" r="r" t="t"/>
            <a:pathLst>
              <a:path extrusionOk="0" h="3696970" w="4911725">
                <a:moveTo>
                  <a:pt x="0" y="616112"/>
                </a:move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4273" y="193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8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close/>
              </a:path>
            </a:pathLst>
          </a:custGeom>
          <a:solidFill>
            <a:srgbClr val="848FEC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Recursos Mínimos</a:t>
            </a:r>
            <a:endParaRPr b="1" sz="28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g3d414da4462_0_255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Inbound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g3d414da4462_0_255"/>
          <p:cNvSpPr txBox="1"/>
          <p:nvPr/>
        </p:nvSpPr>
        <p:spPr>
          <a:xfrm>
            <a:off x="12851175" y="3817075"/>
            <a:ext cx="4314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Uma pessoa de marketing ou agência de marketing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Ferramenta de e-mail marketing gratuita ou de baixo investimento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Uma pessoa part time prospectando e qualificando os leads gerados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Ferramenta de prospecção/CRM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4" name="Google Shape;284;g3d414da4462_0_255"/>
          <p:cNvSpPr txBox="1"/>
          <p:nvPr>
            <p:ph idx="1" type="body"/>
          </p:nvPr>
        </p:nvSpPr>
        <p:spPr>
          <a:xfrm>
            <a:off x="1411730" y="2706425"/>
            <a:ext cx="8586600" cy="60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-623570" lvl="0" marL="725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Atração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Tráfego pago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Tráfego orgânico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3100" lvl="0" marL="7251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Ativação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Material rico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Webinar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0" marL="7251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Educação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E-mail marketing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Social Media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6421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Remarketing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99770" lvl="0" marL="7251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Conversão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Oferta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 Scoring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93420" lvl="0" marL="7251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Prospecção e Qualificação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Tentativa de contato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8199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Conectados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64210" lvl="1" marL="163957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AutoNum type="alphaLcPeriod"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Qualificação e agendamento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" name="Google Shape;285;g3d414da4462_0_255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g3d414da4462_0_267"/>
          <p:cNvGrpSpPr/>
          <p:nvPr/>
        </p:nvGrpSpPr>
        <p:grpSpPr>
          <a:xfrm>
            <a:off x="905150" y="2753633"/>
            <a:ext cx="9823450" cy="6148061"/>
            <a:chOff x="345525" y="1085175"/>
            <a:chExt cx="4911725" cy="3696970"/>
          </a:xfrm>
        </p:grpSpPr>
        <p:sp>
          <p:nvSpPr>
            <p:cNvPr id="291" name="Google Shape;291;g3d414da4462_0_267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4295487" y="3696599"/>
                  </a:move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2269" y="1853"/>
                  </a:lnTo>
                  <a:lnTo>
                    <a:pt x="4343606" y="185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7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  <p:sp>
          <p:nvSpPr>
            <p:cNvPr id="292" name="Google Shape;292;g3d414da4462_0_267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0" y="616112"/>
                  </a:move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4273" y="193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8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sp>
        <p:nvSpPr>
          <p:cNvPr id="293" name="Google Shape;293;g3d414da4462_0_267"/>
          <p:cNvSpPr/>
          <p:nvPr/>
        </p:nvSpPr>
        <p:spPr>
          <a:xfrm>
            <a:off x="12190625" y="2320652"/>
            <a:ext cx="5083635" cy="1321667"/>
          </a:xfrm>
          <a:custGeom>
            <a:rect b="b" l="l" r="r" t="t"/>
            <a:pathLst>
              <a:path extrusionOk="0" h="3696970" w="4911725">
                <a:moveTo>
                  <a:pt x="0" y="616112"/>
                </a:move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4273" y="193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8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close/>
              </a:path>
            </a:pathLst>
          </a:custGeom>
          <a:solidFill>
            <a:srgbClr val="848FEC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Recursos Mínimos</a:t>
            </a:r>
            <a:endParaRPr b="1" sz="28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3d414da4462_0_267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Canais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3d414da4462_0_267"/>
          <p:cNvSpPr txBox="1"/>
          <p:nvPr/>
        </p:nvSpPr>
        <p:spPr>
          <a:xfrm>
            <a:off x="12851175" y="3817075"/>
            <a:ext cx="4314600" cy="4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Uma pessoa (pode ser o próprio sócio) para executar o processo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Ferramentas gratuitas ou de investimento baixo de geração de leads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Eventos periódicos com os parceiros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Ferramenta para criação de comunidade (circle)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CRM ou ferramenta de prospecção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6" name="Google Shape;296;g3d414da4462_0_267"/>
          <p:cNvSpPr txBox="1"/>
          <p:nvPr/>
        </p:nvSpPr>
        <p:spPr>
          <a:xfrm>
            <a:off x="1338640" y="3152966"/>
            <a:ext cx="8580000" cy="5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50">
            <a:spAutoFit/>
          </a:bodyPr>
          <a:lstStyle/>
          <a:p>
            <a:pPr indent="-642620" lvl="0" marL="798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Captação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Definição de potenciais parceiros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0739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Ativação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Apresentação e Fechamento da parceria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Definição de piloto para ativar a parceria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0" marL="79883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Relacionamento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marR="467357" rtl="0" algn="l">
              <a:lnSpc>
                <a:spcPct val="114999"/>
              </a:lnSpc>
              <a:spcBef>
                <a:spcPts val="1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Definição de rotina de relacionamento com o parceiro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Entregas de valor ao parceiro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4168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Promoção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ROI da parceria é alcançado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Parceiro promotor da marca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32790" lvl="0" marL="79883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Expansão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Expansão da parceria e canal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8820" lvl="1" marL="17132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AutoNum type="alphaLcPeriod"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Escala da parceria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g3d414da4462_0_26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g3d414da4462_0_279"/>
          <p:cNvGrpSpPr/>
          <p:nvPr/>
        </p:nvGrpSpPr>
        <p:grpSpPr>
          <a:xfrm>
            <a:off x="905150" y="2753633"/>
            <a:ext cx="9823450" cy="6148061"/>
            <a:chOff x="345525" y="1085175"/>
            <a:chExt cx="4911725" cy="3696970"/>
          </a:xfrm>
        </p:grpSpPr>
        <p:sp>
          <p:nvSpPr>
            <p:cNvPr id="303" name="Google Shape;303;g3d414da4462_0_279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4295487" y="3696599"/>
                  </a:move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2269" y="1853"/>
                  </a:lnTo>
                  <a:lnTo>
                    <a:pt x="4343606" y="185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7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  <p:sp>
          <p:nvSpPr>
            <p:cNvPr id="304" name="Google Shape;304;g3d414da4462_0_279"/>
            <p:cNvSpPr/>
            <p:nvPr/>
          </p:nvSpPr>
          <p:spPr>
            <a:xfrm>
              <a:off x="345525" y="1085175"/>
              <a:ext cx="4911725" cy="3696970"/>
            </a:xfrm>
            <a:custGeom>
              <a:rect b="b" l="l" r="r" t="t"/>
              <a:pathLst>
                <a:path extrusionOk="0" h="3696970" w="4911725">
                  <a:moveTo>
                    <a:pt x="0" y="616112"/>
                  </a:moveTo>
                  <a:lnTo>
                    <a:pt x="1853" y="567963"/>
                  </a:lnTo>
                  <a:lnTo>
                    <a:pt x="7323" y="520828"/>
                  </a:lnTo>
                  <a:lnTo>
                    <a:pt x="16271" y="474843"/>
                  </a:lnTo>
                  <a:lnTo>
                    <a:pt x="28562" y="430146"/>
                  </a:lnTo>
                  <a:lnTo>
                    <a:pt x="44058" y="386873"/>
                  </a:lnTo>
                  <a:lnTo>
                    <a:pt x="62622" y="345161"/>
                  </a:lnTo>
                  <a:lnTo>
                    <a:pt x="84117" y="305148"/>
                  </a:lnTo>
                  <a:lnTo>
                    <a:pt x="108406" y="266970"/>
                  </a:lnTo>
                  <a:lnTo>
                    <a:pt x="135352" y="230765"/>
                  </a:lnTo>
                  <a:lnTo>
                    <a:pt x="164819" y="196669"/>
                  </a:lnTo>
                  <a:lnTo>
                    <a:pt x="196669" y="164819"/>
                  </a:lnTo>
                  <a:lnTo>
                    <a:pt x="230765" y="135352"/>
                  </a:lnTo>
                  <a:lnTo>
                    <a:pt x="266970" y="108406"/>
                  </a:lnTo>
                  <a:lnTo>
                    <a:pt x="305148" y="84117"/>
                  </a:lnTo>
                  <a:lnTo>
                    <a:pt x="345161" y="62622"/>
                  </a:lnTo>
                  <a:lnTo>
                    <a:pt x="386873" y="44058"/>
                  </a:lnTo>
                  <a:lnTo>
                    <a:pt x="430146" y="28562"/>
                  </a:lnTo>
                  <a:lnTo>
                    <a:pt x="474843" y="16271"/>
                  </a:lnTo>
                  <a:lnTo>
                    <a:pt x="520828" y="7323"/>
                  </a:lnTo>
                  <a:lnTo>
                    <a:pt x="567963" y="1853"/>
                  </a:lnTo>
                  <a:lnTo>
                    <a:pt x="616112" y="0"/>
                  </a:lnTo>
                  <a:lnTo>
                    <a:pt x="4295487" y="0"/>
                  </a:lnTo>
                  <a:lnTo>
                    <a:pt x="4344273" y="1933"/>
                  </a:lnTo>
                  <a:lnTo>
                    <a:pt x="4392450" y="7675"/>
                  </a:lnTo>
                  <a:lnTo>
                    <a:pt x="4439812" y="17140"/>
                  </a:lnTo>
                  <a:lnTo>
                    <a:pt x="4486152" y="30243"/>
                  </a:lnTo>
                  <a:lnTo>
                    <a:pt x="4531263" y="46898"/>
                  </a:lnTo>
                  <a:lnTo>
                    <a:pt x="4574938" y="67020"/>
                  </a:lnTo>
                  <a:lnTo>
                    <a:pt x="4616971" y="90522"/>
                  </a:lnTo>
                  <a:lnTo>
                    <a:pt x="4657154" y="117319"/>
                  </a:lnTo>
                  <a:lnTo>
                    <a:pt x="4695281" y="147325"/>
                  </a:lnTo>
                  <a:lnTo>
                    <a:pt x="4731144" y="180455"/>
                  </a:lnTo>
                  <a:lnTo>
                    <a:pt x="4764274" y="216318"/>
                  </a:lnTo>
                  <a:lnTo>
                    <a:pt x="4794280" y="254445"/>
                  </a:lnTo>
                  <a:lnTo>
                    <a:pt x="4821077" y="294628"/>
                  </a:lnTo>
                  <a:lnTo>
                    <a:pt x="4844579" y="336661"/>
                  </a:lnTo>
                  <a:lnTo>
                    <a:pt x="4864701" y="380336"/>
                  </a:lnTo>
                  <a:lnTo>
                    <a:pt x="4881356" y="425447"/>
                  </a:lnTo>
                  <a:lnTo>
                    <a:pt x="4894459" y="471787"/>
                  </a:lnTo>
                  <a:lnTo>
                    <a:pt x="4903924" y="519149"/>
                  </a:lnTo>
                  <a:lnTo>
                    <a:pt x="4909666" y="567326"/>
                  </a:lnTo>
                  <a:lnTo>
                    <a:pt x="4911599" y="616112"/>
                  </a:lnTo>
                  <a:lnTo>
                    <a:pt x="4911599" y="3080487"/>
                  </a:lnTo>
                  <a:lnTo>
                    <a:pt x="4909746" y="3128636"/>
                  </a:lnTo>
                  <a:lnTo>
                    <a:pt x="4904276" y="3175771"/>
                  </a:lnTo>
                  <a:lnTo>
                    <a:pt x="4895328" y="3221756"/>
                  </a:lnTo>
                  <a:lnTo>
                    <a:pt x="4883037" y="3266453"/>
                  </a:lnTo>
                  <a:lnTo>
                    <a:pt x="4867541" y="3309726"/>
                  </a:lnTo>
                  <a:lnTo>
                    <a:pt x="4848977" y="3351438"/>
                  </a:lnTo>
                  <a:lnTo>
                    <a:pt x="4827482" y="3391451"/>
                  </a:lnTo>
                  <a:lnTo>
                    <a:pt x="4803193" y="3429628"/>
                  </a:lnTo>
                  <a:lnTo>
                    <a:pt x="4776246" y="3465834"/>
                  </a:lnTo>
                  <a:lnTo>
                    <a:pt x="4746780" y="3499930"/>
                  </a:lnTo>
                  <a:lnTo>
                    <a:pt x="4714930" y="3531780"/>
                  </a:lnTo>
                  <a:lnTo>
                    <a:pt x="4680834" y="3561246"/>
                  </a:lnTo>
                  <a:lnTo>
                    <a:pt x="4644628" y="3588193"/>
                  </a:lnTo>
                  <a:lnTo>
                    <a:pt x="4606451" y="3612482"/>
                  </a:lnTo>
                  <a:lnTo>
                    <a:pt x="4566438" y="3633977"/>
                  </a:lnTo>
                  <a:lnTo>
                    <a:pt x="4524726" y="3652541"/>
                  </a:lnTo>
                  <a:lnTo>
                    <a:pt x="4481453" y="3668037"/>
                  </a:lnTo>
                  <a:lnTo>
                    <a:pt x="4436756" y="3680328"/>
                  </a:lnTo>
                  <a:lnTo>
                    <a:pt x="4390771" y="3689276"/>
                  </a:lnTo>
                  <a:lnTo>
                    <a:pt x="4343636" y="3694746"/>
                  </a:lnTo>
                  <a:lnTo>
                    <a:pt x="4295487" y="3696599"/>
                  </a:lnTo>
                  <a:lnTo>
                    <a:pt x="616112" y="3696599"/>
                  </a:lnTo>
                  <a:lnTo>
                    <a:pt x="567963" y="3694746"/>
                  </a:lnTo>
                  <a:lnTo>
                    <a:pt x="520828" y="3689276"/>
                  </a:lnTo>
                  <a:lnTo>
                    <a:pt x="474843" y="3680328"/>
                  </a:lnTo>
                  <a:lnTo>
                    <a:pt x="430146" y="3668037"/>
                  </a:lnTo>
                  <a:lnTo>
                    <a:pt x="386873" y="3652541"/>
                  </a:lnTo>
                  <a:lnTo>
                    <a:pt x="345161" y="3633977"/>
                  </a:lnTo>
                  <a:lnTo>
                    <a:pt x="305148" y="3612482"/>
                  </a:lnTo>
                  <a:lnTo>
                    <a:pt x="266970" y="3588193"/>
                  </a:lnTo>
                  <a:lnTo>
                    <a:pt x="230765" y="3561246"/>
                  </a:lnTo>
                  <a:lnTo>
                    <a:pt x="196669" y="3531780"/>
                  </a:lnTo>
                  <a:lnTo>
                    <a:pt x="164819" y="3499930"/>
                  </a:lnTo>
                  <a:lnTo>
                    <a:pt x="135352" y="3465834"/>
                  </a:lnTo>
                  <a:lnTo>
                    <a:pt x="108406" y="3429628"/>
                  </a:lnTo>
                  <a:lnTo>
                    <a:pt x="84117" y="3391451"/>
                  </a:lnTo>
                  <a:lnTo>
                    <a:pt x="62622" y="3351438"/>
                  </a:lnTo>
                  <a:lnTo>
                    <a:pt x="44058" y="3309726"/>
                  </a:lnTo>
                  <a:lnTo>
                    <a:pt x="28562" y="3266453"/>
                  </a:lnTo>
                  <a:lnTo>
                    <a:pt x="16271" y="3221756"/>
                  </a:lnTo>
                  <a:lnTo>
                    <a:pt x="7323" y="3175771"/>
                  </a:lnTo>
                  <a:lnTo>
                    <a:pt x="1853" y="3128636"/>
                  </a:lnTo>
                  <a:lnTo>
                    <a:pt x="0" y="3080487"/>
                  </a:lnTo>
                  <a:lnTo>
                    <a:pt x="0" y="616112"/>
                  </a:lnTo>
                  <a:close/>
                </a:path>
              </a:pathLst>
            </a:custGeom>
            <a:solidFill>
              <a:srgbClr val="848FEC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sp>
        <p:nvSpPr>
          <p:cNvPr id="305" name="Google Shape;305;g3d414da4462_0_279"/>
          <p:cNvSpPr/>
          <p:nvPr/>
        </p:nvSpPr>
        <p:spPr>
          <a:xfrm>
            <a:off x="12190625" y="2753627"/>
            <a:ext cx="5083635" cy="1321667"/>
          </a:xfrm>
          <a:custGeom>
            <a:rect b="b" l="l" r="r" t="t"/>
            <a:pathLst>
              <a:path extrusionOk="0" h="3696970" w="4911725">
                <a:moveTo>
                  <a:pt x="0" y="616112"/>
                </a:moveTo>
                <a:lnTo>
                  <a:pt x="1853" y="567963"/>
                </a:lnTo>
                <a:lnTo>
                  <a:pt x="7323" y="520828"/>
                </a:lnTo>
                <a:lnTo>
                  <a:pt x="16271" y="474843"/>
                </a:lnTo>
                <a:lnTo>
                  <a:pt x="28562" y="430146"/>
                </a:lnTo>
                <a:lnTo>
                  <a:pt x="44058" y="386873"/>
                </a:lnTo>
                <a:lnTo>
                  <a:pt x="62622" y="345161"/>
                </a:lnTo>
                <a:lnTo>
                  <a:pt x="84117" y="305148"/>
                </a:lnTo>
                <a:lnTo>
                  <a:pt x="108406" y="266970"/>
                </a:lnTo>
                <a:lnTo>
                  <a:pt x="135352" y="230765"/>
                </a:lnTo>
                <a:lnTo>
                  <a:pt x="164819" y="196669"/>
                </a:lnTo>
                <a:lnTo>
                  <a:pt x="196669" y="164819"/>
                </a:lnTo>
                <a:lnTo>
                  <a:pt x="230765" y="135352"/>
                </a:lnTo>
                <a:lnTo>
                  <a:pt x="266970" y="108406"/>
                </a:lnTo>
                <a:lnTo>
                  <a:pt x="305148" y="84117"/>
                </a:lnTo>
                <a:lnTo>
                  <a:pt x="345161" y="62622"/>
                </a:lnTo>
                <a:lnTo>
                  <a:pt x="386873" y="44058"/>
                </a:lnTo>
                <a:lnTo>
                  <a:pt x="430146" y="28562"/>
                </a:lnTo>
                <a:lnTo>
                  <a:pt x="474843" y="16271"/>
                </a:lnTo>
                <a:lnTo>
                  <a:pt x="520828" y="7323"/>
                </a:lnTo>
                <a:lnTo>
                  <a:pt x="567963" y="1853"/>
                </a:lnTo>
                <a:lnTo>
                  <a:pt x="616112" y="0"/>
                </a:lnTo>
                <a:lnTo>
                  <a:pt x="4295487" y="0"/>
                </a:lnTo>
                <a:lnTo>
                  <a:pt x="4344273" y="1933"/>
                </a:lnTo>
                <a:lnTo>
                  <a:pt x="4392450" y="7675"/>
                </a:lnTo>
                <a:lnTo>
                  <a:pt x="4439812" y="17140"/>
                </a:lnTo>
                <a:lnTo>
                  <a:pt x="4486152" y="30243"/>
                </a:lnTo>
                <a:lnTo>
                  <a:pt x="4531263" y="46898"/>
                </a:lnTo>
                <a:lnTo>
                  <a:pt x="4574938" y="67020"/>
                </a:lnTo>
                <a:lnTo>
                  <a:pt x="4616971" y="90522"/>
                </a:lnTo>
                <a:lnTo>
                  <a:pt x="4657154" y="117319"/>
                </a:lnTo>
                <a:lnTo>
                  <a:pt x="4695281" y="147325"/>
                </a:lnTo>
                <a:lnTo>
                  <a:pt x="4731144" y="180455"/>
                </a:lnTo>
                <a:lnTo>
                  <a:pt x="4764274" y="216318"/>
                </a:lnTo>
                <a:lnTo>
                  <a:pt x="4794280" y="254445"/>
                </a:lnTo>
                <a:lnTo>
                  <a:pt x="4821077" y="294628"/>
                </a:lnTo>
                <a:lnTo>
                  <a:pt x="4844579" y="336661"/>
                </a:lnTo>
                <a:lnTo>
                  <a:pt x="4864701" y="380336"/>
                </a:lnTo>
                <a:lnTo>
                  <a:pt x="4881356" y="425447"/>
                </a:lnTo>
                <a:lnTo>
                  <a:pt x="4894459" y="471787"/>
                </a:lnTo>
                <a:lnTo>
                  <a:pt x="4903924" y="519149"/>
                </a:lnTo>
                <a:lnTo>
                  <a:pt x="4909666" y="567326"/>
                </a:lnTo>
                <a:lnTo>
                  <a:pt x="4911599" y="616112"/>
                </a:lnTo>
                <a:lnTo>
                  <a:pt x="4911599" y="3080487"/>
                </a:lnTo>
                <a:lnTo>
                  <a:pt x="4909746" y="3128636"/>
                </a:lnTo>
                <a:lnTo>
                  <a:pt x="4904276" y="3175771"/>
                </a:lnTo>
                <a:lnTo>
                  <a:pt x="4895328" y="3221756"/>
                </a:lnTo>
                <a:lnTo>
                  <a:pt x="4883037" y="3266453"/>
                </a:lnTo>
                <a:lnTo>
                  <a:pt x="4867541" y="3309726"/>
                </a:lnTo>
                <a:lnTo>
                  <a:pt x="4848977" y="3351438"/>
                </a:lnTo>
                <a:lnTo>
                  <a:pt x="4827482" y="3391451"/>
                </a:lnTo>
                <a:lnTo>
                  <a:pt x="4803193" y="3429628"/>
                </a:lnTo>
                <a:lnTo>
                  <a:pt x="4776246" y="3465834"/>
                </a:lnTo>
                <a:lnTo>
                  <a:pt x="4746780" y="3499930"/>
                </a:lnTo>
                <a:lnTo>
                  <a:pt x="4714930" y="3531780"/>
                </a:lnTo>
                <a:lnTo>
                  <a:pt x="4680834" y="3561246"/>
                </a:lnTo>
                <a:lnTo>
                  <a:pt x="4644628" y="3588193"/>
                </a:lnTo>
                <a:lnTo>
                  <a:pt x="4606451" y="3612482"/>
                </a:lnTo>
                <a:lnTo>
                  <a:pt x="4566438" y="3633977"/>
                </a:lnTo>
                <a:lnTo>
                  <a:pt x="4524726" y="3652541"/>
                </a:lnTo>
                <a:lnTo>
                  <a:pt x="4481453" y="3668037"/>
                </a:lnTo>
                <a:lnTo>
                  <a:pt x="4436756" y="3680328"/>
                </a:lnTo>
                <a:lnTo>
                  <a:pt x="4390771" y="3689276"/>
                </a:lnTo>
                <a:lnTo>
                  <a:pt x="4343636" y="3694746"/>
                </a:lnTo>
                <a:lnTo>
                  <a:pt x="4295487" y="3696599"/>
                </a:lnTo>
                <a:lnTo>
                  <a:pt x="616112" y="3696599"/>
                </a:lnTo>
                <a:lnTo>
                  <a:pt x="567963" y="3694746"/>
                </a:lnTo>
                <a:lnTo>
                  <a:pt x="520828" y="3689276"/>
                </a:lnTo>
                <a:lnTo>
                  <a:pt x="474843" y="3680328"/>
                </a:lnTo>
                <a:lnTo>
                  <a:pt x="430146" y="3668037"/>
                </a:lnTo>
                <a:lnTo>
                  <a:pt x="386873" y="3652541"/>
                </a:lnTo>
                <a:lnTo>
                  <a:pt x="345161" y="3633977"/>
                </a:lnTo>
                <a:lnTo>
                  <a:pt x="305148" y="3612482"/>
                </a:lnTo>
                <a:lnTo>
                  <a:pt x="266970" y="3588193"/>
                </a:lnTo>
                <a:lnTo>
                  <a:pt x="230765" y="3561246"/>
                </a:lnTo>
                <a:lnTo>
                  <a:pt x="196669" y="3531780"/>
                </a:lnTo>
                <a:lnTo>
                  <a:pt x="164819" y="3499930"/>
                </a:lnTo>
                <a:lnTo>
                  <a:pt x="135352" y="3465834"/>
                </a:lnTo>
                <a:lnTo>
                  <a:pt x="108406" y="3429628"/>
                </a:lnTo>
                <a:lnTo>
                  <a:pt x="84117" y="3391451"/>
                </a:lnTo>
                <a:lnTo>
                  <a:pt x="62622" y="3351438"/>
                </a:lnTo>
                <a:lnTo>
                  <a:pt x="44058" y="3309726"/>
                </a:lnTo>
                <a:lnTo>
                  <a:pt x="28562" y="3266453"/>
                </a:lnTo>
                <a:lnTo>
                  <a:pt x="16271" y="3221756"/>
                </a:lnTo>
                <a:lnTo>
                  <a:pt x="7323" y="3175771"/>
                </a:lnTo>
                <a:lnTo>
                  <a:pt x="1853" y="3128636"/>
                </a:lnTo>
                <a:lnTo>
                  <a:pt x="0" y="3080487"/>
                </a:lnTo>
                <a:lnTo>
                  <a:pt x="0" y="616112"/>
                </a:lnTo>
                <a:close/>
              </a:path>
            </a:pathLst>
          </a:custGeom>
          <a:solidFill>
            <a:srgbClr val="848FEC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Recursos Mínimos</a:t>
            </a:r>
            <a:endParaRPr b="1" sz="28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g3d414da4462_0_279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g3d414da4462_0_279"/>
          <p:cNvSpPr txBox="1"/>
          <p:nvPr/>
        </p:nvSpPr>
        <p:spPr>
          <a:xfrm>
            <a:off x="12575138" y="4388700"/>
            <a:ext cx="4314600" cy="24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Duas pessoas para participar dos eventos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Investimento para participar dos eventos e/ou patrocinar 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● CRM ou ferramenta de prospecção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8" name="Google Shape;308;g3d414da4462_0_279"/>
          <p:cNvSpPr txBox="1"/>
          <p:nvPr/>
        </p:nvSpPr>
        <p:spPr>
          <a:xfrm>
            <a:off x="1540906" y="3174020"/>
            <a:ext cx="474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Processo de Prospecçãoo</a:t>
            </a:r>
            <a:endParaRPr b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3d414da4462_0_279"/>
          <p:cNvSpPr txBox="1"/>
          <p:nvPr/>
        </p:nvSpPr>
        <p:spPr>
          <a:xfrm>
            <a:off x="1656140" y="3601756"/>
            <a:ext cx="7402800" cy="20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-648970" lvl="0" marL="798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Mapeamento e Avaliação de Aderência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374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Reconhecimento de Contas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2517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Abordagem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4803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Qualificação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39140" lvl="0" marL="798830" rtl="0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Agendamento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3d414da4462_0_279"/>
          <p:cNvSpPr txBox="1"/>
          <p:nvPr/>
        </p:nvSpPr>
        <p:spPr>
          <a:xfrm>
            <a:off x="1540906" y="6433856"/>
            <a:ext cx="414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Processo via estande</a:t>
            </a:r>
            <a:endParaRPr b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d414da4462_0_279"/>
          <p:cNvSpPr txBox="1"/>
          <p:nvPr/>
        </p:nvSpPr>
        <p:spPr>
          <a:xfrm>
            <a:off x="1656140" y="6861590"/>
            <a:ext cx="66663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50">
            <a:spAutoFit/>
          </a:bodyPr>
          <a:lstStyle/>
          <a:p>
            <a:pPr indent="-648970" lvl="0" marL="798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13740" lvl="0" marL="79883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Pitch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2517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Qualificação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48030" lvl="0" marL="79883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Agendamento/Captura do contato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2" name="Google Shape;312;g3d414da4462_0_279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835150" y="2501513"/>
            <a:ext cx="9925050" cy="5283976"/>
          </a:xfrm>
          <a:custGeom>
            <a:rect b="b" l="l" r="r" t="t"/>
            <a:pathLst>
              <a:path extrusionOk="0" h="4304665" w="4962525">
                <a:moveTo>
                  <a:pt x="0" y="687709"/>
                </a:moveTo>
                <a:lnTo>
                  <a:pt x="1586" y="640624"/>
                </a:lnTo>
                <a:lnTo>
                  <a:pt x="6277" y="594391"/>
                </a:lnTo>
                <a:lnTo>
                  <a:pt x="13971" y="549111"/>
                </a:lnTo>
                <a:lnTo>
                  <a:pt x="24565" y="504888"/>
                </a:lnTo>
                <a:lnTo>
                  <a:pt x="37957" y="461824"/>
                </a:lnTo>
                <a:lnTo>
                  <a:pt x="54043" y="420021"/>
                </a:lnTo>
                <a:lnTo>
                  <a:pt x="72722" y="379582"/>
                </a:lnTo>
                <a:lnTo>
                  <a:pt x="93892" y="340609"/>
                </a:lnTo>
                <a:lnTo>
                  <a:pt x="117449" y="303204"/>
                </a:lnTo>
                <a:lnTo>
                  <a:pt x="143292" y="267470"/>
                </a:lnTo>
                <a:lnTo>
                  <a:pt x="171318" y="233510"/>
                </a:lnTo>
                <a:lnTo>
                  <a:pt x="201425" y="201425"/>
                </a:lnTo>
                <a:lnTo>
                  <a:pt x="233510" y="171318"/>
                </a:lnTo>
                <a:lnTo>
                  <a:pt x="267470" y="143292"/>
                </a:lnTo>
                <a:lnTo>
                  <a:pt x="303204" y="117449"/>
                </a:lnTo>
                <a:lnTo>
                  <a:pt x="340609" y="93892"/>
                </a:lnTo>
                <a:lnTo>
                  <a:pt x="379582" y="72722"/>
                </a:lnTo>
                <a:lnTo>
                  <a:pt x="420021" y="54043"/>
                </a:lnTo>
                <a:lnTo>
                  <a:pt x="461824" y="37957"/>
                </a:lnTo>
                <a:lnTo>
                  <a:pt x="504888" y="24565"/>
                </a:lnTo>
                <a:lnTo>
                  <a:pt x="549111" y="13971"/>
                </a:lnTo>
                <a:lnTo>
                  <a:pt x="594391" y="6277"/>
                </a:lnTo>
                <a:lnTo>
                  <a:pt x="640624" y="1586"/>
                </a:lnTo>
                <a:lnTo>
                  <a:pt x="687709" y="0"/>
                </a:lnTo>
                <a:lnTo>
                  <a:pt x="4274290" y="0"/>
                </a:lnTo>
                <a:lnTo>
                  <a:pt x="4323820" y="1784"/>
                </a:lnTo>
                <a:lnTo>
                  <a:pt x="4372805" y="7089"/>
                </a:lnTo>
                <a:lnTo>
                  <a:pt x="4421073" y="15844"/>
                </a:lnTo>
                <a:lnTo>
                  <a:pt x="4468450" y="27975"/>
                </a:lnTo>
                <a:lnTo>
                  <a:pt x="4514762" y="43413"/>
                </a:lnTo>
                <a:lnTo>
                  <a:pt x="4559837" y="62083"/>
                </a:lnTo>
                <a:lnTo>
                  <a:pt x="4603501" y="83916"/>
                </a:lnTo>
                <a:lnTo>
                  <a:pt x="4645580" y="108838"/>
                </a:lnTo>
                <a:lnTo>
                  <a:pt x="4685901" y="136778"/>
                </a:lnTo>
                <a:lnTo>
                  <a:pt x="4724290" y="167664"/>
                </a:lnTo>
                <a:lnTo>
                  <a:pt x="4760574" y="201425"/>
                </a:lnTo>
                <a:lnTo>
                  <a:pt x="4794335" y="237709"/>
                </a:lnTo>
                <a:lnTo>
                  <a:pt x="4825221" y="276098"/>
                </a:lnTo>
                <a:lnTo>
                  <a:pt x="4853161" y="316419"/>
                </a:lnTo>
                <a:lnTo>
                  <a:pt x="4878083" y="358498"/>
                </a:lnTo>
                <a:lnTo>
                  <a:pt x="4899916" y="402162"/>
                </a:lnTo>
                <a:lnTo>
                  <a:pt x="4918586" y="447237"/>
                </a:lnTo>
                <a:lnTo>
                  <a:pt x="4934024" y="493549"/>
                </a:lnTo>
                <a:lnTo>
                  <a:pt x="4946155" y="540926"/>
                </a:lnTo>
                <a:lnTo>
                  <a:pt x="4954910" y="589194"/>
                </a:lnTo>
                <a:lnTo>
                  <a:pt x="4960215" y="638179"/>
                </a:lnTo>
                <a:lnTo>
                  <a:pt x="4961999" y="687709"/>
                </a:lnTo>
                <a:lnTo>
                  <a:pt x="4961999" y="3616390"/>
                </a:lnTo>
                <a:lnTo>
                  <a:pt x="4960413" y="3663475"/>
                </a:lnTo>
                <a:lnTo>
                  <a:pt x="4955722" y="3709709"/>
                </a:lnTo>
                <a:lnTo>
                  <a:pt x="4948028" y="3754988"/>
                </a:lnTo>
                <a:lnTo>
                  <a:pt x="4937434" y="3799211"/>
                </a:lnTo>
                <a:lnTo>
                  <a:pt x="4924042" y="3842275"/>
                </a:lnTo>
                <a:lnTo>
                  <a:pt x="4907956" y="3884078"/>
                </a:lnTo>
                <a:lnTo>
                  <a:pt x="4889277" y="3924517"/>
                </a:lnTo>
                <a:lnTo>
                  <a:pt x="4868107" y="3963491"/>
                </a:lnTo>
                <a:lnTo>
                  <a:pt x="4844550" y="4000895"/>
                </a:lnTo>
                <a:lnTo>
                  <a:pt x="4818707" y="4036629"/>
                </a:lnTo>
                <a:lnTo>
                  <a:pt x="4790681" y="4070590"/>
                </a:lnTo>
                <a:lnTo>
                  <a:pt x="4760574" y="4102674"/>
                </a:lnTo>
                <a:lnTo>
                  <a:pt x="4728490" y="4132781"/>
                </a:lnTo>
                <a:lnTo>
                  <a:pt x="4694529" y="4160807"/>
                </a:lnTo>
                <a:lnTo>
                  <a:pt x="4658795" y="4186650"/>
                </a:lnTo>
                <a:lnTo>
                  <a:pt x="4621391" y="4210207"/>
                </a:lnTo>
                <a:lnTo>
                  <a:pt x="4582417" y="4231377"/>
                </a:lnTo>
                <a:lnTo>
                  <a:pt x="4541978" y="4250056"/>
                </a:lnTo>
                <a:lnTo>
                  <a:pt x="4500175" y="4266142"/>
                </a:lnTo>
                <a:lnTo>
                  <a:pt x="4457111" y="4279534"/>
                </a:lnTo>
                <a:lnTo>
                  <a:pt x="4412888" y="4290128"/>
                </a:lnTo>
                <a:lnTo>
                  <a:pt x="4367609" y="4297822"/>
                </a:lnTo>
                <a:lnTo>
                  <a:pt x="4321375" y="4302513"/>
                </a:lnTo>
                <a:lnTo>
                  <a:pt x="4274290" y="4304099"/>
                </a:lnTo>
                <a:lnTo>
                  <a:pt x="687709" y="4304099"/>
                </a:lnTo>
                <a:lnTo>
                  <a:pt x="640624" y="4302513"/>
                </a:lnTo>
                <a:lnTo>
                  <a:pt x="594391" y="4297822"/>
                </a:lnTo>
                <a:lnTo>
                  <a:pt x="549111" y="4290128"/>
                </a:lnTo>
                <a:lnTo>
                  <a:pt x="504888" y="4279534"/>
                </a:lnTo>
                <a:lnTo>
                  <a:pt x="461824" y="4266142"/>
                </a:lnTo>
                <a:lnTo>
                  <a:pt x="420021" y="4250056"/>
                </a:lnTo>
                <a:lnTo>
                  <a:pt x="379582" y="4231377"/>
                </a:lnTo>
                <a:lnTo>
                  <a:pt x="340609" y="4210207"/>
                </a:lnTo>
                <a:lnTo>
                  <a:pt x="303204" y="4186650"/>
                </a:lnTo>
                <a:lnTo>
                  <a:pt x="267470" y="4160807"/>
                </a:lnTo>
                <a:lnTo>
                  <a:pt x="233510" y="4132781"/>
                </a:lnTo>
                <a:lnTo>
                  <a:pt x="201425" y="4102674"/>
                </a:lnTo>
                <a:lnTo>
                  <a:pt x="171318" y="4070590"/>
                </a:lnTo>
                <a:lnTo>
                  <a:pt x="143292" y="4036629"/>
                </a:lnTo>
                <a:lnTo>
                  <a:pt x="117449" y="4000895"/>
                </a:lnTo>
                <a:lnTo>
                  <a:pt x="93892" y="3963491"/>
                </a:lnTo>
                <a:lnTo>
                  <a:pt x="72722" y="3924517"/>
                </a:lnTo>
                <a:lnTo>
                  <a:pt x="54043" y="3884078"/>
                </a:lnTo>
                <a:lnTo>
                  <a:pt x="37957" y="3842275"/>
                </a:lnTo>
                <a:lnTo>
                  <a:pt x="24565" y="3799211"/>
                </a:lnTo>
                <a:lnTo>
                  <a:pt x="13971" y="3754988"/>
                </a:lnTo>
                <a:lnTo>
                  <a:pt x="6277" y="3709709"/>
                </a:lnTo>
                <a:lnTo>
                  <a:pt x="1586" y="3663475"/>
                </a:lnTo>
                <a:lnTo>
                  <a:pt x="0" y="3616390"/>
                </a:lnTo>
                <a:lnTo>
                  <a:pt x="0" y="687709"/>
                </a:lnTo>
                <a:close/>
              </a:path>
            </a:pathLst>
          </a:cu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18" name="Google Shape;318;p26"/>
          <p:cNvSpPr txBox="1"/>
          <p:nvPr>
            <p:ph idx="1" type="body"/>
          </p:nvPr>
        </p:nvSpPr>
        <p:spPr>
          <a:xfrm>
            <a:off x="1832128" y="3112341"/>
            <a:ext cx="7931100" cy="4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739140" lvl="0" marL="83946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Definir estratégia de crescimento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39468" lvl="1" marL="175387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lphaL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Posicionamento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39468" lvl="1" marL="175387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lphaL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ICP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14068" lvl="1" marL="175387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lphaL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Estratégias de aquisição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03910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Mapear jornada de compra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14067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Desenhar funil de aquisição e de vendas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98830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Definição da régua de consultividade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00100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Definir modelo comercial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03910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Definir estrutura de equipe e organograma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772160" lvl="0" marL="839467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arenR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Definir recursos necessários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Modelo de operação de vendas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26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>
            <a:off x="11264632" y="2841366"/>
            <a:ext cx="6611618" cy="1338578"/>
          </a:xfrm>
          <a:custGeom>
            <a:rect b="b" l="l" r="r" t="t"/>
            <a:pathLst>
              <a:path extrusionOk="0" h="669289" w="3305809">
                <a:moveTo>
                  <a:pt x="2971199" y="668999"/>
                </a:moveTo>
                <a:lnTo>
                  <a:pt x="0" y="668999"/>
                </a:lnTo>
                <a:lnTo>
                  <a:pt x="334499" y="334499"/>
                </a:lnTo>
                <a:lnTo>
                  <a:pt x="0" y="0"/>
                </a:lnTo>
                <a:lnTo>
                  <a:pt x="2971199" y="0"/>
                </a:lnTo>
                <a:lnTo>
                  <a:pt x="3305699" y="334499"/>
                </a:lnTo>
                <a:lnTo>
                  <a:pt x="2971199" y="668999"/>
                </a:lnTo>
                <a:close/>
              </a:path>
            </a:pathLst>
          </a:custGeom>
          <a:solidFill>
            <a:srgbClr val="848F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12738772" y="3051644"/>
            <a:ext cx="3660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563880" lvl="0" marL="588010" marR="1016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Elevada consultividade (Venda técnica)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12334150" y="4576068"/>
            <a:ext cx="44730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70180" marR="34290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 venda requer um especialista técnico, para que a jornada evolua.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170180" marR="16510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Neste caso, normalmente é necessário que o vendedor seja técnico ou que a operação tenha um arquiteto de solução atuando junto ao vendedor.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0" y="2841796"/>
            <a:ext cx="7094220" cy="1338578"/>
          </a:xfrm>
          <a:custGeom>
            <a:rect b="b" l="l" r="r" t="t"/>
            <a:pathLst>
              <a:path extrusionOk="0" h="669289" w="3547110">
                <a:moveTo>
                  <a:pt x="3212399" y="669000"/>
                </a:moveTo>
                <a:lnTo>
                  <a:pt x="0" y="669000"/>
                </a:lnTo>
                <a:lnTo>
                  <a:pt x="0" y="0"/>
                </a:lnTo>
                <a:lnTo>
                  <a:pt x="3212399" y="0"/>
                </a:lnTo>
                <a:lnTo>
                  <a:pt x="3546899" y="334499"/>
                </a:lnTo>
                <a:lnTo>
                  <a:pt x="3212399" y="669000"/>
                </a:lnTo>
                <a:close/>
              </a:path>
            </a:pathLst>
          </a:custGeom>
          <a:solidFill>
            <a:srgbClr val="848FEC">
              <a:alpha val="7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1728392" y="3052072"/>
            <a:ext cx="3299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871217" lvl="0" marL="895350" marR="1016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Baixa consultividade (Simples)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1310700" y="4576068"/>
            <a:ext cx="44730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71450" marR="839467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Venda simples. Não há necessidade de inserir uma autoridade no processo comercial.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171450" marR="28194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vendedor precisa ser treinado no produto e no processo e ele próprio consegue desenvolver a jornada comercial.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888408" y="2841366"/>
            <a:ext cx="6611620" cy="1338578"/>
          </a:xfrm>
          <a:custGeom>
            <a:rect b="b" l="l" r="r" t="t"/>
            <a:pathLst>
              <a:path extrusionOk="0" h="669289" w="3305810">
                <a:moveTo>
                  <a:pt x="2971199" y="668999"/>
                </a:moveTo>
                <a:lnTo>
                  <a:pt x="0" y="668999"/>
                </a:lnTo>
                <a:lnTo>
                  <a:pt x="334499" y="334499"/>
                </a:lnTo>
                <a:lnTo>
                  <a:pt x="0" y="0"/>
                </a:lnTo>
                <a:lnTo>
                  <a:pt x="2971199" y="0"/>
                </a:lnTo>
                <a:lnTo>
                  <a:pt x="3305699" y="334499"/>
                </a:lnTo>
                <a:lnTo>
                  <a:pt x="2971199" y="668999"/>
                </a:lnTo>
                <a:close/>
              </a:path>
            </a:pathLst>
          </a:custGeom>
          <a:solidFill>
            <a:srgbClr val="848FEC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7488708" y="3051644"/>
            <a:ext cx="340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205740" lvl="0" marL="229870" marR="1016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Média consultividade (Venda consultiva)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6957900" y="4576068"/>
            <a:ext cx="44730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70180" marR="47879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 venda requer presença de autoridade, para que a jornada evolua. Porém, o próprio vendedor tem condição de se tornar essa autoridade.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170180" marR="4114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vendedor precisa se tornar especialista, além de conhecer do produto e processo.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Régua de Consultividade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2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28"/>
          <p:cNvGrpSpPr/>
          <p:nvPr/>
        </p:nvGrpSpPr>
        <p:grpSpPr>
          <a:xfrm>
            <a:off x="2000286" y="2881241"/>
            <a:ext cx="4541515" cy="5966304"/>
            <a:chOff x="779377" y="993232"/>
            <a:chExt cx="2487411" cy="3181350"/>
          </a:xfrm>
        </p:grpSpPr>
        <p:sp>
          <p:nvSpPr>
            <p:cNvPr id="341" name="Google Shape;341;p28"/>
            <p:cNvSpPr/>
            <p:nvPr/>
          </p:nvSpPr>
          <p:spPr>
            <a:xfrm>
              <a:off x="851248" y="993232"/>
              <a:ext cx="2415540" cy="3181350"/>
            </a:xfrm>
            <a:custGeom>
              <a:rect b="b" l="l" r="r" t="t"/>
              <a:pathLst>
                <a:path extrusionOk="0" h="3181350" w="2415540">
                  <a:moveTo>
                    <a:pt x="2414957" y="3180814"/>
                  </a:moveTo>
                  <a:lnTo>
                    <a:pt x="0" y="3180814"/>
                  </a:lnTo>
                  <a:lnTo>
                    <a:pt x="0" y="0"/>
                  </a:lnTo>
                  <a:lnTo>
                    <a:pt x="2414957" y="0"/>
                  </a:lnTo>
                  <a:lnTo>
                    <a:pt x="2414957" y="3180814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779377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2436010" y="1943415"/>
                  </a:moveTo>
                  <a:lnTo>
                    <a:pt x="0" y="1943415"/>
                  </a:lnTo>
                  <a:lnTo>
                    <a:pt x="0" y="0"/>
                  </a:lnTo>
                  <a:lnTo>
                    <a:pt x="2436010" y="0"/>
                  </a:lnTo>
                  <a:lnTo>
                    <a:pt x="2436010" y="1943415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779377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0" y="0"/>
                  </a:moveTo>
                  <a:lnTo>
                    <a:pt x="2436010" y="0"/>
                  </a:lnTo>
                  <a:lnTo>
                    <a:pt x="2436010" y="1943415"/>
                  </a:lnTo>
                  <a:lnTo>
                    <a:pt x="0" y="1943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4" name="Google Shape;344;p28"/>
          <p:cNvSpPr txBox="1"/>
          <p:nvPr/>
        </p:nvSpPr>
        <p:spPr>
          <a:xfrm>
            <a:off x="2131539" y="3040135"/>
            <a:ext cx="43176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0" lvl="0" marL="2663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Inside Sales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488979" rtl="0" algn="l">
              <a:lnSpc>
                <a:spcPct val="1172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de venda 100% interno, com contato envolvendo telefone, mensagens e reuniões online.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91"/>
              </a:spcBef>
              <a:spcAft>
                <a:spcPts val="0"/>
              </a:spcAft>
              <a:buNone/>
            </a:pPr>
            <a:r>
              <a:t/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569543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 de aquisição mais baixo e aumento da produtividade.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902993" y="6244661"/>
            <a:ext cx="603774" cy="536089"/>
          </a:xfrm>
          <a:custGeom>
            <a:rect b="b" l="l" r="r" t="t"/>
            <a:pathLst>
              <a:path extrusionOk="0" h="304164" w="330835">
                <a:moveTo>
                  <a:pt x="165386" y="303614"/>
                </a:moveTo>
                <a:lnTo>
                  <a:pt x="0" y="130448"/>
                </a:lnTo>
                <a:lnTo>
                  <a:pt x="108759" y="130448"/>
                </a:lnTo>
                <a:lnTo>
                  <a:pt x="108759" y="0"/>
                </a:lnTo>
                <a:lnTo>
                  <a:pt x="222012" y="0"/>
                </a:lnTo>
                <a:lnTo>
                  <a:pt x="222012" y="130448"/>
                </a:lnTo>
                <a:lnTo>
                  <a:pt x="330772" y="130448"/>
                </a:lnTo>
                <a:lnTo>
                  <a:pt x="165386" y="3036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2131539" y="6937772"/>
            <a:ext cx="4410300" cy="1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-522548" lvl="0" marL="829137" marR="339040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Recomendado para venda de soluções mais simples e de ticket médio ou baixo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  <a:p>
            <a:pPr indent="-522548" lvl="0" marL="829137" marR="720601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Venda é focada no alto volume de clientes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7" name="Google Shape;347;p28"/>
          <p:cNvGrpSpPr/>
          <p:nvPr/>
        </p:nvGrpSpPr>
        <p:grpSpPr>
          <a:xfrm>
            <a:off x="6805795" y="2881200"/>
            <a:ext cx="4541517" cy="5966304"/>
            <a:chOff x="3411364" y="993232"/>
            <a:chExt cx="2487412" cy="3181350"/>
          </a:xfrm>
        </p:grpSpPr>
        <p:sp>
          <p:nvSpPr>
            <p:cNvPr id="348" name="Google Shape;348;p28"/>
            <p:cNvSpPr/>
            <p:nvPr/>
          </p:nvSpPr>
          <p:spPr>
            <a:xfrm>
              <a:off x="3483236" y="993232"/>
              <a:ext cx="2415540" cy="3181350"/>
            </a:xfrm>
            <a:custGeom>
              <a:rect b="b" l="l" r="r" t="t"/>
              <a:pathLst>
                <a:path extrusionOk="0" h="3181350" w="2415540">
                  <a:moveTo>
                    <a:pt x="2414957" y="3180814"/>
                  </a:moveTo>
                  <a:lnTo>
                    <a:pt x="0" y="3180814"/>
                  </a:lnTo>
                  <a:lnTo>
                    <a:pt x="0" y="0"/>
                  </a:lnTo>
                  <a:lnTo>
                    <a:pt x="2414957" y="0"/>
                  </a:lnTo>
                  <a:lnTo>
                    <a:pt x="2414957" y="3180814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3411364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2436009" y="1943415"/>
                  </a:moveTo>
                  <a:lnTo>
                    <a:pt x="0" y="1943415"/>
                  </a:lnTo>
                  <a:lnTo>
                    <a:pt x="0" y="0"/>
                  </a:lnTo>
                  <a:lnTo>
                    <a:pt x="2436009" y="0"/>
                  </a:lnTo>
                  <a:lnTo>
                    <a:pt x="2436009" y="1943415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3411364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0" y="0"/>
                  </a:moveTo>
                  <a:lnTo>
                    <a:pt x="2436009" y="0"/>
                  </a:lnTo>
                  <a:lnTo>
                    <a:pt x="2436009" y="1943415"/>
                  </a:lnTo>
                  <a:lnTo>
                    <a:pt x="0" y="1943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1" name="Google Shape;351;p28"/>
          <p:cNvSpPr txBox="1"/>
          <p:nvPr/>
        </p:nvSpPr>
        <p:spPr>
          <a:xfrm>
            <a:off x="6937095" y="3040135"/>
            <a:ext cx="4317600" cy="3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0" lvl="0" marL="2663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Field Sales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653465" rtl="0" algn="l">
              <a:lnSpc>
                <a:spcPct val="1172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de venda envolve +80% do processo externo, com o cliente. Envolve visitas e reuniões presenciais.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91"/>
              </a:spcBef>
              <a:spcAft>
                <a:spcPts val="0"/>
              </a:spcAft>
              <a:buNone/>
            </a:pPr>
            <a:r>
              <a:t/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543808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 de aquisição alto e baixo volume de oportunidades por vendedor.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8708549" y="6244661"/>
            <a:ext cx="603774" cy="536089"/>
          </a:xfrm>
          <a:custGeom>
            <a:rect b="b" l="l" r="r" t="t"/>
            <a:pathLst>
              <a:path extrusionOk="0" h="304164" w="330835">
                <a:moveTo>
                  <a:pt x="165385" y="303614"/>
                </a:moveTo>
                <a:lnTo>
                  <a:pt x="0" y="130448"/>
                </a:lnTo>
                <a:lnTo>
                  <a:pt x="108759" y="130448"/>
                </a:lnTo>
                <a:lnTo>
                  <a:pt x="108759" y="0"/>
                </a:lnTo>
                <a:lnTo>
                  <a:pt x="222012" y="0"/>
                </a:lnTo>
                <a:lnTo>
                  <a:pt x="222012" y="130448"/>
                </a:lnTo>
                <a:lnTo>
                  <a:pt x="330771" y="130448"/>
                </a:lnTo>
                <a:lnTo>
                  <a:pt x="165385" y="3036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6937095" y="6937772"/>
            <a:ext cx="44103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-522548" lvl="0" marL="829137" marR="339040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Recomendado para venda de soluções mais complexas, e ticket alto, principalmente vendas técnicas.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  <a:p>
            <a:pPr indent="-522548" lvl="0" marL="829137" marR="406175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Venda é focada na elevada conversão de negócios.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11746000" y="2881200"/>
            <a:ext cx="4541517" cy="5966304"/>
            <a:chOff x="6117164" y="993232"/>
            <a:chExt cx="2487412" cy="3181350"/>
          </a:xfrm>
        </p:grpSpPr>
        <p:sp>
          <p:nvSpPr>
            <p:cNvPr id="355" name="Google Shape;355;p28"/>
            <p:cNvSpPr/>
            <p:nvPr/>
          </p:nvSpPr>
          <p:spPr>
            <a:xfrm>
              <a:off x="6189036" y="993232"/>
              <a:ext cx="2415540" cy="3181350"/>
            </a:xfrm>
            <a:custGeom>
              <a:rect b="b" l="l" r="r" t="t"/>
              <a:pathLst>
                <a:path extrusionOk="0" h="3181350" w="2415540">
                  <a:moveTo>
                    <a:pt x="2414957" y="3180814"/>
                  </a:moveTo>
                  <a:lnTo>
                    <a:pt x="0" y="3180814"/>
                  </a:lnTo>
                  <a:lnTo>
                    <a:pt x="0" y="0"/>
                  </a:lnTo>
                  <a:lnTo>
                    <a:pt x="2414957" y="0"/>
                  </a:lnTo>
                  <a:lnTo>
                    <a:pt x="2414957" y="3180814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6117164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2436010" y="1943415"/>
                  </a:moveTo>
                  <a:lnTo>
                    <a:pt x="0" y="1943415"/>
                  </a:lnTo>
                  <a:lnTo>
                    <a:pt x="0" y="0"/>
                  </a:lnTo>
                  <a:lnTo>
                    <a:pt x="2436010" y="0"/>
                  </a:lnTo>
                  <a:lnTo>
                    <a:pt x="2436010" y="1943415"/>
                  </a:lnTo>
                  <a:close/>
                </a:path>
              </a:pathLst>
            </a:custGeom>
            <a:solidFill>
              <a:srgbClr val="848F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6117164" y="1038508"/>
              <a:ext cx="2436495" cy="1943735"/>
            </a:xfrm>
            <a:custGeom>
              <a:rect b="b" l="l" r="r" t="t"/>
              <a:pathLst>
                <a:path extrusionOk="0" h="1943735" w="2436495">
                  <a:moveTo>
                    <a:pt x="0" y="0"/>
                  </a:moveTo>
                  <a:lnTo>
                    <a:pt x="2436010" y="0"/>
                  </a:lnTo>
                  <a:lnTo>
                    <a:pt x="2436010" y="1943415"/>
                  </a:lnTo>
                  <a:lnTo>
                    <a:pt x="0" y="1943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6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8" name="Google Shape;358;p28"/>
          <p:cNvSpPr txBox="1"/>
          <p:nvPr/>
        </p:nvSpPr>
        <p:spPr>
          <a:xfrm>
            <a:off x="11877421" y="3040135"/>
            <a:ext cx="43176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0" lvl="0" marL="2663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Misto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661297" rtl="0" algn="l">
              <a:lnSpc>
                <a:spcPct val="1172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de venda envolve de parte do processo presencial e parte do processo interno.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91"/>
              </a:spcBef>
              <a:spcAft>
                <a:spcPts val="0"/>
              </a:spcAft>
              <a:buNone/>
            </a:pPr>
            <a:r>
              <a:t/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66309" marR="1146919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 de aquisição médio e média produtividade por vendedor.</a:t>
            </a:r>
            <a:endParaRPr sz="193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13648876" y="6244661"/>
            <a:ext cx="603772" cy="536089"/>
          </a:xfrm>
          <a:custGeom>
            <a:rect b="b" l="l" r="r" t="t"/>
            <a:pathLst>
              <a:path extrusionOk="0" h="304164" w="330834">
                <a:moveTo>
                  <a:pt x="165386" y="303614"/>
                </a:moveTo>
                <a:lnTo>
                  <a:pt x="0" y="130448"/>
                </a:lnTo>
                <a:lnTo>
                  <a:pt x="108759" y="130448"/>
                </a:lnTo>
                <a:lnTo>
                  <a:pt x="108759" y="0"/>
                </a:lnTo>
                <a:lnTo>
                  <a:pt x="222012" y="0"/>
                </a:lnTo>
                <a:lnTo>
                  <a:pt x="222012" y="130448"/>
                </a:lnTo>
                <a:lnTo>
                  <a:pt x="330772" y="130448"/>
                </a:lnTo>
                <a:lnTo>
                  <a:pt x="165386" y="3036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11877421" y="6835428"/>
            <a:ext cx="4410300" cy="1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-522548" lvl="0" marL="829137" marR="339040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Recomendado para venda de soluções mais complexas, em que o cliente é adepto também ao online.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  <a:p>
            <a:pPr indent="-522548" lvl="0" marL="829137" marR="287569" rtl="0" algn="l">
              <a:lnSpc>
                <a:spcPct val="117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6"/>
              <a:buFont typeface="Roboto"/>
              <a:buChar char="●"/>
            </a:pPr>
            <a:r>
              <a:rPr lang="en-US" sz="15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Venda é focada na elevada conversão de negócios, mas equilibra-se o volume e conversão.</a:t>
            </a:r>
            <a:endParaRPr sz="158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835153" y="660050"/>
            <a:ext cx="1643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8"/>
              <a:buFont typeface="Arial"/>
              <a:buNone/>
            </a:pPr>
            <a:r>
              <a:rPr b="1" lang="en-US" sz="6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Modelo comercial</a:t>
            </a:r>
            <a:endParaRPr b="1" sz="6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2" name="Google Shape;362;p28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414da4462_0_297"/>
          <p:cNvSpPr/>
          <p:nvPr/>
        </p:nvSpPr>
        <p:spPr>
          <a:xfrm>
            <a:off x="-6398175" y="-1047750"/>
            <a:ext cx="12382500" cy="12382500"/>
          </a:xfrm>
          <a:prstGeom prst="ellipse">
            <a:avLst/>
          </a:prstGeom>
          <a:solidFill>
            <a:srgbClr val="848FEC">
              <a:alpha val="33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414da4462_0_297"/>
          <p:cNvSpPr txBox="1"/>
          <p:nvPr/>
        </p:nvSpPr>
        <p:spPr>
          <a:xfrm>
            <a:off x="1409350" y="4219950"/>
            <a:ext cx="571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Próximos Passos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g3d414da4462_0_297"/>
          <p:cNvSpPr/>
          <p:nvPr/>
        </p:nvSpPr>
        <p:spPr>
          <a:xfrm>
            <a:off x="9440663" y="2830508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3d414da4462_0_297"/>
          <p:cNvSpPr/>
          <p:nvPr/>
        </p:nvSpPr>
        <p:spPr>
          <a:xfrm>
            <a:off x="9440663" y="5024753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d414da4462_0_297"/>
          <p:cNvSpPr/>
          <p:nvPr/>
        </p:nvSpPr>
        <p:spPr>
          <a:xfrm>
            <a:off x="9440663" y="6727210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2" name="Google Shape;372;g3d414da4462_0_29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d414da4462_0_297"/>
          <p:cNvSpPr txBox="1"/>
          <p:nvPr/>
        </p:nvSpPr>
        <p:spPr>
          <a:xfrm>
            <a:off x="10662249" y="2830500"/>
            <a:ext cx="5438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1270" lvl="0" marL="25400" marR="1016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Aplicar as ferramentas e os frameworks apresentados para definir em sua startup: Processo comercial, modelo comercial, régua de consultividade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d414da4462_0_297"/>
          <p:cNvSpPr txBox="1"/>
          <p:nvPr/>
        </p:nvSpPr>
        <p:spPr>
          <a:xfrm>
            <a:off x="10662251" y="5024750"/>
            <a:ext cx="54384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50">
            <a:spAutoFit/>
          </a:bodyPr>
          <a:lstStyle/>
          <a:p>
            <a:pPr indent="0" lvl="0" marL="25400" marR="10160" rtl="0" algn="l">
              <a:lnSpc>
                <a:spcPct val="11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Tema do próximo encontro: Como contratar profissionais?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3d414da4462_0_297"/>
          <p:cNvSpPr txBox="1"/>
          <p:nvPr/>
        </p:nvSpPr>
        <p:spPr>
          <a:xfrm>
            <a:off x="10662251" y="6727200"/>
            <a:ext cx="5438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Materiais inseridos na planilha central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414da4462_0_309">
            <a:hlinkClick r:id="rId4"/>
          </p:cNvPr>
          <p:cNvSpPr/>
          <p:nvPr/>
        </p:nvSpPr>
        <p:spPr>
          <a:xfrm>
            <a:off x="1749953" y="4236886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732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414da4462_0_309">
            <a:hlinkClick r:id="rId5"/>
          </p:cNvPr>
          <p:cNvSpPr/>
          <p:nvPr/>
        </p:nvSpPr>
        <p:spPr>
          <a:xfrm>
            <a:off x="1749951" y="5045112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d414da4462_0_309"/>
          <p:cNvSpPr txBox="1"/>
          <p:nvPr/>
        </p:nvSpPr>
        <p:spPr>
          <a:xfrm>
            <a:off x="2470675" y="5130950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dealwise.com.br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3d414da4462_0_309"/>
          <p:cNvSpPr txBox="1"/>
          <p:nvPr/>
        </p:nvSpPr>
        <p:spPr>
          <a:xfrm>
            <a:off x="2470675" y="4305425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(11) 9 7837-0950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3d414da4462_0_309"/>
          <p:cNvSpPr txBox="1"/>
          <p:nvPr/>
        </p:nvSpPr>
        <p:spPr>
          <a:xfrm>
            <a:off x="1749950" y="3057238"/>
            <a:ext cx="56184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NOSSOS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CONTATOS</a:t>
            </a:r>
            <a:endParaRPr b="0" i="0" sz="46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6" name="Google Shape;386;g3d414da4462_0_309">
            <a:hlinkClick r:id="rId6"/>
          </p:cNvPr>
          <p:cNvSpPr/>
          <p:nvPr/>
        </p:nvSpPr>
        <p:spPr>
          <a:xfrm>
            <a:off x="1749940" y="5853336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732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d414da4462_0_30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0812" y="5174986"/>
            <a:ext cx="308425" cy="3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d414da4462_0_309">
            <a:hlinkClick r:id="rId8"/>
          </p:cNvPr>
          <p:cNvSpPr/>
          <p:nvPr/>
        </p:nvSpPr>
        <p:spPr>
          <a:xfrm>
            <a:off x="1749938" y="6661562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d414da4462_0_309"/>
          <p:cNvSpPr txBox="1"/>
          <p:nvPr/>
        </p:nvSpPr>
        <p:spPr>
          <a:xfrm>
            <a:off x="2470676" y="6730100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@dealwise.aceleradora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3d414da4462_0_309"/>
          <p:cNvSpPr txBox="1"/>
          <p:nvPr/>
        </p:nvSpPr>
        <p:spPr>
          <a:xfrm>
            <a:off x="2470679" y="5956463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linkedin.com/company/deal-wise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1" name="Google Shape;391;g3d414da4462_0_309" title="whatsapp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1125" y="4390072"/>
            <a:ext cx="267802" cy="26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d414da4462_0_309" title="linkedin.png"/>
          <p:cNvPicPr preferRelativeResize="0"/>
          <p:nvPr/>
        </p:nvPicPr>
        <p:blipFill rotWithShape="1">
          <a:blip r:embed="rId10">
            <a:alphaModFix/>
          </a:blip>
          <a:srcRect b="10209" l="0" r="5829" t="0"/>
          <a:stretch/>
        </p:blipFill>
        <p:spPr>
          <a:xfrm>
            <a:off x="1918925" y="6017200"/>
            <a:ext cx="252201" cy="2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d414da4462_0_309" title="instagr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03325" y="6811750"/>
            <a:ext cx="267802" cy="26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2026-04-02T04:36:41Z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2026-04-02T00:00:00Z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2026-04-02T00:00:00Z</vt:filetime>
  </property>
</Properties>
</file>