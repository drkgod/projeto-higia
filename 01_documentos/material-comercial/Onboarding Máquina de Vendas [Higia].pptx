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ExtraLight"/>
      <p:regular r:id="rId19"/>
      <p:bold r:id="rId20"/>
      <p:italic r:id="rId21"/>
      <p:boldItalic r:id="rId22"/>
    </p:embeddedFont>
    <p:embeddedFont>
      <p:font typeface="Roboto Black"/>
      <p:bold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DM Sans Light"/>
      <p:regular r:id="rId29"/>
      <p:bold r:id="rId30"/>
      <p:italic r:id="rId31"/>
      <p:boldItalic r:id="rId32"/>
    </p:embeddedFont>
    <p:embeddedFont>
      <p:font typeface="Roboto SemiBold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623">
          <p15:clr>
            <a:srgbClr val="747775"/>
          </p15:clr>
        </p15:guide>
        <p15:guide id="2" pos="4706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givRFY9Ldak95TLTQTjPZNOZoZ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23" orient="horz"/>
        <p:guide pos="470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font" Target="fonts/RobotoExtraLight-bold.fntdata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22" Type="http://schemas.openxmlformats.org/officeDocument/2006/relationships/font" Target="fonts/RobotoExtraLight-boldItalic.fntdata"/><Relationship Id="rId44" Type="http://schemas.openxmlformats.org/officeDocument/2006/relationships/font" Target="fonts/DMSans-boldItalic.fntdata"/><Relationship Id="rId21" Type="http://schemas.openxmlformats.org/officeDocument/2006/relationships/font" Target="fonts/RobotoExtraLight-italic.fntdata"/><Relationship Id="rId43" Type="http://schemas.openxmlformats.org/officeDocument/2006/relationships/font" Target="fonts/DMSans-italic.fntdata"/><Relationship Id="rId24" Type="http://schemas.openxmlformats.org/officeDocument/2006/relationships/font" Target="fonts/RobotoBlack-boldItalic.fntdata"/><Relationship Id="rId23" Type="http://schemas.openxmlformats.org/officeDocument/2006/relationships/font" Target="fonts/RobotoBlack-bold.fntdata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Light-italic.fntdata"/><Relationship Id="rId30" Type="http://schemas.openxmlformats.org/officeDocument/2006/relationships/font" Target="fonts/DMSansLight-bold.fntdata"/><Relationship Id="rId11" Type="http://schemas.openxmlformats.org/officeDocument/2006/relationships/slide" Target="slides/slide6.xml"/><Relationship Id="rId33" Type="http://schemas.openxmlformats.org/officeDocument/2006/relationships/font" Target="fonts/Roboto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DMSans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SemiBold-italic.fntdata"/><Relationship Id="rId12" Type="http://schemas.openxmlformats.org/officeDocument/2006/relationships/slide" Target="slides/slide7.xml"/><Relationship Id="rId34" Type="http://schemas.openxmlformats.org/officeDocument/2006/relationships/font" Target="fonts/RobotoSemiBold-bold.fntdata"/><Relationship Id="rId15" Type="http://schemas.openxmlformats.org/officeDocument/2006/relationships/slide" Target="slides/slide10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9.xml"/><Relationship Id="rId36" Type="http://schemas.openxmlformats.org/officeDocument/2006/relationships/font" Target="fonts/Roboto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1.xml"/><Relationship Id="rId38" Type="http://schemas.openxmlformats.org/officeDocument/2006/relationships/font" Target="fonts/RobotoLight-bold.fntdata"/><Relationship Id="rId19" Type="http://schemas.openxmlformats.org/officeDocument/2006/relationships/font" Target="fonts/RobotoExtraLigh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81bbc255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381bbc255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81bbc25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381bbc25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a65ed43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95a65ed43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81bbc255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381bbc255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6b5929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9a6b5929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367e5a57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8367e5a57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07ad13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9607ad13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668d884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83668d884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5a65ed43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95a65ed43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5a65ed43b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5a65ed43b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95a65ed43b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5a65ed43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95a65ed43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81bbc2551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381bbc2551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5a65ed43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5a65ed43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23cda099ea_0_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23cda099ea_0_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23cda099ea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5a65ed43b_0_20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9" name="Google Shape;19;g395a65ed43b_0_204"/>
          <p:cNvSpPr txBox="1"/>
          <p:nvPr>
            <p:ph idx="1" type="body"/>
          </p:nvPr>
        </p:nvSpPr>
        <p:spPr>
          <a:xfrm>
            <a:off x="628650" y="1369219"/>
            <a:ext cx="7886700" cy="3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0" name="Google Shape;20;g395a65ed43b_0_20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95a65ed43b_0_20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395a65ed43b_0_20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" name="Google Shape;25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3381bbc2551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200" y="3544027"/>
            <a:ext cx="1975276" cy="3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381bbc2551_0_74"/>
          <p:cNvSpPr/>
          <p:nvPr/>
        </p:nvSpPr>
        <p:spPr>
          <a:xfrm>
            <a:off x="955600" y="922375"/>
            <a:ext cx="1529460" cy="339814"/>
          </a:xfrm>
          <a:custGeom>
            <a:rect b="b" l="l" r="r" t="t"/>
            <a:pathLst>
              <a:path extrusionOk="0" h="92278" w="464176">
                <a:moveTo>
                  <a:pt x="46139" y="0"/>
                </a:moveTo>
                <a:lnTo>
                  <a:pt x="418037" y="0"/>
                </a:lnTo>
                <a:cubicBezTo>
                  <a:pt x="430274" y="0"/>
                  <a:pt x="442009" y="4861"/>
                  <a:pt x="450662" y="13514"/>
                </a:cubicBezTo>
                <a:cubicBezTo>
                  <a:pt x="459315" y="22167"/>
                  <a:pt x="464176" y="33902"/>
                  <a:pt x="464176" y="46139"/>
                </a:cubicBezTo>
                <a:lnTo>
                  <a:pt x="464176" y="46139"/>
                </a:lnTo>
                <a:cubicBezTo>
                  <a:pt x="464176" y="71621"/>
                  <a:pt x="443519" y="92278"/>
                  <a:pt x="418037" y="92278"/>
                </a:cubicBezTo>
                <a:lnTo>
                  <a:pt x="46139" y="92278"/>
                </a:lnTo>
                <a:cubicBezTo>
                  <a:pt x="20657" y="92278"/>
                  <a:pt x="0" y="71621"/>
                  <a:pt x="0" y="46139"/>
                </a:cubicBezTo>
                <a:lnTo>
                  <a:pt x="0" y="46139"/>
                </a:lnTo>
                <a:cubicBezTo>
                  <a:pt x="0" y="20657"/>
                  <a:pt x="20657" y="0"/>
                  <a:pt x="4613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848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5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pt-BR" sz="12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ONBOARDING</a:t>
            </a:r>
            <a:endParaRPr b="1" i="0" sz="1200" u="none" cap="none" strike="noStrike">
              <a:solidFill>
                <a:srgbClr val="0A0A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" name="Google Shape;62;g3381bbc2551_0_74"/>
          <p:cNvSpPr txBox="1"/>
          <p:nvPr/>
        </p:nvSpPr>
        <p:spPr>
          <a:xfrm>
            <a:off x="693825" y="1569625"/>
            <a:ext cx="6396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0" lang="pt-BR" sz="4500" u="none" cap="none" strike="noStrike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Máquina de Vendas -</a:t>
            </a:r>
            <a:r>
              <a:rPr lang="pt-BR" sz="4500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 Higia</a:t>
            </a:r>
            <a:r>
              <a:rPr b="0" i="0" lang="pt-BR" sz="4500" u="none" cap="none" strike="noStrike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500" u="none" cap="none" strike="noStrike">
              <a:solidFill>
                <a:srgbClr val="14185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g3381bbc2551_0_74"/>
          <p:cNvSpPr txBox="1"/>
          <p:nvPr/>
        </p:nvSpPr>
        <p:spPr>
          <a:xfrm>
            <a:off x="744100" y="2860725"/>
            <a:ext cx="3232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b="1" lang="pt-BR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Marcus Bernardes</a:t>
            </a:r>
            <a:endParaRPr b="1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b="0" i="0" lang="pt-BR" sz="1050" u="none" cap="none" strike="noStrike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Consultor de Projetos</a:t>
            </a:r>
            <a:endParaRPr b="0" i="1" sz="105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t/>
            </a:r>
            <a:endParaRPr b="0" i="1" sz="1350" u="none" cap="none" strike="noStrike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3381bbc255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00" y="45330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381bbc2551_0_0"/>
          <p:cNvSpPr txBox="1"/>
          <p:nvPr/>
        </p:nvSpPr>
        <p:spPr>
          <a:xfrm>
            <a:off x="627500" y="388738"/>
            <a:ext cx="6489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TIME DO PROJETO</a:t>
            </a:r>
            <a:endParaRPr b="1" i="0" sz="2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g3381bbc2551_0_0"/>
          <p:cNvSpPr/>
          <p:nvPr/>
        </p:nvSpPr>
        <p:spPr>
          <a:xfrm>
            <a:off x="1127400" y="2226910"/>
            <a:ext cx="4992300" cy="632400"/>
          </a:xfrm>
          <a:prstGeom prst="roundRect">
            <a:avLst>
              <a:gd fmla="val 3728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highlight>
                  <a:srgbClr val="1D3E6F"/>
                </a:highlight>
                <a:latin typeface="DM Sans"/>
                <a:ea typeface="DM Sans"/>
                <a:cs typeface="DM Sans"/>
                <a:sym typeface="DM Sans"/>
              </a:rPr>
              <a:t>Gerente do Projeto</a:t>
            </a:r>
            <a:endParaRPr b="1" i="0" sz="12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2837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pt-BR" sz="900" u="none" cap="none" strike="noStrike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b="0" i="0" lang="pt-BR" sz="900" u="none" cap="none" strike="noStrike">
                <a:solidFill>
                  <a:srgbClr val="0D0D0D"/>
                </a:solidFill>
                <a:latin typeface="DM Sans Light"/>
                <a:ea typeface="DM Sans Light"/>
                <a:cs typeface="DM Sans Light"/>
                <a:sym typeface="DM Sans Light"/>
              </a:rPr>
              <a:t>Supervisiona a qualidade da execução, assegura alinhamento metodológico e atua como suporte estratégico interno para manter o padrão de implantação.</a:t>
            </a:r>
            <a:endParaRPr b="1" i="0" sz="12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" name="Google Shape;71;g3381bbc2551_0_0"/>
          <p:cNvSpPr/>
          <p:nvPr/>
        </p:nvSpPr>
        <p:spPr>
          <a:xfrm>
            <a:off x="1155550" y="2859296"/>
            <a:ext cx="4992300" cy="632400"/>
          </a:xfrm>
          <a:prstGeom prst="roundRect">
            <a:avLst>
              <a:gd fmla="val 3728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23377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highlight>
                  <a:srgbClr val="1D3E6F"/>
                </a:highlight>
                <a:latin typeface="DM Sans"/>
                <a:ea typeface="DM Sans"/>
                <a:cs typeface="DM Sans"/>
                <a:sym typeface="DM Sans"/>
              </a:rPr>
              <a:t>Analista de CS</a:t>
            </a:r>
            <a:endParaRPr b="1" i="0" sz="12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523377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900" u="none" cap="none" strike="noStrike">
                <a:solidFill>
                  <a:srgbClr val="0D0D0D"/>
                </a:solidFill>
                <a:latin typeface="DM Sans Light"/>
                <a:ea typeface="DM Sans Light"/>
                <a:cs typeface="DM Sans Light"/>
                <a:sym typeface="DM Sans Light"/>
              </a:rPr>
              <a:t>- Acompanha a evolução do cliente ao longo do projeto, monitora indicadores de sucesso e garante que as entregas estejam alinhadas à expectativa acordada.</a:t>
            </a:r>
            <a:endParaRPr b="0" i="0" sz="900" u="none" cap="none" strike="noStrike">
              <a:solidFill>
                <a:srgbClr val="0D0D0D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72" name="Google Shape;72;g3381bbc2551_0_0"/>
          <p:cNvSpPr/>
          <p:nvPr/>
        </p:nvSpPr>
        <p:spPr>
          <a:xfrm>
            <a:off x="1155550" y="1374225"/>
            <a:ext cx="5409900" cy="632400"/>
          </a:xfrm>
          <a:prstGeom prst="roundRect">
            <a:avLst>
              <a:gd fmla="val 3728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highlight>
                  <a:srgbClr val="1D3E6F"/>
                </a:highlight>
                <a:latin typeface="DM Sans"/>
                <a:ea typeface="DM Sans"/>
                <a:cs typeface="DM Sans"/>
                <a:sym typeface="DM Sans"/>
              </a:rPr>
              <a:t>Consultor do Projeto</a:t>
            </a:r>
            <a:endParaRPr b="1" i="0" sz="12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523377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900" u="none" cap="none" strike="noStrike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b="0" i="0" lang="pt-BR" sz="900" u="none" cap="none" strike="noStrike">
                <a:solidFill>
                  <a:srgbClr val="0D0D0D"/>
                </a:solidFill>
                <a:latin typeface="DM Sans Light"/>
                <a:ea typeface="DM Sans Light"/>
                <a:cs typeface="DM Sans Light"/>
                <a:sym typeface="DM Sans Light"/>
              </a:rPr>
              <a:t>Responsável pela condução estratégica e operacional do projeto. Implementa o plano de ataque, estrutura processos, orienta a equipe comercial e garante a evolução da operação ao longo das etapas.</a:t>
            </a:r>
            <a:endParaRPr b="0" i="0" sz="900" u="none" cap="none" strike="noStrike">
              <a:solidFill>
                <a:srgbClr val="0D0D0D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95a65ed43b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000" y="45330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95a65ed43b_0_8"/>
          <p:cNvSpPr txBox="1"/>
          <p:nvPr/>
        </p:nvSpPr>
        <p:spPr>
          <a:xfrm>
            <a:off x="627500" y="388738"/>
            <a:ext cx="6489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2500" u="none" cap="none" strike="noStrike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CONSULTOR DO PROJETO</a:t>
            </a:r>
            <a:endParaRPr b="1" i="0" sz="2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g395a65ed43b_0_8"/>
          <p:cNvSpPr/>
          <p:nvPr/>
        </p:nvSpPr>
        <p:spPr>
          <a:xfrm>
            <a:off x="1155550" y="1374215"/>
            <a:ext cx="4992300" cy="632400"/>
          </a:xfrm>
          <a:prstGeom prst="roundRect">
            <a:avLst>
              <a:gd fmla="val 3728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pt-BR" sz="1200" u="none" cap="none" strike="noStrike">
                <a:solidFill>
                  <a:schemeClr val="lt1"/>
                </a:solidFill>
                <a:highlight>
                  <a:srgbClr val="1D3E6F"/>
                </a:highlight>
                <a:latin typeface="DM Sans"/>
                <a:ea typeface="DM Sans"/>
                <a:cs typeface="DM Sans"/>
                <a:sym typeface="DM Sans"/>
              </a:rPr>
              <a:t>Consultor do Projeto</a:t>
            </a:r>
            <a:endParaRPr b="1" i="0" sz="12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523377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D0D0D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id="80" name="Google Shape;80;g395a65ed43b_0_8" title="dghfg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4118" y="1862350"/>
            <a:ext cx="2974382" cy="213577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95a65ed43b_0_8"/>
          <p:cNvSpPr txBox="1"/>
          <p:nvPr/>
        </p:nvSpPr>
        <p:spPr>
          <a:xfrm>
            <a:off x="3727319" y="1864121"/>
            <a:ext cx="26763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6075" lIns="66075" spcFirstLastPara="1" rIns="66075" wrap="square" tIns="660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7"/>
              <a:buFont typeface="Arial"/>
              <a:buNone/>
            </a:pPr>
            <a:r>
              <a:rPr lang="pt-BR" sz="8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 apaixonado por vendas e desenvolvimento de estratégias de novos negócios, com mais de 10 anos de </a:t>
            </a:r>
            <a:r>
              <a:rPr lang="pt-BR" sz="8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experiência</a:t>
            </a:r>
            <a:r>
              <a:rPr lang="pt-BR" sz="8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em diferentes campos estratégicos dentro do ambiente comercial, já tendo atuado como Inside Sales, vendedor e hoje como consultor comercial.</a:t>
            </a:r>
            <a:endParaRPr sz="867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7"/>
              <a:buFont typeface="Arial"/>
              <a:buNone/>
            </a:pPr>
            <a:r>
              <a:t/>
            </a:r>
            <a:endParaRPr sz="867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7"/>
              <a:buFont typeface="Arial"/>
              <a:buNone/>
            </a:pPr>
            <a:r>
              <a:rPr lang="pt-BR" sz="8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Formado em administração pela Universidade Federal de Minas Gerais, fortaleci minha visão estratégica sobre </a:t>
            </a:r>
            <a:r>
              <a:rPr lang="pt-BR" sz="8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negócios</a:t>
            </a:r>
            <a:r>
              <a:rPr lang="pt-BR" sz="8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867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" name="Google Shape;82;g395a65ed43b_0_8"/>
          <p:cNvCxnSpPr/>
          <p:nvPr/>
        </p:nvCxnSpPr>
        <p:spPr>
          <a:xfrm>
            <a:off x="2950588" y="2908288"/>
            <a:ext cx="714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g395a65ed43b_0_8" title="WhatsApp Image 2026-05-06 at 14.09.25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848" y="1862350"/>
            <a:ext cx="2206578" cy="22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381bbc2551_0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00" y="43806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381bbc2551_0_132"/>
          <p:cNvSpPr txBox="1"/>
          <p:nvPr/>
        </p:nvSpPr>
        <p:spPr>
          <a:xfrm>
            <a:off x="794100" y="2053500"/>
            <a:ext cx="4745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chemeClr val="lt1"/>
                </a:solidFill>
                <a:highlight>
                  <a:srgbClr val="1D3E6F"/>
                </a:highlight>
                <a:latin typeface="DM Sans"/>
                <a:ea typeface="DM Sans"/>
                <a:cs typeface="DM Sans"/>
                <a:sym typeface="DM Sans"/>
              </a:rPr>
              <a:t>Nossos Alinhamentos</a:t>
            </a:r>
            <a:endParaRPr b="1" i="0" sz="27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lt1"/>
              </a:solidFill>
              <a:highlight>
                <a:srgbClr val="1D3E6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6b59292c_0_0"/>
          <p:cNvSpPr/>
          <p:nvPr/>
        </p:nvSpPr>
        <p:spPr>
          <a:xfrm>
            <a:off x="712615" y="1876683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9a6b59292c_0_0"/>
          <p:cNvSpPr/>
          <p:nvPr/>
        </p:nvSpPr>
        <p:spPr>
          <a:xfrm>
            <a:off x="1830950" y="1876683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9a6b59292c_0_0"/>
          <p:cNvSpPr/>
          <p:nvPr/>
        </p:nvSpPr>
        <p:spPr>
          <a:xfrm>
            <a:off x="2881511" y="1876683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9a6b59292c_0_0"/>
          <p:cNvSpPr/>
          <p:nvPr/>
        </p:nvSpPr>
        <p:spPr>
          <a:xfrm>
            <a:off x="3932072" y="1864121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9a6b59292c_0_0"/>
          <p:cNvSpPr/>
          <p:nvPr/>
        </p:nvSpPr>
        <p:spPr>
          <a:xfrm>
            <a:off x="5118182" y="1876683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9a6b59292c_0_0"/>
          <p:cNvSpPr/>
          <p:nvPr/>
        </p:nvSpPr>
        <p:spPr>
          <a:xfrm>
            <a:off x="6287322" y="1876683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9a6b59292c_0_0"/>
          <p:cNvSpPr/>
          <p:nvPr/>
        </p:nvSpPr>
        <p:spPr>
          <a:xfrm>
            <a:off x="7422588" y="1876683"/>
            <a:ext cx="832200" cy="963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848FEC"/>
              </a:gs>
              <a:gs pos="32000">
                <a:srgbClr val="848FEC">
                  <a:alpha val="0"/>
                </a:srgbClr>
              </a:gs>
              <a:gs pos="100000">
                <a:srgbClr val="1B1B1B">
                  <a:alpha val="0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9a6b59292c_0_0" title="dealwise icone 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0875" y="4689400"/>
            <a:ext cx="202587" cy="20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9a6b59292c_0_0"/>
          <p:cNvSpPr/>
          <p:nvPr/>
        </p:nvSpPr>
        <p:spPr>
          <a:xfrm>
            <a:off x="673288" y="408517"/>
            <a:ext cx="7465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 7 passos para controlar sua operação de receita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39a6b59292c_0_0"/>
          <p:cNvSpPr txBox="1"/>
          <p:nvPr/>
        </p:nvSpPr>
        <p:spPr>
          <a:xfrm>
            <a:off x="746499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4" name="Google Shape;104;g39a6b59292c_0_0"/>
          <p:cNvSpPr txBox="1"/>
          <p:nvPr/>
        </p:nvSpPr>
        <p:spPr>
          <a:xfrm>
            <a:off x="1814004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5" name="Google Shape;105;g39a6b59292c_0_0"/>
          <p:cNvSpPr txBox="1"/>
          <p:nvPr/>
        </p:nvSpPr>
        <p:spPr>
          <a:xfrm>
            <a:off x="2915402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V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6" name="Google Shape;106;g39a6b59292c_0_0"/>
          <p:cNvSpPr txBox="1"/>
          <p:nvPr/>
        </p:nvSpPr>
        <p:spPr>
          <a:xfrm>
            <a:off x="3932066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7" name="Google Shape;107;g39a6b59292c_0_0"/>
          <p:cNvSpPr txBox="1"/>
          <p:nvPr/>
        </p:nvSpPr>
        <p:spPr>
          <a:xfrm>
            <a:off x="5109694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N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8" name="Google Shape;108;g39a6b59292c_0_0"/>
          <p:cNvSpPr txBox="1"/>
          <p:nvPr/>
        </p:nvSpPr>
        <p:spPr>
          <a:xfrm>
            <a:off x="6321465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U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9" name="Google Shape;109;g39a6b59292c_0_0"/>
          <p:cNvSpPr txBox="1"/>
          <p:nvPr/>
        </p:nvSpPr>
        <p:spPr>
          <a:xfrm>
            <a:off x="7456459" y="2022296"/>
            <a:ext cx="83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pt-BR" sz="4000" u="none" cap="none" strike="noStrike">
                <a:solidFill>
                  <a:srgbClr val="848FEC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E</a:t>
            </a:r>
            <a:endParaRPr b="0" i="0" sz="4000" u="none" cap="none" strike="noStrike">
              <a:solidFill>
                <a:srgbClr val="848FEC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10" name="Google Shape;110;g39a6b59292c_0_0"/>
          <p:cNvSpPr/>
          <p:nvPr/>
        </p:nvSpPr>
        <p:spPr>
          <a:xfrm>
            <a:off x="620375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39a6b59292c_0_0"/>
          <p:cNvSpPr/>
          <p:nvPr/>
        </p:nvSpPr>
        <p:spPr>
          <a:xfrm>
            <a:off x="1689590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Estratégia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9a6b59292c_0_0"/>
          <p:cNvSpPr/>
          <p:nvPr/>
        </p:nvSpPr>
        <p:spPr>
          <a:xfrm>
            <a:off x="2799470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Velocidade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g39a6b59292c_0_0"/>
          <p:cNvSpPr/>
          <p:nvPr/>
        </p:nvSpPr>
        <p:spPr>
          <a:xfrm>
            <a:off x="3840925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Execução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g39a6b59292c_0_0"/>
          <p:cNvSpPr/>
          <p:nvPr/>
        </p:nvSpPr>
        <p:spPr>
          <a:xfrm>
            <a:off x="5005018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g39a6b59292c_0_0"/>
          <p:cNvSpPr/>
          <p:nvPr/>
        </p:nvSpPr>
        <p:spPr>
          <a:xfrm>
            <a:off x="6183314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Usuário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g39a6b59292c_0_0"/>
          <p:cNvSpPr/>
          <p:nvPr/>
        </p:nvSpPr>
        <p:spPr>
          <a:xfrm>
            <a:off x="7372891" y="2950146"/>
            <a:ext cx="104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pt-B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Engenharia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g39a6b59292c_0_0"/>
          <p:cNvSpPr/>
          <p:nvPr/>
        </p:nvSpPr>
        <p:spPr>
          <a:xfrm>
            <a:off x="567454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Onde quer chegar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18" name="Google Shape;118;g39a6b59292c_0_0"/>
          <p:cNvSpPr/>
          <p:nvPr/>
        </p:nvSpPr>
        <p:spPr>
          <a:xfrm>
            <a:off x="1688633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Como vai chegar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19" name="Google Shape;119;g39a6b59292c_0_0"/>
          <p:cNvSpPr/>
          <p:nvPr/>
        </p:nvSpPr>
        <p:spPr>
          <a:xfrm>
            <a:off x="2796582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 ritmo da operação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0" name="Google Shape;120;g39a6b59292c_0_0"/>
          <p:cNvSpPr/>
          <p:nvPr/>
        </p:nvSpPr>
        <p:spPr>
          <a:xfrm>
            <a:off x="3864844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 processo que sustenta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1" name="Google Shape;121;g39a6b59292c_0_0"/>
          <p:cNvSpPr/>
          <p:nvPr/>
        </p:nvSpPr>
        <p:spPr>
          <a:xfrm>
            <a:off x="5012481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Quem vai executar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2" name="Google Shape;122;g39a6b59292c_0_0"/>
          <p:cNvSpPr/>
          <p:nvPr/>
        </p:nvSpPr>
        <p:spPr>
          <a:xfrm>
            <a:off x="6213034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Como desenvolver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3" name="Google Shape;123;g39a6b59292c_0_0"/>
          <p:cNvSpPr/>
          <p:nvPr/>
        </p:nvSpPr>
        <p:spPr>
          <a:xfrm>
            <a:off x="7373900" y="3094575"/>
            <a:ext cx="10293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700"/>
              <a:buFont typeface="Calibri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O sistema que conecta</a:t>
            </a:r>
            <a:endParaRPr b="0" i="1" sz="8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4" name="Google Shape;124;g39a6b59292c_0_0"/>
          <p:cNvSpPr/>
          <p:nvPr/>
        </p:nvSpPr>
        <p:spPr>
          <a:xfrm>
            <a:off x="673275" y="3622500"/>
            <a:ext cx="2659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8FEC"/>
              </a:buClr>
              <a:buSzPts val="1000"/>
              <a:buFont typeface="Calibri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cronologia do REVENUE: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9a6b59292c_0_0"/>
          <p:cNvSpPr/>
          <p:nvPr/>
        </p:nvSpPr>
        <p:spPr>
          <a:xfrm>
            <a:off x="673275" y="3891425"/>
            <a:ext cx="773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8FEC"/>
              </a:buClr>
              <a:buSzPts val="900"/>
              <a:buFont typeface="Calibri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Defina onde quer chegar (R) → trace a estratégia (E) → defina o ritmo (V) → construa o processo (E) → atraia as pessoas (N) → desenvolva as pessoas (U) → coloque tudo em sistema (E)</a:t>
            </a:r>
            <a:endParaRPr b="0" i="0" sz="10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6" name="Google Shape;126;g39a6b59292c_0_0"/>
          <p:cNvSpPr/>
          <p:nvPr/>
        </p:nvSpPr>
        <p:spPr>
          <a:xfrm>
            <a:off x="673277" y="4210300"/>
            <a:ext cx="7601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5F0"/>
              </a:buClr>
              <a:buSzPts val="900"/>
              <a:buFont typeface="Calibri"/>
              <a:buNone/>
            </a:pPr>
            <a:r>
              <a:rPr b="0" i="0" lang="pt-BR" sz="1000" u="none" cap="none" strike="noStrike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Este é o método que aplicamos nos nossos clientes e que vivemos internamente na Dealwise. Somos o case do que pregamos.</a:t>
            </a:r>
            <a:endParaRPr b="0" i="0" sz="1000" u="none" cap="none" strike="noStrike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127" name="Google Shape;127;g39a6b59292c_0_0"/>
          <p:cNvSpPr/>
          <p:nvPr/>
        </p:nvSpPr>
        <p:spPr>
          <a:xfrm>
            <a:off x="673288" y="4558388"/>
            <a:ext cx="7730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1" lang="pt-BR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Dealwise duplicou a receita em 12 meses quando começou a aplicar o REVENUE em sua totalidade.</a:t>
            </a:r>
            <a:endParaRPr b="1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8367e5a57a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43806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8367e5a57a_0_85"/>
          <p:cNvSpPr/>
          <p:nvPr/>
        </p:nvSpPr>
        <p:spPr>
          <a:xfrm>
            <a:off x="589775" y="886300"/>
            <a:ext cx="7248600" cy="598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1) </a:t>
            </a:r>
            <a:r>
              <a:rPr b="1" i="0" lang="pt-BR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Ritmo e Prioridade: </a:t>
            </a:r>
            <a:r>
              <a:rPr b="0" i="0" lang="pt-BR" sz="11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A Máquina exige foco. Durante os próximos meses, priorizaremos decisões e execuções ligadas à implantação da operação comercial.</a:t>
            </a:r>
            <a:endParaRPr b="0" i="0" sz="1100" u="none" cap="none" strike="noStrike">
              <a:solidFill>
                <a:srgbClr val="0A0A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g38367e5a57a_0_85"/>
          <p:cNvSpPr/>
          <p:nvPr/>
        </p:nvSpPr>
        <p:spPr>
          <a:xfrm>
            <a:off x="636550" y="1561275"/>
            <a:ext cx="7201800" cy="598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2) </a:t>
            </a:r>
            <a:r>
              <a:rPr b="1" i="0" lang="pt-BR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Participação dos Decisores: </a:t>
            </a:r>
            <a:r>
              <a:rPr b="0" i="0" lang="pt-BR" sz="11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Nossas reuniões serão virtuais, pontuais e objetivas, garantindo flexibilidade e otimização do tempo para todos.</a:t>
            </a:r>
            <a:endParaRPr b="0" i="0" sz="1100" u="none" cap="none" strike="noStrike">
              <a:solidFill>
                <a:srgbClr val="0A0A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g38367e5a57a_0_85"/>
          <p:cNvSpPr/>
          <p:nvPr/>
        </p:nvSpPr>
        <p:spPr>
          <a:xfrm>
            <a:off x="589775" y="2236250"/>
            <a:ext cx="7201800" cy="598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3) </a:t>
            </a:r>
            <a:r>
              <a:rPr b="1" i="0" lang="pt-BR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Transparência de Dados: </a:t>
            </a:r>
            <a:r>
              <a:rPr b="0" i="0" lang="pt-BR" sz="11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Para implantar uma operação previsível, precisaremos de acesso real aos números, processos atuais e histórico da operação.</a:t>
            </a:r>
            <a:endParaRPr b="0" i="0" sz="1100" u="none" cap="none" strike="noStrike">
              <a:solidFill>
                <a:srgbClr val="0A0A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g38367e5a57a_0_85"/>
          <p:cNvSpPr/>
          <p:nvPr/>
        </p:nvSpPr>
        <p:spPr>
          <a:xfrm>
            <a:off x="589775" y="2911225"/>
            <a:ext cx="7201800" cy="598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4) </a:t>
            </a:r>
            <a:r>
              <a:rPr b="1" i="0" lang="pt-BR" sz="12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Execução Comprometida: </a:t>
            </a:r>
            <a:r>
              <a:rPr b="0" i="0" lang="pt-BR" sz="11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Parte do trabalho será feito pela Dealwise (DForY) e parte junto com o time (DWY). A evolução depende da execução disciplinada das ações definidas.</a:t>
            </a:r>
            <a:endParaRPr b="0" i="0" sz="1100" u="none" cap="none" strike="noStrike">
              <a:solidFill>
                <a:srgbClr val="0A0A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g38367e5a57a_0_85"/>
          <p:cNvSpPr/>
          <p:nvPr/>
        </p:nvSpPr>
        <p:spPr>
          <a:xfrm>
            <a:off x="589775" y="3586201"/>
            <a:ext cx="7201800" cy="598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5) Foco em Estrutura, não improviso</a:t>
            </a:r>
            <a:r>
              <a:rPr b="1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b="0" i="0" lang="pt-BR" sz="1100" u="none" cap="none" strike="noStrike">
                <a:solidFill>
                  <a:srgbClr val="0A0A0A"/>
                </a:solidFill>
                <a:latin typeface="DM Sans"/>
                <a:ea typeface="DM Sans"/>
                <a:cs typeface="DM Sans"/>
                <a:sym typeface="DM Sans"/>
              </a:rPr>
              <a:t>Nosso objetivo não é gerar esforço pontual, mas construir um sistema comercial sustentável e replicável.</a:t>
            </a:r>
            <a:endParaRPr b="0" i="0" sz="1100" u="none" cap="none" strike="noStrike">
              <a:solidFill>
                <a:srgbClr val="0A0A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07ad1381_0_0"/>
          <p:cNvSpPr/>
          <p:nvPr/>
        </p:nvSpPr>
        <p:spPr>
          <a:xfrm>
            <a:off x="2032563" y="1825350"/>
            <a:ext cx="1639800" cy="2555100"/>
          </a:xfrm>
          <a:prstGeom prst="roundRect">
            <a:avLst>
              <a:gd fmla="val 7332" name="adj"/>
            </a:avLst>
          </a:prstGeom>
          <a:solidFill>
            <a:srgbClr val="1A1A1A"/>
          </a:solidFill>
          <a:ln>
            <a:noFill/>
          </a:ln>
          <a:effectLst>
            <a:outerShdw blurRad="242888" rotWithShape="0" algn="bl" dir="2700000" dist="76200">
              <a:srgbClr val="000000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9607ad1381_0_0"/>
          <p:cNvSpPr/>
          <p:nvPr/>
        </p:nvSpPr>
        <p:spPr>
          <a:xfrm>
            <a:off x="313038" y="1825350"/>
            <a:ext cx="1639800" cy="2555100"/>
          </a:xfrm>
          <a:prstGeom prst="roundRect">
            <a:avLst>
              <a:gd fmla="val 7332" name="adj"/>
            </a:avLst>
          </a:prstGeom>
          <a:solidFill>
            <a:srgbClr val="1A1A1A"/>
          </a:solidFill>
          <a:ln>
            <a:noFill/>
          </a:ln>
          <a:effectLst>
            <a:outerShdw blurRad="242888" rotWithShape="0" algn="bl" dir="2700000" dist="76200">
              <a:srgbClr val="000000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9607ad1381_0_0"/>
          <p:cNvSpPr/>
          <p:nvPr/>
        </p:nvSpPr>
        <p:spPr>
          <a:xfrm>
            <a:off x="5471617" y="1825350"/>
            <a:ext cx="1639800" cy="2555100"/>
          </a:xfrm>
          <a:prstGeom prst="roundRect">
            <a:avLst>
              <a:gd fmla="val 7332" name="adj"/>
            </a:avLst>
          </a:prstGeom>
          <a:solidFill>
            <a:srgbClr val="1A1A1A"/>
          </a:solidFill>
          <a:ln>
            <a:noFill/>
          </a:ln>
          <a:effectLst>
            <a:outerShdw blurRad="242888" rotWithShape="0" algn="bl" dir="2700000" dist="76200">
              <a:srgbClr val="000000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9607ad1381_0_0"/>
          <p:cNvSpPr/>
          <p:nvPr/>
        </p:nvSpPr>
        <p:spPr>
          <a:xfrm>
            <a:off x="3752087" y="1825350"/>
            <a:ext cx="1639800" cy="2555100"/>
          </a:xfrm>
          <a:prstGeom prst="roundRect">
            <a:avLst>
              <a:gd fmla="val 7332" name="adj"/>
            </a:avLst>
          </a:prstGeom>
          <a:solidFill>
            <a:srgbClr val="1A1A1A"/>
          </a:solidFill>
          <a:ln>
            <a:noFill/>
          </a:ln>
          <a:effectLst>
            <a:outerShdw blurRad="242888" rotWithShape="0" algn="bl" dir="2700000" dist="76200">
              <a:srgbClr val="000000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9607ad1381_0_0"/>
          <p:cNvSpPr/>
          <p:nvPr/>
        </p:nvSpPr>
        <p:spPr>
          <a:xfrm>
            <a:off x="7191153" y="1825350"/>
            <a:ext cx="1639800" cy="2555100"/>
          </a:xfrm>
          <a:prstGeom prst="roundRect">
            <a:avLst>
              <a:gd fmla="val 7332" name="adj"/>
            </a:avLst>
          </a:prstGeom>
          <a:solidFill>
            <a:srgbClr val="1A1A1A"/>
          </a:solidFill>
          <a:ln>
            <a:noFill/>
          </a:ln>
          <a:effectLst>
            <a:outerShdw blurRad="242888" rotWithShape="0" algn="bl" dir="2700000" dist="76200">
              <a:srgbClr val="000000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9607ad1381_0_0"/>
          <p:cNvSpPr txBox="1"/>
          <p:nvPr/>
        </p:nvSpPr>
        <p:spPr>
          <a:xfrm>
            <a:off x="2098394" y="1898100"/>
            <a:ext cx="15000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1100" u="none" cap="none" strike="noStrike">
                <a:solidFill>
                  <a:srgbClr val="F5F5F5"/>
                </a:solidFill>
                <a:latin typeface="Roboto Black"/>
                <a:ea typeface="Roboto Black"/>
                <a:cs typeface="Roboto Black"/>
                <a:sym typeface="Roboto Black"/>
              </a:rPr>
              <a:t>2. Estratégia e Discovery</a:t>
            </a:r>
            <a:endParaRPr b="0" i="0" sz="800" u="none" cap="none" strike="noStrike">
              <a:solidFill>
                <a:srgbClr val="F5F5F5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8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Discovery: Entendimento profundo da operação da EMPRESA para alinhar ao Plano Comercial.</a:t>
            </a:r>
            <a:br>
              <a:rPr b="0" i="0" lang="pt-BR" sz="8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b="0" i="0" lang="pt-BR" sz="8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i="0" lang="pt-BR" sz="800" u="none" cap="none" strike="noStrike">
                <a:solidFill>
                  <a:srgbClr val="EEEEEE"/>
                </a:solidFill>
                <a:latin typeface="Roboto Light"/>
                <a:ea typeface="Roboto Light"/>
                <a:cs typeface="Roboto Light"/>
                <a:sym typeface="Roboto Light"/>
              </a:rPr>
              <a:t>Entregável: Relatório de Discovery</a:t>
            </a:r>
            <a:endParaRPr b="0" i="0" sz="800" u="none" cap="none" strike="noStrike">
              <a:solidFill>
                <a:srgbClr val="EEEEEE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Prazo: 01 Semana</a:t>
            </a:r>
            <a:endParaRPr b="0" i="0" sz="7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" name="Google Shape;148;g39607ad1381_0_0"/>
          <p:cNvSpPr txBox="1"/>
          <p:nvPr/>
        </p:nvSpPr>
        <p:spPr>
          <a:xfrm>
            <a:off x="3802488" y="1898100"/>
            <a:ext cx="15000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1100" u="none" cap="none" strike="noStrike">
                <a:solidFill>
                  <a:srgbClr val="F5F5F5"/>
                </a:solidFill>
                <a:latin typeface="Roboto Black"/>
                <a:ea typeface="Roboto Black"/>
                <a:cs typeface="Roboto Black"/>
                <a:sym typeface="Roboto Black"/>
              </a:rPr>
              <a:t>3. Arquitetura da Estratégia e Processos</a:t>
            </a:r>
            <a:endParaRPr b="0" i="0" sz="800" u="none" cap="none" strike="noStrike">
              <a:solidFill>
                <a:srgbClr val="F5F5F5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Desenhar a estratégia e campanhas para o cenário da EMPRESA e estruturar os processos, playbooks e rotinas de acompanhamento.</a:t>
            </a: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Entregáveis: Playbook + GTM</a:t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Prazo: 04 Semanas</a:t>
            </a:r>
            <a:endParaRPr b="0" i="0" sz="7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9" name="Google Shape;149;g39607ad1381_0_0"/>
          <p:cNvSpPr txBox="1"/>
          <p:nvPr/>
        </p:nvSpPr>
        <p:spPr>
          <a:xfrm>
            <a:off x="394313" y="1898100"/>
            <a:ext cx="15000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1100" u="none" cap="none" strike="noStrike">
                <a:solidFill>
                  <a:srgbClr val="F5F5F5"/>
                </a:solidFill>
                <a:latin typeface="Roboto Black"/>
                <a:ea typeface="Roboto Black"/>
                <a:cs typeface="Roboto Black"/>
                <a:sym typeface="Roboto Black"/>
              </a:rPr>
              <a:t>1. Onboarding</a:t>
            </a:r>
            <a:endParaRPr b="0" i="0" sz="800" u="none" cap="none" strike="noStrike">
              <a:solidFill>
                <a:srgbClr val="F5F5F5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Alinhamento de expectativas, objetivos, e cronograma do projeto.</a:t>
            </a: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Prazo: 01 semana</a:t>
            </a:r>
            <a:endParaRPr b="0" i="0" sz="7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0" name="Google Shape;150;g39607ad1381_0_0"/>
          <p:cNvSpPr txBox="1"/>
          <p:nvPr/>
        </p:nvSpPr>
        <p:spPr>
          <a:xfrm>
            <a:off x="5541519" y="1898100"/>
            <a:ext cx="15000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1100" u="none" cap="none" strike="noStrike">
                <a:solidFill>
                  <a:srgbClr val="F5F5F5"/>
                </a:solidFill>
                <a:latin typeface="Roboto Black"/>
                <a:ea typeface="Roboto Black"/>
                <a:cs typeface="Roboto Black"/>
                <a:sym typeface="Roboto Black"/>
              </a:rPr>
              <a:t>4. Implantação</a:t>
            </a:r>
            <a:endParaRPr b="0" i="0" sz="800" u="none" cap="none" strike="noStrike">
              <a:solidFill>
                <a:srgbClr val="F5F5F5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Implementação das campanhas estruturadas para que a equipe inicie a execução.</a:t>
            </a: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Entregáveis: 6h de treinamento (roleplay e outros), implantação do CRM (DW ou externo), implantação das rotinas de gestão (weekly, daily, etc) e Planilha de Indicadores e metas (de Equipe e Individuais).</a:t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Prazo: 09 semanas, sendo:</a:t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1 Mês &gt; 1 Semana de Revisão e Ajuste &gt; 1 Mês</a:t>
            </a:r>
            <a:endParaRPr b="0" i="0" sz="7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1" name="Google Shape;151;g39607ad1381_0_0"/>
          <p:cNvSpPr txBox="1"/>
          <p:nvPr/>
        </p:nvSpPr>
        <p:spPr>
          <a:xfrm>
            <a:off x="7261025" y="1898100"/>
            <a:ext cx="15399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1100" u="none" cap="none" strike="noStrike">
                <a:solidFill>
                  <a:srgbClr val="F5F5F5"/>
                </a:solidFill>
                <a:latin typeface="Roboto Black"/>
                <a:ea typeface="Roboto Black"/>
                <a:cs typeface="Roboto Black"/>
                <a:sym typeface="Roboto Black"/>
              </a:rPr>
              <a:t>5. Consolidação e Encerramento</a:t>
            </a:r>
            <a:endParaRPr b="0" i="0" sz="800" u="none" cap="none" strike="noStrike">
              <a:solidFill>
                <a:srgbClr val="F5F5F5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Apoio final, estabilização da máquina e entrega de relatório com ganhos, desafios e roadmap indicado para o futuro.</a:t>
            </a: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Entregável: Roadmap de Melhorias e Próximos Passos.</a:t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Roboto Light"/>
                <a:ea typeface="Roboto Light"/>
                <a:cs typeface="Roboto Light"/>
                <a:sym typeface="Roboto Light"/>
              </a:rPr>
              <a:t>Prazo: 01 semana.</a:t>
            </a:r>
            <a:endParaRPr b="0" i="0" sz="700" u="none" cap="none" strike="noStrike">
              <a:solidFill>
                <a:srgbClr val="F5F5F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2" name="Google Shape;152;g39607ad1381_0_0"/>
          <p:cNvSpPr txBox="1"/>
          <p:nvPr>
            <p:ph type="ctrTitle"/>
          </p:nvPr>
        </p:nvSpPr>
        <p:spPr>
          <a:xfrm>
            <a:off x="395475" y="502494"/>
            <a:ext cx="83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pt-BR" sz="2300">
                <a:solidFill>
                  <a:srgbClr val="EBEBEB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PROGRAMA </a:t>
            </a:r>
            <a:r>
              <a:rPr lang="pt-BR" sz="2300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MÁQUINA DE VENDAS</a:t>
            </a:r>
            <a:endParaRPr sz="2300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3" name="Google Shape;153;g39607ad1381_0_0"/>
          <p:cNvSpPr txBox="1"/>
          <p:nvPr>
            <p:ph idx="1" type="subTitle"/>
          </p:nvPr>
        </p:nvSpPr>
        <p:spPr>
          <a:xfrm>
            <a:off x="395400" y="980550"/>
            <a:ext cx="835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1600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VISÃO MACRO DAS ETAPAS</a:t>
            </a:r>
            <a:endParaRPr sz="1600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3668d8848_0_66"/>
          <p:cNvSpPr txBox="1"/>
          <p:nvPr/>
        </p:nvSpPr>
        <p:spPr>
          <a:xfrm>
            <a:off x="540000" y="540000"/>
            <a:ext cx="80640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Cronograma</a:t>
            </a:r>
            <a:endParaRPr b="1" i="0" sz="2800" u="none" cap="none" strike="noStrike">
              <a:solidFill>
                <a:srgbClr val="14185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9" name="Google Shape;159;g383668d8848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3950" y="43806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83668d8848_0_66"/>
          <p:cNvSpPr/>
          <p:nvPr/>
        </p:nvSpPr>
        <p:spPr>
          <a:xfrm>
            <a:off x="1302065" y="2049614"/>
            <a:ext cx="12723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83668d8848_0_66"/>
          <p:cNvSpPr/>
          <p:nvPr/>
        </p:nvSpPr>
        <p:spPr>
          <a:xfrm>
            <a:off x="1301200" y="2511969"/>
            <a:ext cx="12723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83668d8848_0_66"/>
          <p:cNvSpPr/>
          <p:nvPr/>
        </p:nvSpPr>
        <p:spPr>
          <a:xfrm>
            <a:off x="1301200" y="2974494"/>
            <a:ext cx="12723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83668d8848_0_66"/>
          <p:cNvSpPr/>
          <p:nvPr/>
        </p:nvSpPr>
        <p:spPr>
          <a:xfrm>
            <a:off x="1301200" y="3436849"/>
            <a:ext cx="12723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83668d8848_0_66"/>
          <p:cNvSpPr/>
          <p:nvPr/>
        </p:nvSpPr>
        <p:spPr>
          <a:xfrm>
            <a:off x="2574360" y="2049640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83668d8848_0_66"/>
          <p:cNvSpPr/>
          <p:nvPr/>
        </p:nvSpPr>
        <p:spPr>
          <a:xfrm>
            <a:off x="2573500" y="2511995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83668d8848_0_66"/>
          <p:cNvSpPr/>
          <p:nvPr/>
        </p:nvSpPr>
        <p:spPr>
          <a:xfrm>
            <a:off x="2573500" y="2974520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83668d8848_0_66"/>
          <p:cNvSpPr/>
          <p:nvPr/>
        </p:nvSpPr>
        <p:spPr>
          <a:xfrm>
            <a:off x="2573500" y="3436875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83668d8848_0_66"/>
          <p:cNvSpPr/>
          <p:nvPr/>
        </p:nvSpPr>
        <p:spPr>
          <a:xfrm>
            <a:off x="1302797" y="1434650"/>
            <a:ext cx="1272300" cy="6150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Onboarding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83668d8848_0_66"/>
          <p:cNvSpPr/>
          <p:nvPr/>
        </p:nvSpPr>
        <p:spPr>
          <a:xfrm>
            <a:off x="3839195" y="2049614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83668d8848_0_66"/>
          <p:cNvSpPr/>
          <p:nvPr/>
        </p:nvSpPr>
        <p:spPr>
          <a:xfrm>
            <a:off x="3839288" y="2511970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83668d8848_0_66"/>
          <p:cNvSpPr/>
          <p:nvPr/>
        </p:nvSpPr>
        <p:spPr>
          <a:xfrm>
            <a:off x="3839288" y="2974494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83668d8848_0_66"/>
          <p:cNvSpPr/>
          <p:nvPr/>
        </p:nvSpPr>
        <p:spPr>
          <a:xfrm>
            <a:off x="3839288" y="3436850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83668d8848_0_66"/>
          <p:cNvSpPr/>
          <p:nvPr/>
        </p:nvSpPr>
        <p:spPr>
          <a:xfrm>
            <a:off x="5119436" y="2049264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83668d8848_0_66"/>
          <p:cNvSpPr/>
          <p:nvPr/>
        </p:nvSpPr>
        <p:spPr>
          <a:xfrm>
            <a:off x="5119528" y="2511620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83668d8848_0_66"/>
          <p:cNvSpPr/>
          <p:nvPr/>
        </p:nvSpPr>
        <p:spPr>
          <a:xfrm>
            <a:off x="5119436" y="2974144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83668d8848_0_66"/>
          <p:cNvSpPr/>
          <p:nvPr/>
        </p:nvSpPr>
        <p:spPr>
          <a:xfrm>
            <a:off x="5119436" y="3436499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83668d8848_0_66"/>
          <p:cNvSpPr/>
          <p:nvPr/>
        </p:nvSpPr>
        <p:spPr>
          <a:xfrm flipH="1" rot="5400000">
            <a:off x="3459035" y="2320025"/>
            <a:ext cx="145800" cy="17757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83668d8848_0_66"/>
          <p:cNvSpPr/>
          <p:nvPr/>
        </p:nvSpPr>
        <p:spPr>
          <a:xfrm flipH="1" rot="5400000">
            <a:off x="2646249" y="3136384"/>
            <a:ext cx="141300" cy="1413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83668d8848_0_66"/>
          <p:cNvSpPr/>
          <p:nvPr/>
        </p:nvSpPr>
        <p:spPr>
          <a:xfrm>
            <a:off x="287425" y="2511974"/>
            <a:ext cx="1014600" cy="4629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01 Semana</a:t>
            </a:r>
            <a:endParaRPr b="0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383668d8848_0_66"/>
          <p:cNvSpPr/>
          <p:nvPr/>
        </p:nvSpPr>
        <p:spPr>
          <a:xfrm>
            <a:off x="287425" y="2974495"/>
            <a:ext cx="1014600" cy="462900"/>
          </a:xfrm>
          <a:prstGeom prst="rect">
            <a:avLst/>
          </a:prstGeom>
          <a:solidFill>
            <a:srgbClr val="3D3D3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02 Semanas</a:t>
            </a:r>
            <a:endParaRPr b="0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83668d8848_0_66"/>
          <p:cNvSpPr/>
          <p:nvPr/>
        </p:nvSpPr>
        <p:spPr>
          <a:xfrm>
            <a:off x="287425" y="3436846"/>
            <a:ext cx="1014600" cy="462900"/>
          </a:xfrm>
          <a:prstGeom prst="rect">
            <a:avLst/>
          </a:prstGeom>
          <a:solidFill>
            <a:srgbClr val="4141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03 Semanas</a:t>
            </a:r>
            <a:endParaRPr b="0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83668d8848_0_66"/>
          <p:cNvSpPr/>
          <p:nvPr/>
        </p:nvSpPr>
        <p:spPr>
          <a:xfrm>
            <a:off x="287425" y="2049650"/>
            <a:ext cx="1014600" cy="4629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 Dias</a:t>
            </a:r>
            <a:endParaRPr b="0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g383668d8848_0_66"/>
          <p:cNvSpPr/>
          <p:nvPr/>
        </p:nvSpPr>
        <p:spPr>
          <a:xfrm flipH="1" rot="5400000">
            <a:off x="1751851" y="1913325"/>
            <a:ext cx="122400" cy="7152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1D3E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83668d8848_0_66"/>
          <p:cNvSpPr/>
          <p:nvPr/>
        </p:nvSpPr>
        <p:spPr>
          <a:xfrm>
            <a:off x="2580125" y="1434650"/>
            <a:ext cx="1265700" cy="6150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Discovery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83668d8848_0_66"/>
          <p:cNvSpPr/>
          <p:nvPr/>
        </p:nvSpPr>
        <p:spPr>
          <a:xfrm>
            <a:off x="3839203" y="1435000"/>
            <a:ext cx="1265700" cy="6150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Estruturação da Estratégia e Processo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g383668d8848_0_66"/>
          <p:cNvSpPr/>
          <p:nvPr/>
        </p:nvSpPr>
        <p:spPr>
          <a:xfrm>
            <a:off x="5116602" y="1434650"/>
            <a:ext cx="1246800" cy="6150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Implementação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83668d8848_0_66"/>
          <p:cNvSpPr/>
          <p:nvPr/>
        </p:nvSpPr>
        <p:spPr>
          <a:xfrm>
            <a:off x="286700" y="1435000"/>
            <a:ext cx="1014600" cy="6150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Duração das etapas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383668d8848_0_66"/>
          <p:cNvSpPr/>
          <p:nvPr/>
        </p:nvSpPr>
        <p:spPr>
          <a:xfrm flipH="1" rot="5400000">
            <a:off x="2922475" y="1930375"/>
            <a:ext cx="139200" cy="16431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1D3E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83668d8848_0_66"/>
          <p:cNvSpPr/>
          <p:nvPr/>
        </p:nvSpPr>
        <p:spPr>
          <a:xfrm>
            <a:off x="6383689" y="2049264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83668d8848_0_66"/>
          <p:cNvSpPr/>
          <p:nvPr/>
        </p:nvSpPr>
        <p:spPr>
          <a:xfrm>
            <a:off x="6383780" y="2511620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83668d8848_0_66"/>
          <p:cNvSpPr/>
          <p:nvPr/>
        </p:nvSpPr>
        <p:spPr>
          <a:xfrm>
            <a:off x="6383689" y="2974144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83668d8848_0_66"/>
          <p:cNvSpPr/>
          <p:nvPr/>
        </p:nvSpPr>
        <p:spPr>
          <a:xfrm>
            <a:off x="6383689" y="3436499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83668d8848_0_66"/>
          <p:cNvSpPr/>
          <p:nvPr/>
        </p:nvSpPr>
        <p:spPr>
          <a:xfrm>
            <a:off x="6380855" y="1434650"/>
            <a:ext cx="1265700" cy="615000"/>
          </a:xfrm>
          <a:prstGeom prst="rect">
            <a:avLst/>
          </a:prstGeom>
          <a:solidFill>
            <a:srgbClr val="2F2F2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Acompanhamento e Otimização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83668d8848_0_66"/>
          <p:cNvSpPr/>
          <p:nvPr/>
        </p:nvSpPr>
        <p:spPr>
          <a:xfrm flipH="1" rot="5400000">
            <a:off x="5668796" y="3051325"/>
            <a:ext cx="149700" cy="12483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1D3E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83668d8848_0_66"/>
          <p:cNvSpPr/>
          <p:nvPr/>
        </p:nvSpPr>
        <p:spPr>
          <a:xfrm flipH="1" rot="5400000">
            <a:off x="4374500" y="2545075"/>
            <a:ext cx="141000" cy="13407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1D3E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83668d8848_0_66"/>
          <p:cNvSpPr/>
          <p:nvPr/>
        </p:nvSpPr>
        <p:spPr>
          <a:xfrm>
            <a:off x="1301200" y="3907049"/>
            <a:ext cx="12723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83668d8848_0_66"/>
          <p:cNvSpPr/>
          <p:nvPr/>
        </p:nvSpPr>
        <p:spPr>
          <a:xfrm>
            <a:off x="2573500" y="3907075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83668d8848_0_66"/>
          <p:cNvSpPr/>
          <p:nvPr/>
        </p:nvSpPr>
        <p:spPr>
          <a:xfrm>
            <a:off x="3839288" y="3907050"/>
            <a:ext cx="12657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83668d8848_0_66"/>
          <p:cNvSpPr/>
          <p:nvPr/>
        </p:nvSpPr>
        <p:spPr>
          <a:xfrm>
            <a:off x="5119436" y="3906699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83668d8848_0_66"/>
          <p:cNvSpPr/>
          <p:nvPr/>
        </p:nvSpPr>
        <p:spPr>
          <a:xfrm>
            <a:off x="287425" y="3907046"/>
            <a:ext cx="1014600" cy="462900"/>
          </a:xfrm>
          <a:prstGeom prst="rect">
            <a:avLst/>
          </a:prstGeom>
          <a:solidFill>
            <a:srgbClr val="4141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Contínuo</a:t>
            </a:r>
            <a:endParaRPr b="1" i="0" sz="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g383668d8848_0_66"/>
          <p:cNvSpPr/>
          <p:nvPr/>
        </p:nvSpPr>
        <p:spPr>
          <a:xfrm>
            <a:off x="6383689" y="3906699"/>
            <a:ext cx="1246800" cy="462900"/>
          </a:xfrm>
          <a:prstGeom prst="rect">
            <a:avLst/>
          </a:prstGeom>
          <a:solidFill>
            <a:srgbClr val="848FE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3668d8848_0_66"/>
          <p:cNvSpPr/>
          <p:nvPr/>
        </p:nvSpPr>
        <p:spPr>
          <a:xfrm flipH="1" rot="5400000">
            <a:off x="6932521" y="3519925"/>
            <a:ext cx="137100" cy="12384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1D3E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5a65ed43b_0_69"/>
          <p:cNvSpPr txBox="1"/>
          <p:nvPr>
            <p:ph type="ctrTitle"/>
          </p:nvPr>
        </p:nvSpPr>
        <p:spPr>
          <a:xfrm>
            <a:off x="395475" y="502494"/>
            <a:ext cx="83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pt-BR" sz="2300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GRUPO DO TRABALHO</a:t>
            </a:r>
            <a:endParaRPr sz="2300">
              <a:solidFill>
                <a:srgbClr val="EBEB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08" name="Google Shape;208;g395a65ed43b_0_69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95a65ed43b_0_69"/>
          <p:cNvSpPr/>
          <p:nvPr/>
        </p:nvSpPr>
        <p:spPr>
          <a:xfrm>
            <a:off x="1644413" y="1331863"/>
            <a:ext cx="5984700" cy="2754600"/>
          </a:xfrm>
          <a:prstGeom prst="roundRect">
            <a:avLst>
              <a:gd fmla="val 4576" name="adj"/>
            </a:avLst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1174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228600" marR="22860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95a65ed43b_0_69"/>
          <p:cNvSpPr txBox="1"/>
          <p:nvPr/>
        </p:nvSpPr>
        <p:spPr>
          <a:xfrm>
            <a:off x="1818525" y="1760800"/>
            <a:ext cx="5463000" cy="21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Criamos um grupo no WhatsApp com todos os envolvidos no projeto  para garantir que a comunicação seja rápida e eficiente.</a:t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 que você encontrará no grupo:</a:t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oppins"/>
              <a:buChar char="●"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Informações importantes:</a:t>
            </a:r>
            <a:r>
              <a:rPr b="0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Links para reuniões e materiais essenciais serão compartilhados.</a:t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oppins"/>
              <a:buChar char="●"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Confirmação de horários:</a:t>
            </a:r>
            <a:r>
              <a:rPr b="0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Confirmamos e alinhamos os horários dos nossos encontros diretamente no grupo.</a:t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oppins"/>
              <a:buChar char="●"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Espaço para dúvidas e atualizações: </a:t>
            </a:r>
            <a:r>
              <a:rPr b="0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Um canal direto para esclarecer dúvidas, compartilhar novidades e garantir que todos estejam na mesma página.</a:t>
            </a:r>
            <a:endParaRPr b="0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5a65ed43b_0_127"/>
          <p:cNvSpPr txBox="1"/>
          <p:nvPr/>
        </p:nvSpPr>
        <p:spPr>
          <a:xfrm>
            <a:off x="627580" y="590100"/>
            <a:ext cx="59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EBEBEB"/>
                </a:solidFill>
                <a:latin typeface="Roboto Black"/>
                <a:ea typeface="Roboto Black"/>
                <a:cs typeface="Roboto Black"/>
                <a:sym typeface="Roboto Black"/>
              </a:rPr>
              <a:t>NO QUE </a:t>
            </a:r>
            <a:r>
              <a:rPr b="0" i="0" lang="pt-BR" sz="3000" u="none" cap="none" strike="noStrike">
                <a:solidFill>
                  <a:srgbClr val="848FEC"/>
                </a:solidFill>
                <a:latin typeface="Roboto Black"/>
                <a:ea typeface="Roboto Black"/>
                <a:cs typeface="Roboto Black"/>
                <a:sym typeface="Roboto Black"/>
              </a:rPr>
              <a:t>ACREDITAMOS</a:t>
            </a:r>
            <a:endParaRPr b="0" i="0" sz="3000" u="none" cap="none" strike="noStrike">
              <a:solidFill>
                <a:srgbClr val="848FEC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7" name="Google Shape;217;g395a65ed43b_0_127"/>
          <p:cNvSpPr/>
          <p:nvPr/>
        </p:nvSpPr>
        <p:spPr>
          <a:xfrm>
            <a:off x="629747" y="2007406"/>
            <a:ext cx="7886700" cy="20700"/>
          </a:xfrm>
          <a:prstGeom prst="rect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95a65ed43b_0_127"/>
          <p:cNvSpPr/>
          <p:nvPr/>
        </p:nvSpPr>
        <p:spPr>
          <a:xfrm>
            <a:off x="627553" y="1952275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95a65ed43b_0_127"/>
          <p:cNvSpPr/>
          <p:nvPr/>
        </p:nvSpPr>
        <p:spPr>
          <a:xfrm>
            <a:off x="2638014" y="1952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5a65ed43b_0_127"/>
          <p:cNvSpPr/>
          <p:nvPr/>
        </p:nvSpPr>
        <p:spPr>
          <a:xfrm>
            <a:off x="4704594" y="1952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60000">
                <a:srgbClr val="373F8A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95a65ed43b_0_127"/>
          <p:cNvSpPr/>
          <p:nvPr/>
        </p:nvSpPr>
        <p:spPr>
          <a:xfrm>
            <a:off x="6771174" y="1952277"/>
            <a:ext cx="131100" cy="131100"/>
          </a:xfrm>
          <a:prstGeom prst="flowChartConnector">
            <a:avLst/>
          </a:prstGeom>
          <a:gradFill>
            <a:gsLst>
              <a:gs pos="0">
                <a:srgbClr val="848FEC"/>
              </a:gs>
              <a:gs pos="100000">
                <a:srgbClr val="373F8A"/>
              </a:gs>
            </a:gsLst>
            <a:lin ang="1200014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95a65ed43b_0_127"/>
          <p:cNvSpPr txBox="1"/>
          <p:nvPr/>
        </p:nvSpPr>
        <p:spPr>
          <a:xfrm>
            <a:off x="627553" y="2259831"/>
            <a:ext cx="16239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Crescimento previsível exige processo, não esforço isolado.</a:t>
            </a:r>
            <a:endParaRPr b="1" i="0" sz="13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3" name="Google Shape;223;g395a65ed43b_0_127"/>
          <p:cNvSpPr txBox="1"/>
          <p:nvPr/>
        </p:nvSpPr>
        <p:spPr>
          <a:xfrm>
            <a:off x="2638025" y="2259825"/>
            <a:ext cx="18387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 geração de demanda só funciona quando existe um processo de vendas estruturado.</a:t>
            </a:r>
            <a:endParaRPr b="1" i="0" sz="13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3B3B3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4" name="Google Shape;224;g395a65ed43b_0_127"/>
          <p:cNvSpPr txBox="1"/>
          <p:nvPr/>
        </p:nvSpPr>
        <p:spPr>
          <a:xfrm>
            <a:off x="4704601" y="2259825"/>
            <a:ext cx="18387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Tecnologia é meio, não fim. Ela precisa estar conectada à estratégia e à rotina para funcionar bem.</a:t>
            </a:r>
            <a:endParaRPr b="0" i="0" sz="13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5" name="Google Shape;225;g395a65ed43b_0_127"/>
          <p:cNvSpPr txBox="1"/>
          <p:nvPr/>
        </p:nvSpPr>
        <p:spPr>
          <a:xfrm>
            <a:off x="6771150" y="2259825"/>
            <a:ext cx="1838700" cy="17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EBEBEB"/>
                </a:solidFill>
                <a:latin typeface="Roboto"/>
                <a:ea typeface="Roboto"/>
                <a:cs typeface="Roboto"/>
                <a:sym typeface="Roboto"/>
              </a:rPr>
              <a:t>A máquina só funciona quando há gestão, disciplina e acompanhamento de indicadores.</a:t>
            </a:r>
            <a:endParaRPr b="1" i="0" sz="1300" u="none" cap="none" strike="noStrike">
              <a:solidFill>
                <a:srgbClr val="EBEB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BEBE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26" name="Google Shape;226;g395a65ed43b_0_127" title="[DEALWISE] Logotipo_Horizontal 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761" y="4763513"/>
            <a:ext cx="874225" cy="16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95a65ed43b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43806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95a65ed43b_0_142"/>
          <p:cNvSpPr txBox="1"/>
          <p:nvPr/>
        </p:nvSpPr>
        <p:spPr>
          <a:xfrm>
            <a:off x="335650" y="370725"/>
            <a:ext cx="60585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Do que vamos precisar</a:t>
            </a:r>
            <a:r>
              <a:rPr b="1" i="0" lang="pt-BR" sz="3000" u="none" cap="none" strike="noStrike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b="1" i="0" sz="3000" u="none" cap="none" strike="noStrike">
              <a:solidFill>
                <a:srgbClr val="14185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g395a65ed43b_0_142"/>
          <p:cNvSpPr/>
          <p:nvPr/>
        </p:nvSpPr>
        <p:spPr>
          <a:xfrm>
            <a:off x="464100" y="1307025"/>
            <a:ext cx="4258200" cy="361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1) Acesso ao CRM atual (ou decisão sobre implantação)</a:t>
            </a:r>
            <a:endParaRPr b="1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g395a65ed43b_0_142"/>
          <p:cNvSpPr/>
          <p:nvPr/>
        </p:nvSpPr>
        <p:spPr>
          <a:xfrm>
            <a:off x="464100" y="1725931"/>
            <a:ext cx="4258200" cy="361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2) Histórico de vendas e indicadores recentes</a:t>
            </a:r>
            <a:endParaRPr b="1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g395a65ed43b_0_142"/>
          <p:cNvSpPr/>
          <p:nvPr/>
        </p:nvSpPr>
        <p:spPr>
          <a:xfrm>
            <a:off x="464100" y="2144837"/>
            <a:ext cx="4258200" cy="361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3) Modelos de proposta e materiais comerciais</a:t>
            </a:r>
            <a:endParaRPr b="1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g395a65ed43b_0_142"/>
          <p:cNvSpPr/>
          <p:nvPr/>
        </p:nvSpPr>
        <p:spPr>
          <a:xfrm>
            <a:off x="464100" y="2563717"/>
            <a:ext cx="4258200" cy="361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4) Lista de clientes ativos, perdidos e oportunidades </a:t>
            </a:r>
            <a:endParaRPr b="1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g395a65ed43b_0_142"/>
          <p:cNvSpPr/>
          <p:nvPr/>
        </p:nvSpPr>
        <p:spPr>
          <a:xfrm>
            <a:off x="464100" y="3019342"/>
            <a:ext cx="4258200" cy="361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5) Acesso às ferramentas utilizadas na rotina de trabalho (e-mail, LinkedIn, discador, etc.)</a:t>
            </a:r>
            <a:endParaRPr b="1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g395a65ed43b_0_142"/>
          <p:cNvSpPr/>
          <p:nvPr/>
        </p:nvSpPr>
        <p:spPr>
          <a:xfrm>
            <a:off x="464100" y="3474967"/>
            <a:ext cx="4258200" cy="361500"/>
          </a:xfrm>
          <a:prstGeom prst="roundRect">
            <a:avLst>
              <a:gd fmla="val 50000" name="adj"/>
            </a:avLst>
          </a:prstGeom>
          <a:solidFill>
            <a:srgbClr val="848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6) Disponibilidade da liderança para decisões estratégicas</a:t>
            </a:r>
            <a:endParaRPr b="1" i="0" sz="11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381bbc2551_0_6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00" y="4380647"/>
            <a:ext cx="1182362" cy="2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381bbc2551_0_628"/>
          <p:cNvSpPr txBox="1"/>
          <p:nvPr>
            <p:ph idx="1" type="body"/>
          </p:nvPr>
        </p:nvSpPr>
        <p:spPr>
          <a:xfrm>
            <a:off x="605625" y="1681500"/>
            <a:ext cx="6409500" cy="17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pt-BR" sz="54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Juntos transformaremos</a:t>
            </a:r>
            <a:r>
              <a:rPr b="1" lang="pt-BR" sz="5400">
                <a:solidFill>
                  <a:srgbClr val="0D0D0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pt-BR" sz="5400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Objetivos </a:t>
            </a:r>
            <a:r>
              <a:rPr lang="pt-BR" sz="5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b="1" lang="pt-BR" sz="5400">
                <a:solidFill>
                  <a:srgbClr val="141856"/>
                </a:solidFill>
                <a:latin typeface="DM Sans"/>
                <a:ea typeface="DM Sans"/>
                <a:cs typeface="DM Sans"/>
                <a:sym typeface="DM Sans"/>
              </a:rPr>
              <a:t> Resultados</a:t>
            </a:r>
            <a:endParaRPr sz="5000">
              <a:solidFill>
                <a:srgbClr val="14185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5a65ed43b_0_210"/>
          <p:cNvSpPr txBox="1"/>
          <p:nvPr/>
        </p:nvSpPr>
        <p:spPr>
          <a:xfrm>
            <a:off x="1352425" y="2280588"/>
            <a:ext cx="25569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(XX) 9 XXXX-XXXX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dealwise.com.br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linkedin.com/company/deal-wise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@dealwise.aceleradora</a:t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0" name="Google Shape;250;g395a65ed43b_0_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450" y="1586563"/>
            <a:ext cx="2672625" cy="50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95a65ed43b_0_2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450" y="3460713"/>
            <a:ext cx="207980" cy="20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95a65ed43b_0_2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1098" y="3083023"/>
            <a:ext cx="214689" cy="21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95a65ed43b_0_2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1098" y="2731588"/>
            <a:ext cx="214689" cy="21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95a65ed43b_0_2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1097" y="2380177"/>
            <a:ext cx="214689" cy="21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