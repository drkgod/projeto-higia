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oboto ExtraLight"/>
      <p:regular r:id="rId15"/>
      <p:bold r:id="rId16"/>
      <p:italic r:id="rId17"/>
      <p:boldItalic r:id="rId18"/>
    </p:embeddedFont>
    <p:embeddedFont>
      <p:font typeface="Roboto Black"/>
      <p:bold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Lato Light"/>
      <p:regular r:id="rId25"/>
      <p:bold r:id="rId26"/>
      <p:italic r:id="rId27"/>
      <p:boldItalic r:id="rId28"/>
    </p:embeddedFont>
    <p:embeddedFont>
      <p:font typeface="Roboto Light"/>
      <p:regular r:id="rId29"/>
      <p:bold r:id="rId30"/>
      <p:italic r:id="rId31"/>
      <p:boldItalic r:id="rId32"/>
    </p:embeddedFon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6OblO5t1KE9wn3zKlv6lH13j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Black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Light-bold.fntdata"/><Relationship Id="rId25" Type="http://schemas.openxmlformats.org/officeDocument/2006/relationships/font" Target="fonts/LatoLight-regular.fntdata"/><Relationship Id="rId28" Type="http://schemas.openxmlformats.org/officeDocument/2006/relationships/font" Target="fonts/LatoLight-boldItalic.fntdata"/><Relationship Id="rId27" Type="http://schemas.openxmlformats.org/officeDocument/2006/relationships/font" Target="fonts/Lato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Light-italic.fntdata"/><Relationship Id="rId30" Type="http://schemas.openxmlformats.org/officeDocument/2006/relationships/font" Target="fonts/RobotoLight-bold.fntdata"/><Relationship Id="rId11" Type="http://schemas.openxmlformats.org/officeDocument/2006/relationships/slide" Target="slides/slide7.xml"/><Relationship Id="rId33" Type="http://schemas.openxmlformats.org/officeDocument/2006/relationships/font" Target="fonts/DMSans-regular.fntdata"/><Relationship Id="rId10" Type="http://schemas.openxmlformats.org/officeDocument/2006/relationships/slide" Target="slides/slide6.xml"/><Relationship Id="rId32" Type="http://schemas.openxmlformats.org/officeDocument/2006/relationships/font" Target="fonts/RobotoLight-boldItalic.fntdata"/><Relationship Id="rId13" Type="http://schemas.openxmlformats.org/officeDocument/2006/relationships/slide" Target="slides/slide9.xml"/><Relationship Id="rId35" Type="http://schemas.openxmlformats.org/officeDocument/2006/relationships/font" Target="fonts/DMSans-italic.fntdata"/><Relationship Id="rId12" Type="http://schemas.openxmlformats.org/officeDocument/2006/relationships/slide" Target="slides/slide8.xml"/><Relationship Id="rId34" Type="http://schemas.openxmlformats.org/officeDocument/2006/relationships/font" Target="fonts/DMSans-bold.fntdata"/><Relationship Id="rId15" Type="http://schemas.openxmlformats.org/officeDocument/2006/relationships/font" Target="fonts/RobotoExtraLight-regular.fntdata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DMSans-boldItalic.fntdata"/><Relationship Id="rId17" Type="http://schemas.openxmlformats.org/officeDocument/2006/relationships/font" Target="fonts/RobotoExtraLight-italic.fntdata"/><Relationship Id="rId16" Type="http://schemas.openxmlformats.org/officeDocument/2006/relationships/font" Target="fonts/RobotoExtraLight-bold.fntdata"/><Relationship Id="rId19" Type="http://schemas.openxmlformats.org/officeDocument/2006/relationships/font" Target="fonts/RobotoBlack-bold.fntdata"/><Relationship Id="rId18" Type="http://schemas.openxmlformats.org/officeDocument/2006/relationships/font" Target="fonts/RobotoExtra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18d63378_0_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a218d63378_0_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a218d63378_0_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a218d63378_0_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‹#›</a:t>
            </a:r>
            <a:endParaRPr/>
          </a:p>
        </p:txBody>
      </p:sp>
      <p:sp>
        <p:nvSpPr>
          <p:cNvPr id="61" name="Google Shape;61;g3a218d63378_0_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a218d63378_0_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18d63378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a218d63378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a218d63378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18d63378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218d6337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218d63378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a218d63378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218d63378_0_3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218d63378_0_3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a218d63378_0_3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218d63378_0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218d63378_0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a218d63378_0_4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18d63378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218d63378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218d63378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a218d63378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218d63378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a218d63378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c570bbd36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5c570bbd36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c066454f5_0_6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218d63378_0_18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g3a218d63378_0_180"/>
          <p:cNvSpPr txBox="1"/>
          <p:nvPr>
            <p:ph idx="1" type="body"/>
          </p:nvPr>
        </p:nvSpPr>
        <p:spPr>
          <a:xfrm>
            <a:off x="628650" y="1369219"/>
            <a:ext cx="7886700" cy="3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g3a218d63378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218d63378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218d63378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4c066454f5_0_58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g34c066454f5_0_58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g34c066454f5_0_5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4c066454f5_0_5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g34c066454f5_0_5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4c066454f5_0_5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4c066454f5_0_59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g34c066454f5_0_5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4c066454f5_0_5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g34c066454f5_0_59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4c066454f5_0_59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4c066454f5_0_5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4c066454f5_0_6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g34c066454f5_0_6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4c066454f5_0_60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g34c066454f5_0_60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g34c066454f5_0_6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4c066454f5_0_6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g34c066454f5_0_6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c066454f5_0_6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4c066454f5_0_6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g34c066454f5_0_6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g34c066454f5_0_6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4c066454f5_0_6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c066454f5_0_6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g34c066454f5_0_6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c066454f5_0_6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g34c066454f5_0_6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g34c066454f5_0_6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c066454f5_0_5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4c066454f5_0_5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4c066454f5_0_5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2238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a218d63378_0_2" title="imagemgenérica_2025_mesa-trabalho.jpg"/>
          <p:cNvPicPr preferRelativeResize="0"/>
          <p:nvPr/>
        </p:nvPicPr>
        <p:blipFill rotWithShape="1">
          <a:blip r:embed="rId3">
            <a:alphaModFix/>
          </a:blip>
          <a:srcRect b="35697" l="0" r="0" t="-401"/>
          <a:stretch/>
        </p:blipFill>
        <p:spPr>
          <a:xfrm>
            <a:off x="3783638" y="-31837"/>
            <a:ext cx="5360362" cy="517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g3a218d63378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77448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a218d63378_0_2" title="ícon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63" y="4562588"/>
            <a:ext cx="846500" cy="27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a218d63378_0_2" title="efrgty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863" y="1545360"/>
            <a:ext cx="1450762" cy="2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a218d63378_0_2"/>
          <p:cNvSpPr txBox="1"/>
          <p:nvPr/>
        </p:nvSpPr>
        <p:spPr>
          <a:xfrm>
            <a:off x="548650" y="1980963"/>
            <a:ext cx="4585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Concepção da</a:t>
            </a:r>
            <a:endParaRPr b="0" i="0" sz="2800" u="none" cap="none" strike="noStrike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Estratégia da </a:t>
            </a:r>
            <a:r>
              <a:rPr lang="pt-BR" sz="2800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Higia</a:t>
            </a:r>
            <a:endParaRPr b="0" i="0" sz="28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18d63378_0_89"/>
          <p:cNvSpPr txBox="1"/>
          <p:nvPr/>
        </p:nvSpPr>
        <p:spPr>
          <a:xfrm>
            <a:off x="4756655" y="549914"/>
            <a:ext cx="399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VISÃO </a:t>
            </a: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GERAL </a:t>
            </a: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DO PROJETO</a:t>
            </a:r>
            <a:endParaRPr b="0" i="0" sz="1900" u="none" cap="none" strike="noStrike">
              <a:solidFill>
                <a:srgbClr val="EEEEEE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" name="Google Shape;75;g3a218d63378_0_89"/>
          <p:cNvSpPr txBox="1"/>
          <p:nvPr/>
        </p:nvSpPr>
        <p:spPr>
          <a:xfrm>
            <a:off x="4756655" y="1042514"/>
            <a:ext cx="399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OBJETIVOS GERAIS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g3a218d63378_0_89"/>
          <p:cNvSpPr txBox="1"/>
          <p:nvPr/>
        </p:nvSpPr>
        <p:spPr>
          <a:xfrm>
            <a:off x="4756655" y="1550564"/>
            <a:ext cx="32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PONTOS POSITIVOS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a218d63378_0_89"/>
          <p:cNvSpPr txBox="1"/>
          <p:nvPr/>
        </p:nvSpPr>
        <p:spPr>
          <a:xfrm>
            <a:off x="4756655" y="2098589"/>
            <a:ext cx="32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PONTOS DE</a:t>
            </a: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 MELHORIA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3a218d63378_0_89"/>
          <p:cNvSpPr txBox="1"/>
          <p:nvPr/>
        </p:nvSpPr>
        <p:spPr>
          <a:xfrm>
            <a:off x="4200082" y="433008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a218d63378_0_89"/>
          <p:cNvSpPr txBox="1"/>
          <p:nvPr/>
        </p:nvSpPr>
        <p:spPr>
          <a:xfrm>
            <a:off x="4200082" y="925608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a218d63378_0_89"/>
          <p:cNvSpPr txBox="1"/>
          <p:nvPr/>
        </p:nvSpPr>
        <p:spPr>
          <a:xfrm>
            <a:off x="4200082" y="1433658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a218d63378_0_89"/>
          <p:cNvSpPr txBox="1"/>
          <p:nvPr/>
        </p:nvSpPr>
        <p:spPr>
          <a:xfrm>
            <a:off x="4200082" y="1981683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g3a218d63378_0_89"/>
          <p:cNvPicPr preferRelativeResize="0"/>
          <p:nvPr/>
        </p:nvPicPr>
        <p:blipFill rotWithShape="1">
          <a:blip r:embed="rId4">
            <a:alphaModFix/>
          </a:blip>
          <a:srcRect b="39198" l="0" r="0" t="0"/>
          <a:stretch/>
        </p:blipFill>
        <p:spPr>
          <a:xfrm>
            <a:off x="231731" y="224154"/>
            <a:ext cx="848869" cy="208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a218d63378_0_89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a218d63378_0_89"/>
          <p:cNvSpPr txBox="1"/>
          <p:nvPr/>
        </p:nvSpPr>
        <p:spPr>
          <a:xfrm>
            <a:off x="4756655" y="3197914"/>
            <a:ext cx="32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ESTRATÉGIAS</a:t>
            </a: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 DE FOCO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g3a218d63378_0_89"/>
          <p:cNvSpPr txBox="1"/>
          <p:nvPr/>
        </p:nvSpPr>
        <p:spPr>
          <a:xfrm>
            <a:off x="4200082" y="3081008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a218d63378_0_89"/>
          <p:cNvSpPr txBox="1"/>
          <p:nvPr/>
        </p:nvSpPr>
        <p:spPr>
          <a:xfrm>
            <a:off x="4756655" y="3808595"/>
            <a:ext cx="32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PRÓXIMOS PASSOS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a218d63378_0_89"/>
          <p:cNvSpPr txBox="1"/>
          <p:nvPr/>
        </p:nvSpPr>
        <p:spPr>
          <a:xfrm>
            <a:off x="4200082" y="3691689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a218d63378_0_89"/>
          <p:cNvSpPr txBox="1"/>
          <p:nvPr/>
        </p:nvSpPr>
        <p:spPr>
          <a:xfrm>
            <a:off x="4756655" y="2665064"/>
            <a:ext cx="32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19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COMO</a:t>
            </a: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 SOLUCIONAR</a:t>
            </a:r>
            <a:endParaRPr b="1" i="0" sz="1500" u="none" cap="none" strike="noStrike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g3a218d63378_0_89"/>
          <p:cNvSpPr txBox="1"/>
          <p:nvPr/>
        </p:nvSpPr>
        <p:spPr>
          <a:xfrm>
            <a:off x="4200082" y="2548158"/>
            <a:ext cx="5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1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18d63378_0_240"/>
          <p:cNvSpPr/>
          <p:nvPr/>
        </p:nvSpPr>
        <p:spPr>
          <a:xfrm>
            <a:off x="1621775" y="2234684"/>
            <a:ext cx="1585800" cy="922200"/>
          </a:xfrm>
          <a:prstGeom prst="chevron">
            <a:avLst>
              <a:gd fmla="val 18082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218d63378_0_240"/>
          <p:cNvSpPr/>
          <p:nvPr/>
        </p:nvSpPr>
        <p:spPr>
          <a:xfrm>
            <a:off x="3059983" y="2234684"/>
            <a:ext cx="1585800" cy="922200"/>
          </a:xfrm>
          <a:prstGeom prst="chevron">
            <a:avLst>
              <a:gd fmla="val 18082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a218d63378_0_240"/>
          <p:cNvSpPr/>
          <p:nvPr/>
        </p:nvSpPr>
        <p:spPr>
          <a:xfrm>
            <a:off x="4498192" y="2234684"/>
            <a:ext cx="1585800" cy="922200"/>
          </a:xfrm>
          <a:prstGeom prst="chevron">
            <a:avLst>
              <a:gd fmla="val 18082" name="adj"/>
            </a:avLst>
          </a:prstGeom>
          <a:solidFill>
            <a:srgbClr val="141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a218d63378_0_240"/>
          <p:cNvSpPr/>
          <p:nvPr/>
        </p:nvSpPr>
        <p:spPr>
          <a:xfrm>
            <a:off x="5936401" y="2234684"/>
            <a:ext cx="1585800" cy="922200"/>
          </a:xfrm>
          <a:prstGeom prst="chevron">
            <a:avLst>
              <a:gd fmla="val 18082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a218d63378_0_240"/>
          <p:cNvSpPr txBox="1"/>
          <p:nvPr/>
        </p:nvSpPr>
        <p:spPr>
          <a:xfrm>
            <a:off x="4705195" y="3238509"/>
            <a:ext cx="1185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800" u="none" cap="none" strike="noStrike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Desenhar a estratégia e campanhas para o cenário da empresa e estruturar os processos, playbooks e rotinas de acompanhamento.</a:t>
            </a:r>
            <a:endParaRPr b="0" i="0" sz="900" u="none" cap="none" strike="noStrike">
              <a:solidFill>
                <a:srgbClr val="AAAAA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" name="Google Shape;99;g3a218d63378_0_240"/>
          <p:cNvSpPr txBox="1"/>
          <p:nvPr/>
        </p:nvSpPr>
        <p:spPr>
          <a:xfrm>
            <a:off x="1828776" y="3238509"/>
            <a:ext cx="118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800" u="none" cap="none" strike="noStrike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Entendimento profundo da operação, metas de 6 e 12 meses, contexto estratégico e gargalos estruturais.</a:t>
            </a:r>
            <a:endParaRPr b="0" i="0" sz="800" u="none" cap="none" strike="noStrike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0" name="Google Shape;100;g3a218d63378_0_240"/>
          <p:cNvSpPr txBox="1"/>
          <p:nvPr/>
        </p:nvSpPr>
        <p:spPr>
          <a:xfrm>
            <a:off x="3266985" y="3238509"/>
            <a:ext cx="118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800" u="none" cap="none" strike="noStrike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Definição do direcionamento estratégico, ICP prioritário, proposta de valor e modelo de aquisição principal.</a:t>
            </a:r>
            <a:endParaRPr b="0" i="0" sz="900" u="none" cap="none" strike="noStrike">
              <a:solidFill>
                <a:srgbClr val="AAAAA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1" name="Google Shape;101;g3a218d63378_0_240"/>
          <p:cNvSpPr txBox="1"/>
          <p:nvPr/>
        </p:nvSpPr>
        <p:spPr>
          <a:xfrm>
            <a:off x="6143405" y="3238509"/>
            <a:ext cx="1185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800" u="none" cap="none" strike="noStrike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Implantação prática da operação comercial: CRM, funil, indicadores, rotinas de gestão e treinamento técnico da equipe.</a:t>
            </a:r>
            <a:endParaRPr b="0" i="0" sz="900" u="none" cap="none" strike="noStrike">
              <a:solidFill>
                <a:srgbClr val="AAAAAA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2" name="Google Shape;102;g3a218d63378_0_240"/>
          <p:cNvSpPr txBox="1"/>
          <p:nvPr/>
        </p:nvSpPr>
        <p:spPr>
          <a:xfrm>
            <a:off x="1884773" y="2554009"/>
            <a:ext cx="104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7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ONBOARDING E DISCOVERY</a:t>
            </a:r>
            <a:endParaRPr b="0" i="0" sz="7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3a218d63378_0_240"/>
          <p:cNvSpPr txBox="1"/>
          <p:nvPr/>
        </p:nvSpPr>
        <p:spPr>
          <a:xfrm>
            <a:off x="3342608" y="2554008"/>
            <a:ext cx="104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7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ESTRUTURAÇÃO DA ESTRATÉGIA</a:t>
            </a:r>
            <a:endParaRPr b="1" i="0" sz="7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3a218d63378_0_240"/>
          <p:cNvSpPr txBox="1"/>
          <p:nvPr/>
        </p:nvSpPr>
        <p:spPr>
          <a:xfrm>
            <a:off x="4800419" y="2625535"/>
            <a:ext cx="115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7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ARQUITETURA</a:t>
            </a:r>
            <a:endParaRPr b="1" i="0" sz="7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3a218d63378_0_240"/>
          <p:cNvSpPr txBox="1"/>
          <p:nvPr/>
        </p:nvSpPr>
        <p:spPr>
          <a:xfrm>
            <a:off x="6271317" y="2571696"/>
            <a:ext cx="111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7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IMPLANTAÇÃO</a:t>
            </a:r>
            <a:endParaRPr b="1" i="0" sz="7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3a218d63378_0_240"/>
          <p:cNvSpPr/>
          <p:nvPr/>
        </p:nvSpPr>
        <p:spPr>
          <a:xfrm>
            <a:off x="2135974" y="1561132"/>
            <a:ext cx="571500" cy="571500"/>
          </a:xfrm>
          <a:prstGeom prst="ellipse">
            <a:avLst/>
          </a:prstGeom>
          <a:solidFill>
            <a:srgbClr val="848FEC"/>
          </a:solidFill>
          <a:ln>
            <a:noFill/>
          </a:ln>
        </p:spPr>
        <p:txBody>
          <a:bodyPr anchorCtr="0" anchor="ctr" bIns="39575" lIns="79175" spcFirstLastPara="1" rIns="79175" wrap="square" tIns="39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t/>
            </a:r>
            <a:endParaRPr b="0" i="0" sz="311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a218d63378_0_240"/>
          <p:cNvSpPr/>
          <p:nvPr/>
        </p:nvSpPr>
        <p:spPr>
          <a:xfrm>
            <a:off x="3574164" y="1561132"/>
            <a:ext cx="571500" cy="571500"/>
          </a:xfrm>
          <a:prstGeom prst="ellipse">
            <a:avLst/>
          </a:prstGeom>
          <a:solidFill>
            <a:srgbClr val="848FEC"/>
          </a:solidFill>
          <a:ln>
            <a:noFill/>
          </a:ln>
        </p:spPr>
        <p:txBody>
          <a:bodyPr anchorCtr="0" anchor="ctr" bIns="39575" lIns="79175" spcFirstLastPara="1" rIns="79175" wrap="square" tIns="39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t/>
            </a:r>
            <a:endParaRPr b="0" i="0" sz="311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a218d63378_0_240"/>
          <p:cNvSpPr/>
          <p:nvPr/>
        </p:nvSpPr>
        <p:spPr>
          <a:xfrm>
            <a:off x="5012367" y="1561132"/>
            <a:ext cx="571500" cy="571500"/>
          </a:xfrm>
          <a:prstGeom prst="ellipse">
            <a:avLst/>
          </a:prstGeom>
          <a:solidFill>
            <a:srgbClr val="141856"/>
          </a:solidFill>
          <a:ln>
            <a:noFill/>
          </a:ln>
        </p:spPr>
        <p:txBody>
          <a:bodyPr anchorCtr="0" anchor="ctr" bIns="39575" lIns="79175" spcFirstLastPara="1" rIns="79175" wrap="square" tIns="39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t/>
            </a:r>
            <a:endParaRPr b="0" i="0" sz="311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a218d63378_0_240"/>
          <p:cNvSpPr/>
          <p:nvPr/>
        </p:nvSpPr>
        <p:spPr>
          <a:xfrm>
            <a:off x="6443557" y="1561132"/>
            <a:ext cx="571500" cy="571500"/>
          </a:xfrm>
          <a:prstGeom prst="ellipse">
            <a:avLst/>
          </a:prstGeom>
          <a:solidFill>
            <a:srgbClr val="848FEC"/>
          </a:solidFill>
          <a:ln>
            <a:noFill/>
          </a:ln>
        </p:spPr>
        <p:txBody>
          <a:bodyPr anchorCtr="0" anchor="ctr" bIns="39575" lIns="79175" spcFirstLastPara="1" rIns="79175" wrap="square" tIns="39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t/>
            </a:r>
            <a:endParaRPr b="0" i="0" sz="311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a218d63378_0_240"/>
          <p:cNvSpPr txBox="1"/>
          <p:nvPr/>
        </p:nvSpPr>
        <p:spPr>
          <a:xfrm>
            <a:off x="887850" y="387225"/>
            <a:ext cx="73683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pt-BR" sz="23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ESCOPO DO MÁQUINA E ONDE ESTAMOS:</a:t>
            </a:r>
            <a:endParaRPr b="0" i="0" sz="23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1" name="Google Shape;111;g3a218d63378_0_240"/>
          <p:cNvGrpSpPr/>
          <p:nvPr/>
        </p:nvGrpSpPr>
        <p:grpSpPr>
          <a:xfrm>
            <a:off x="2244825" y="1671137"/>
            <a:ext cx="353802" cy="351497"/>
            <a:chOff x="580725" y="3617925"/>
            <a:chExt cx="299325" cy="297375"/>
          </a:xfrm>
        </p:grpSpPr>
        <p:sp>
          <p:nvSpPr>
            <p:cNvPr id="112" name="Google Shape;112;g3a218d63378_0_240"/>
            <p:cNvSpPr/>
            <p:nvPr/>
          </p:nvSpPr>
          <p:spPr>
            <a:xfrm>
              <a:off x="6090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a218d63378_0_240"/>
            <p:cNvSpPr/>
            <p:nvPr/>
          </p:nvSpPr>
          <p:spPr>
            <a:xfrm>
              <a:off x="668950" y="3617925"/>
              <a:ext cx="122875" cy="104475"/>
            </a:xfrm>
            <a:custGeom>
              <a:rect b="b" l="l" r="r" t="t"/>
              <a:pathLst>
                <a:path extrusionOk="0" h="4179" w="4915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a218d63378_0_240"/>
            <p:cNvSpPr/>
            <p:nvPr/>
          </p:nvSpPr>
          <p:spPr>
            <a:xfrm>
              <a:off x="580725" y="3721900"/>
              <a:ext cx="141800" cy="192025"/>
            </a:xfrm>
            <a:custGeom>
              <a:rect b="b" l="l" r="r" t="t"/>
              <a:pathLst>
                <a:path extrusionOk="0" h="7681" w="5672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a218d63378_0_240"/>
            <p:cNvSpPr/>
            <p:nvPr/>
          </p:nvSpPr>
          <p:spPr>
            <a:xfrm>
              <a:off x="8004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a218d63378_0_240"/>
            <p:cNvSpPr/>
            <p:nvPr/>
          </p:nvSpPr>
          <p:spPr>
            <a:xfrm>
              <a:off x="738250" y="3722700"/>
              <a:ext cx="141800" cy="192600"/>
            </a:xfrm>
            <a:custGeom>
              <a:rect b="b" l="l" r="r" t="t"/>
              <a:pathLst>
                <a:path extrusionOk="0" h="7704" w="5672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g3a218d63378_0_240"/>
          <p:cNvGrpSpPr/>
          <p:nvPr/>
        </p:nvGrpSpPr>
        <p:grpSpPr>
          <a:xfrm>
            <a:off x="3676735" y="1667349"/>
            <a:ext cx="366364" cy="359075"/>
            <a:chOff x="-60988625" y="3740800"/>
            <a:chExt cx="316650" cy="310350"/>
          </a:xfrm>
        </p:grpSpPr>
        <p:sp>
          <p:nvSpPr>
            <p:cNvPr id="118" name="Google Shape;118;g3a218d63378_0_240"/>
            <p:cNvSpPr/>
            <p:nvPr/>
          </p:nvSpPr>
          <p:spPr>
            <a:xfrm>
              <a:off x="-60988625" y="3740800"/>
              <a:ext cx="311125" cy="310350"/>
            </a:xfrm>
            <a:custGeom>
              <a:rect b="b" l="l" r="r" t="t"/>
              <a:pathLst>
                <a:path extrusionOk="0" h="12414" w="12445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a218d63378_0_240"/>
            <p:cNvSpPr/>
            <p:nvPr/>
          </p:nvSpPr>
          <p:spPr>
            <a:xfrm>
              <a:off x="-60742100" y="3920375"/>
              <a:ext cx="68550" cy="55175"/>
            </a:xfrm>
            <a:custGeom>
              <a:rect b="b" l="l" r="r" t="t"/>
              <a:pathLst>
                <a:path extrusionOk="0" h="2207" w="2742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a218d63378_0_240"/>
            <p:cNvSpPr/>
            <p:nvPr/>
          </p:nvSpPr>
          <p:spPr>
            <a:xfrm>
              <a:off x="-60740525" y="3741600"/>
              <a:ext cx="68550" cy="158325"/>
            </a:xfrm>
            <a:custGeom>
              <a:rect b="b" l="l" r="r" t="t"/>
              <a:pathLst>
                <a:path extrusionOk="0" h="6333" w="2742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1" name="Google Shape;121;g3a218d63378_0_2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150" y="1645514"/>
            <a:ext cx="376803" cy="40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a218d63378_0_2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4163" y="1626449"/>
            <a:ext cx="440875" cy="44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18d63378_0_580"/>
          <p:cNvSpPr/>
          <p:nvPr/>
        </p:nvSpPr>
        <p:spPr>
          <a:xfrm>
            <a:off x="3300114" y="869510"/>
            <a:ext cx="888290" cy="3404488"/>
          </a:xfrm>
          <a:custGeom>
            <a:rect b="b" l="l" r="r" t="t"/>
            <a:pathLst>
              <a:path extrusionOk="0" h="7975" w="2083">
                <a:moveTo>
                  <a:pt x="2054" y="7974"/>
                </a:moveTo>
                <a:lnTo>
                  <a:pt x="2054" y="7974"/>
                </a:lnTo>
                <a:cubicBezTo>
                  <a:pt x="2043" y="7974"/>
                  <a:pt x="2032" y="7966"/>
                  <a:pt x="2029" y="7955"/>
                </a:cubicBezTo>
                <a:lnTo>
                  <a:pt x="4" y="35"/>
                </a:lnTo>
                <a:lnTo>
                  <a:pt x="4" y="35"/>
                </a:lnTo>
                <a:cubicBezTo>
                  <a:pt x="0" y="21"/>
                  <a:pt x="8" y="7"/>
                  <a:pt x="22" y="4"/>
                </a:cubicBezTo>
                <a:lnTo>
                  <a:pt x="22" y="4"/>
                </a:lnTo>
                <a:cubicBezTo>
                  <a:pt x="35" y="0"/>
                  <a:pt x="49" y="8"/>
                  <a:pt x="52" y="22"/>
                </a:cubicBezTo>
                <a:lnTo>
                  <a:pt x="2079" y="7942"/>
                </a:lnTo>
                <a:lnTo>
                  <a:pt x="2079" y="7942"/>
                </a:lnTo>
                <a:cubicBezTo>
                  <a:pt x="2082" y="7956"/>
                  <a:pt x="2074" y="7970"/>
                  <a:pt x="2060" y="7973"/>
                </a:cubicBezTo>
                <a:lnTo>
                  <a:pt x="2060" y="7973"/>
                </a:lnTo>
                <a:cubicBezTo>
                  <a:pt x="2058" y="7973"/>
                  <a:pt x="2056" y="7974"/>
                  <a:pt x="2054" y="7974"/>
                </a:cubicBezTo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8" name="Google Shape;128;g3a218d63378_0_580"/>
          <p:cNvSpPr/>
          <p:nvPr/>
        </p:nvSpPr>
        <p:spPr>
          <a:xfrm>
            <a:off x="3269084" y="1094475"/>
            <a:ext cx="218311" cy="218308"/>
          </a:xfrm>
          <a:custGeom>
            <a:rect b="b" l="l" r="r" t="t"/>
            <a:pathLst>
              <a:path extrusionOk="0" h="510" w="511">
                <a:moveTo>
                  <a:pt x="255" y="0"/>
                </a:moveTo>
                <a:lnTo>
                  <a:pt x="255" y="0"/>
                </a:lnTo>
                <a:cubicBezTo>
                  <a:pt x="396" y="0"/>
                  <a:pt x="510" y="114"/>
                  <a:pt x="510" y="255"/>
                </a:cubicBezTo>
                <a:lnTo>
                  <a:pt x="510" y="255"/>
                </a:lnTo>
                <a:cubicBezTo>
                  <a:pt x="510" y="395"/>
                  <a:pt x="396" y="509"/>
                  <a:pt x="255" y="509"/>
                </a:cubicBezTo>
                <a:lnTo>
                  <a:pt x="255" y="509"/>
                </a:lnTo>
                <a:cubicBezTo>
                  <a:pt x="114" y="509"/>
                  <a:pt x="0" y="395"/>
                  <a:pt x="0" y="255"/>
                </a:cubicBezTo>
                <a:lnTo>
                  <a:pt x="0" y="255"/>
                </a:lnTo>
                <a:cubicBezTo>
                  <a:pt x="0" y="114"/>
                  <a:pt x="114" y="0"/>
                  <a:pt x="255" y="0"/>
                </a:cubicBezTo>
              </a:path>
            </a:pathLst>
          </a:custGeom>
          <a:solidFill>
            <a:srgbClr val="1B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9" name="Google Shape;129;g3a218d63378_0_580"/>
          <p:cNvSpPr/>
          <p:nvPr/>
        </p:nvSpPr>
        <p:spPr>
          <a:xfrm>
            <a:off x="1831252" y="1011668"/>
            <a:ext cx="1078371" cy="391449"/>
          </a:xfrm>
          <a:custGeom>
            <a:rect b="b" l="l" r="r" t="t"/>
            <a:pathLst>
              <a:path extrusionOk="0" h="918" w="2525">
                <a:moveTo>
                  <a:pt x="2118" y="0"/>
                </a:moveTo>
                <a:lnTo>
                  <a:pt x="102" y="0"/>
                </a:lnTo>
                <a:lnTo>
                  <a:pt x="102" y="0"/>
                </a:lnTo>
                <a:cubicBezTo>
                  <a:pt x="46" y="0"/>
                  <a:pt x="0" y="46"/>
                  <a:pt x="0" y="102"/>
                </a:cubicBezTo>
                <a:lnTo>
                  <a:pt x="0" y="816"/>
                </a:lnTo>
                <a:lnTo>
                  <a:pt x="0" y="816"/>
                </a:lnTo>
                <a:cubicBezTo>
                  <a:pt x="0" y="872"/>
                  <a:pt x="46" y="917"/>
                  <a:pt x="102" y="917"/>
                </a:cubicBezTo>
                <a:lnTo>
                  <a:pt x="2118" y="917"/>
                </a:lnTo>
                <a:lnTo>
                  <a:pt x="2118" y="917"/>
                </a:lnTo>
                <a:cubicBezTo>
                  <a:pt x="2148" y="917"/>
                  <a:pt x="2176" y="904"/>
                  <a:pt x="2196" y="880"/>
                </a:cubicBezTo>
                <a:lnTo>
                  <a:pt x="2493" y="524"/>
                </a:lnTo>
                <a:lnTo>
                  <a:pt x="2493" y="524"/>
                </a:lnTo>
                <a:cubicBezTo>
                  <a:pt x="2524" y="486"/>
                  <a:pt x="2524" y="431"/>
                  <a:pt x="2493" y="393"/>
                </a:cubicBezTo>
                <a:lnTo>
                  <a:pt x="2196" y="36"/>
                </a:lnTo>
                <a:lnTo>
                  <a:pt x="2196" y="36"/>
                </a:lnTo>
                <a:cubicBezTo>
                  <a:pt x="2176" y="13"/>
                  <a:pt x="2148" y="0"/>
                  <a:pt x="2118" y="0"/>
                </a:cubicBezTo>
              </a:path>
            </a:pathLst>
          </a:custGeom>
          <a:solidFill>
            <a:srgbClr val="1B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0" name="Google Shape;130;g3a218d63378_0_580"/>
          <p:cNvSpPr/>
          <p:nvPr/>
        </p:nvSpPr>
        <p:spPr>
          <a:xfrm>
            <a:off x="3635111" y="2462596"/>
            <a:ext cx="218311" cy="218309"/>
          </a:xfrm>
          <a:custGeom>
            <a:rect b="b" l="l" r="r" t="t"/>
            <a:pathLst>
              <a:path extrusionOk="0" h="511" w="511">
                <a:moveTo>
                  <a:pt x="255" y="0"/>
                </a:moveTo>
                <a:lnTo>
                  <a:pt x="255" y="0"/>
                </a:lnTo>
                <a:cubicBezTo>
                  <a:pt x="396" y="0"/>
                  <a:pt x="510" y="114"/>
                  <a:pt x="510" y="255"/>
                </a:cubicBezTo>
                <a:lnTo>
                  <a:pt x="510" y="255"/>
                </a:lnTo>
                <a:cubicBezTo>
                  <a:pt x="510" y="395"/>
                  <a:pt x="396" y="510"/>
                  <a:pt x="255" y="510"/>
                </a:cubicBezTo>
                <a:lnTo>
                  <a:pt x="255" y="510"/>
                </a:lnTo>
                <a:cubicBezTo>
                  <a:pt x="115" y="510"/>
                  <a:pt x="0" y="395"/>
                  <a:pt x="0" y="255"/>
                </a:cubicBezTo>
                <a:lnTo>
                  <a:pt x="0" y="255"/>
                </a:lnTo>
                <a:cubicBezTo>
                  <a:pt x="0" y="114"/>
                  <a:pt x="115" y="0"/>
                  <a:pt x="255" y="0"/>
                </a:cubicBezTo>
              </a:path>
            </a:pathLst>
          </a:custGeom>
          <a:solidFill>
            <a:srgbClr val="1B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1" name="Google Shape;131;g3a218d63378_0_580"/>
          <p:cNvSpPr/>
          <p:nvPr/>
        </p:nvSpPr>
        <p:spPr>
          <a:xfrm>
            <a:off x="3984522" y="3914972"/>
            <a:ext cx="218311" cy="218309"/>
          </a:xfrm>
          <a:custGeom>
            <a:rect b="b" l="l" r="r" t="t"/>
            <a:pathLst>
              <a:path extrusionOk="0" h="511" w="511">
                <a:moveTo>
                  <a:pt x="255" y="0"/>
                </a:moveTo>
                <a:lnTo>
                  <a:pt x="255" y="0"/>
                </a:lnTo>
                <a:cubicBezTo>
                  <a:pt x="396" y="0"/>
                  <a:pt x="510" y="114"/>
                  <a:pt x="510" y="255"/>
                </a:cubicBezTo>
                <a:lnTo>
                  <a:pt x="510" y="255"/>
                </a:lnTo>
                <a:cubicBezTo>
                  <a:pt x="510" y="395"/>
                  <a:pt x="396" y="510"/>
                  <a:pt x="255" y="510"/>
                </a:cubicBezTo>
                <a:lnTo>
                  <a:pt x="255" y="510"/>
                </a:lnTo>
                <a:cubicBezTo>
                  <a:pt x="115" y="510"/>
                  <a:pt x="0" y="395"/>
                  <a:pt x="0" y="255"/>
                </a:cubicBezTo>
                <a:lnTo>
                  <a:pt x="0" y="255"/>
                </a:lnTo>
                <a:cubicBezTo>
                  <a:pt x="0" y="114"/>
                  <a:pt x="115" y="0"/>
                  <a:pt x="255" y="0"/>
                </a:cubicBezTo>
              </a:path>
            </a:pathLst>
          </a:custGeom>
          <a:solidFill>
            <a:srgbClr val="1B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2" name="Google Shape;132;g3a218d63378_0_580"/>
          <p:cNvSpPr txBox="1"/>
          <p:nvPr/>
        </p:nvSpPr>
        <p:spPr>
          <a:xfrm>
            <a:off x="1859281" y="1094607"/>
            <a:ext cx="95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CURTO PRAZO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a218d63378_0_580"/>
          <p:cNvSpPr txBox="1"/>
          <p:nvPr/>
        </p:nvSpPr>
        <p:spPr>
          <a:xfrm>
            <a:off x="3746448" y="1017638"/>
            <a:ext cx="285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2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Criação de documentos para iniciar a </a:t>
            </a: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máquina</a:t>
            </a: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 comercial</a:t>
            </a:r>
            <a:endParaRPr b="0" i="0" sz="1100" u="none" cap="none" strike="noStrike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4" name="Google Shape;134;g3a218d63378_0_580"/>
          <p:cNvSpPr txBox="1"/>
          <p:nvPr/>
        </p:nvSpPr>
        <p:spPr>
          <a:xfrm>
            <a:off x="4460637" y="3861951"/>
            <a:ext cx="285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2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73757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Escalar a área comercial</a:t>
            </a:r>
            <a:endParaRPr sz="1100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Possível</a:t>
            </a: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 contratação e formação de time pré-vendas e vendas</a:t>
            </a:r>
            <a:endParaRPr sz="1100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5" name="Google Shape;135;g3a218d63378_0_580"/>
          <p:cNvSpPr txBox="1"/>
          <p:nvPr/>
        </p:nvSpPr>
        <p:spPr>
          <a:xfrm>
            <a:off x="3984536" y="2387109"/>
            <a:ext cx="285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2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73757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Implementar CRM</a:t>
            </a:r>
            <a:endParaRPr sz="1100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572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737572"/>
                </a:solidFill>
                <a:latin typeface="Roboto Light"/>
                <a:ea typeface="Roboto Light"/>
                <a:cs typeface="Roboto Light"/>
                <a:sym typeface="Roboto Light"/>
              </a:rPr>
              <a:t>Padronizar a área comercial</a:t>
            </a:r>
            <a:endParaRPr sz="1100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73757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6" name="Google Shape;136;g3a218d63378_0_580"/>
          <p:cNvSpPr/>
          <p:nvPr/>
        </p:nvSpPr>
        <p:spPr>
          <a:xfrm>
            <a:off x="1831252" y="2376018"/>
            <a:ext cx="1078371" cy="391449"/>
          </a:xfrm>
          <a:custGeom>
            <a:rect b="b" l="l" r="r" t="t"/>
            <a:pathLst>
              <a:path extrusionOk="0" h="918" w="2525">
                <a:moveTo>
                  <a:pt x="2118" y="0"/>
                </a:moveTo>
                <a:lnTo>
                  <a:pt x="102" y="0"/>
                </a:lnTo>
                <a:lnTo>
                  <a:pt x="102" y="0"/>
                </a:lnTo>
                <a:cubicBezTo>
                  <a:pt x="46" y="0"/>
                  <a:pt x="0" y="46"/>
                  <a:pt x="0" y="102"/>
                </a:cubicBezTo>
                <a:lnTo>
                  <a:pt x="0" y="816"/>
                </a:lnTo>
                <a:lnTo>
                  <a:pt x="0" y="816"/>
                </a:lnTo>
                <a:cubicBezTo>
                  <a:pt x="0" y="872"/>
                  <a:pt x="46" y="917"/>
                  <a:pt x="102" y="917"/>
                </a:cubicBezTo>
                <a:lnTo>
                  <a:pt x="2118" y="917"/>
                </a:lnTo>
                <a:lnTo>
                  <a:pt x="2118" y="917"/>
                </a:lnTo>
                <a:cubicBezTo>
                  <a:pt x="2148" y="917"/>
                  <a:pt x="2176" y="904"/>
                  <a:pt x="2196" y="880"/>
                </a:cubicBezTo>
                <a:lnTo>
                  <a:pt x="2493" y="524"/>
                </a:lnTo>
                <a:lnTo>
                  <a:pt x="2493" y="524"/>
                </a:lnTo>
                <a:cubicBezTo>
                  <a:pt x="2524" y="486"/>
                  <a:pt x="2524" y="431"/>
                  <a:pt x="2493" y="393"/>
                </a:cubicBezTo>
                <a:lnTo>
                  <a:pt x="2196" y="36"/>
                </a:lnTo>
                <a:lnTo>
                  <a:pt x="2196" y="36"/>
                </a:lnTo>
                <a:cubicBezTo>
                  <a:pt x="2176" y="13"/>
                  <a:pt x="2148" y="0"/>
                  <a:pt x="2118" y="0"/>
                </a:cubicBezTo>
              </a:path>
            </a:pathLst>
          </a:custGeom>
          <a:solidFill>
            <a:srgbClr val="1B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7" name="Google Shape;137;g3a218d63378_0_580"/>
          <p:cNvSpPr txBox="1"/>
          <p:nvPr/>
        </p:nvSpPr>
        <p:spPr>
          <a:xfrm>
            <a:off x="1859281" y="2458957"/>
            <a:ext cx="95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MÉDIO PRAZO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g3a218d63378_0_580"/>
          <p:cNvSpPr/>
          <p:nvPr/>
        </p:nvSpPr>
        <p:spPr>
          <a:xfrm>
            <a:off x="1831252" y="3833493"/>
            <a:ext cx="1078371" cy="391449"/>
          </a:xfrm>
          <a:custGeom>
            <a:rect b="b" l="l" r="r" t="t"/>
            <a:pathLst>
              <a:path extrusionOk="0" h="918" w="2525">
                <a:moveTo>
                  <a:pt x="2118" y="0"/>
                </a:moveTo>
                <a:lnTo>
                  <a:pt x="102" y="0"/>
                </a:lnTo>
                <a:lnTo>
                  <a:pt x="102" y="0"/>
                </a:lnTo>
                <a:cubicBezTo>
                  <a:pt x="46" y="0"/>
                  <a:pt x="0" y="46"/>
                  <a:pt x="0" y="102"/>
                </a:cubicBezTo>
                <a:lnTo>
                  <a:pt x="0" y="816"/>
                </a:lnTo>
                <a:lnTo>
                  <a:pt x="0" y="816"/>
                </a:lnTo>
                <a:cubicBezTo>
                  <a:pt x="0" y="872"/>
                  <a:pt x="46" y="917"/>
                  <a:pt x="102" y="917"/>
                </a:cubicBezTo>
                <a:lnTo>
                  <a:pt x="2118" y="917"/>
                </a:lnTo>
                <a:lnTo>
                  <a:pt x="2118" y="917"/>
                </a:lnTo>
                <a:cubicBezTo>
                  <a:pt x="2148" y="917"/>
                  <a:pt x="2176" y="904"/>
                  <a:pt x="2196" y="880"/>
                </a:cubicBezTo>
                <a:lnTo>
                  <a:pt x="2493" y="524"/>
                </a:lnTo>
                <a:lnTo>
                  <a:pt x="2493" y="524"/>
                </a:lnTo>
                <a:cubicBezTo>
                  <a:pt x="2524" y="486"/>
                  <a:pt x="2524" y="431"/>
                  <a:pt x="2493" y="393"/>
                </a:cubicBezTo>
                <a:lnTo>
                  <a:pt x="2196" y="36"/>
                </a:lnTo>
                <a:lnTo>
                  <a:pt x="2196" y="36"/>
                </a:lnTo>
                <a:cubicBezTo>
                  <a:pt x="2176" y="13"/>
                  <a:pt x="2148" y="0"/>
                  <a:pt x="2118" y="0"/>
                </a:cubicBezTo>
              </a:path>
            </a:pathLst>
          </a:custGeom>
          <a:solidFill>
            <a:srgbClr val="1B1B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0"/>
              <a:buFont typeface="Arial"/>
              <a:buNone/>
            </a:pPr>
            <a:r>
              <a:t/>
            </a:r>
            <a:endParaRPr b="0" i="0" sz="6530" u="none" cap="none" strike="noStrike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9" name="Google Shape;139;g3a218d63378_0_580"/>
          <p:cNvSpPr txBox="1"/>
          <p:nvPr/>
        </p:nvSpPr>
        <p:spPr>
          <a:xfrm>
            <a:off x="1859281" y="3916432"/>
            <a:ext cx="95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LONGO PRAZO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a218d63378_0_326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a218d63378_0_326"/>
          <p:cNvSpPr txBox="1"/>
          <p:nvPr/>
        </p:nvSpPr>
        <p:spPr>
          <a:xfrm>
            <a:off x="4373925" y="807991"/>
            <a:ext cx="4175400" cy="51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AutoNum type="arabicPeriod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Modelo de Receita Sólido: A empresa opera com Receita Recorrente Mensal (MRR) e não possui histórico significativo de cancelamentos (churn).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AutoNum type="arabicPeriod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Proposta de Valor Forte: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○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Oferece alto custo-benefício, especialmente para clínicas e hospitais de pequeno e médio porte.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○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Garante agilidade na implementação (cerca de 7 dias) e redução de custos operacionais.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AutoNum type="arabicPeriod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Conformidade e Segurança: Possui certificação da Anvisa, destacada como um forte diferencial competitivo perante concorrentes.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AutoNum type="arabicPeriod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Serviços e Tecnologia: Os produtos centrais (PACS, telelaudo e laudo de gestão) oferecem funcionalidades como controle gerencial em tempo real e personalização de laudos.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AutoNum type="arabicPeriod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Abordagem de Vendas: A abordagem atual é consultiva, adaptada para focar em economia para proprietários e em ferramentas/agilidade para médicos.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AutoNum type="arabicPeriod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Rentabilidade do Telelaudo: O serviço de telelaudo é lucrativo em contratos de grande volume, como hospitais de municípios.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Light"/>
              <a:buAutoNum type="arabicPeriod"/>
            </a:pPr>
            <a:r>
              <a:rPr b="0" i="0" lang="pt-BR" sz="11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HIJKLMN</a:t>
            </a:r>
            <a:endParaRPr b="0" i="0" sz="11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Roboto Light"/>
              <a:buAutoNum type="arabicPeriod"/>
            </a:pPr>
            <a:r>
              <a:rPr b="0" i="0" lang="pt-BR" sz="11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OPQRSTU</a:t>
            </a:r>
            <a:endParaRPr b="0" i="0" sz="11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" name="Google Shape;147;g3a218d63378_0_326"/>
          <p:cNvSpPr txBox="1"/>
          <p:nvPr/>
        </p:nvSpPr>
        <p:spPr>
          <a:xfrm>
            <a:off x="527057" y="663150"/>
            <a:ext cx="3336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PRINCIPAIS PONTOS:</a:t>
            </a:r>
            <a:r>
              <a:rPr b="0" i="0" lang="pt-BR" sz="21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i="0" lang="pt-BR" sz="21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POSITIVOS QUE VALEM REFORÇAR</a:t>
            </a:r>
            <a:endParaRPr b="0" i="0" sz="21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a218d63378_0_410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a218d63378_0_410"/>
          <p:cNvSpPr txBox="1"/>
          <p:nvPr/>
        </p:nvSpPr>
        <p:spPr>
          <a:xfrm>
            <a:off x="3796725" y="862500"/>
            <a:ext cx="5021700" cy="3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Estrutura Comercial Informal: A operação comercial é informal, descentralizada e depende excessivamente dos sócios, que acumulam outras funções como finanças e suporte.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Dependência de Indicações: 95% dos clientes vêm por meio de indicações pessoais ou networking, com marketing tradicional inexistente.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Falta de Estrutura e Indicadores: Há ausência de processos comerciais estruturados e falta de indicadores de desempenho (KPIs), o que limita o crescimento e causa estagnação.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Necessidade de Tecnologia: Não há uso de tecnologia específica de vendas, sendo necessária a implementação de um CRM e o estabelecimento de funis de vendas claros (MQL, SQL).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Materiais de Venda: É preciso padronizar materiais comerciais, como apresentações e modelos de proposta, buscando objetividade.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Capacidade de Entrega: Existe incerteza quanto à capacidade do time atual de suporte lidar com um aumento expressivo e simultâneo no volume de novas implementações.</a:t>
            </a:r>
            <a:endParaRPr sz="1100">
              <a:solidFill>
                <a:srgbClr val="EBEBEB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pt-BR" sz="11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Baixa Viabilidade: O serviço de telelaudo tem baixa viabilidade econômica em clínicas muito pequenas.</a:t>
            </a:r>
            <a:endParaRPr sz="1100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" name="Google Shape;155;g3a218d63378_0_410"/>
          <p:cNvSpPr txBox="1"/>
          <p:nvPr/>
        </p:nvSpPr>
        <p:spPr>
          <a:xfrm>
            <a:off x="527057" y="663150"/>
            <a:ext cx="3336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PRINCIPAIS PONTOS:</a:t>
            </a:r>
            <a:r>
              <a:rPr b="0" i="0" lang="pt-BR" sz="2100" u="none" cap="none" strike="noStrike">
                <a:solidFill>
                  <a:srgbClr val="EBEBEB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i="0" lang="pt-BR" sz="21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MELHORIAS E OPORTUNIDADES</a:t>
            </a:r>
            <a:endParaRPr b="0" i="0" sz="21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218d63378_0_541"/>
          <p:cNvSpPr txBox="1"/>
          <p:nvPr/>
        </p:nvSpPr>
        <p:spPr>
          <a:xfrm>
            <a:off x="887850" y="258275"/>
            <a:ext cx="73683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pt-BR" sz="23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ESTRATÉGIAS DE CRESCIMENTO</a:t>
            </a:r>
            <a:endParaRPr b="0" i="0" sz="23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g3a218d63378_0_541"/>
          <p:cNvPicPr preferRelativeResize="0"/>
          <p:nvPr/>
        </p:nvPicPr>
        <p:blipFill rotWithShape="1">
          <a:blip r:embed="rId4">
            <a:alphaModFix/>
          </a:blip>
          <a:srcRect b="5606" l="6498" r="0" t="0"/>
          <a:stretch/>
        </p:blipFill>
        <p:spPr>
          <a:xfrm>
            <a:off x="724625" y="1309900"/>
            <a:ext cx="3400837" cy="33494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a218d63378_0_541"/>
          <p:cNvSpPr/>
          <p:nvPr/>
        </p:nvSpPr>
        <p:spPr>
          <a:xfrm>
            <a:off x="4540790" y="3206595"/>
            <a:ext cx="3914400" cy="399600"/>
          </a:xfrm>
          <a:prstGeom prst="roundRect">
            <a:avLst>
              <a:gd fmla="val 14656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t" bIns="84350" lIns="84350" spcFirstLastPara="1" rIns="84350" wrap="square" tIns="84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rPr b="1" i="0" lang="pt-BR" sz="1199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Estratégia Ativa: </a:t>
            </a:r>
            <a:endParaRPr b="1" i="0" sz="1199" u="none" cap="none" strike="noStrike">
              <a:solidFill>
                <a:srgbClr val="F5F5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g3a218d63378_0_541"/>
          <p:cNvSpPr/>
          <p:nvPr/>
        </p:nvSpPr>
        <p:spPr>
          <a:xfrm>
            <a:off x="4540790" y="3686201"/>
            <a:ext cx="3914400" cy="399600"/>
          </a:xfrm>
          <a:prstGeom prst="roundRect">
            <a:avLst>
              <a:gd fmla="val 14656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t" bIns="84350" lIns="84350" spcFirstLastPara="1" rIns="84350" wrap="square" tIns="84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rPr b="1" i="0" lang="pt-BR" sz="1199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Estratégia de Expansão: </a:t>
            </a:r>
            <a:endParaRPr b="1" i="0" sz="1199" u="none" cap="none" strike="noStrike">
              <a:solidFill>
                <a:srgbClr val="F5F5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g3a218d63378_0_541"/>
          <p:cNvSpPr/>
          <p:nvPr/>
        </p:nvSpPr>
        <p:spPr>
          <a:xfrm>
            <a:off x="4540790" y="2624708"/>
            <a:ext cx="3914400" cy="522900"/>
          </a:xfrm>
          <a:prstGeom prst="roundRect">
            <a:avLst>
              <a:gd fmla="val 14656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t" bIns="84350" lIns="84350" spcFirstLastPara="1" rIns="84350" wrap="square" tIns="84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rPr b="1" i="0" lang="pt-BR" sz="1199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Estratégia Receptiva: </a:t>
            </a:r>
            <a:endParaRPr b="1" i="0" sz="1199" u="none" cap="none" strike="noStrike">
              <a:solidFill>
                <a:srgbClr val="F5F5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g3a218d63378_0_541"/>
          <p:cNvSpPr/>
          <p:nvPr/>
        </p:nvSpPr>
        <p:spPr>
          <a:xfrm>
            <a:off x="4507765" y="2042809"/>
            <a:ext cx="3914400" cy="522900"/>
          </a:xfrm>
          <a:prstGeom prst="roundRect">
            <a:avLst>
              <a:gd fmla="val 14656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t" bIns="84350" lIns="84350" spcFirstLastPara="1" rIns="84350" wrap="square" tIns="84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rPr b="1" i="0" lang="pt-BR" sz="1199" u="none" cap="none" strike="noStrik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Estratégia de Recuperação: </a:t>
            </a:r>
            <a:endParaRPr b="1" i="0" sz="1199" u="none" cap="none" strike="noStrike">
              <a:solidFill>
                <a:srgbClr val="F5F5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a218d63378_2_48" title="Página 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7681" y="3199690"/>
            <a:ext cx="192776" cy="3644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g3a218d63378_2_48"/>
          <p:cNvGrpSpPr/>
          <p:nvPr/>
        </p:nvGrpSpPr>
        <p:grpSpPr>
          <a:xfrm flipH="1">
            <a:off x="3382191" y="1743111"/>
            <a:ext cx="2379620" cy="2383359"/>
            <a:chOff x="2849350" y="1062975"/>
            <a:chExt cx="3031750" cy="3036513"/>
          </a:xfrm>
        </p:grpSpPr>
        <p:pic>
          <p:nvPicPr>
            <p:cNvPr id="172" name="Google Shape;172;g3a218d63378_2_48" title="circulo fluxo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72325" y="2590713"/>
              <a:ext cx="1508775" cy="150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g3a218d63378_2_48" title="circulo fluxo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5400000">
              <a:off x="4372325" y="1062975"/>
              <a:ext cx="1508775" cy="150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g3a218d63378_2_48" title="circulo fluxo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49350" y="1062975"/>
              <a:ext cx="1508775" cy="150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g3a218d63378_2_48" title="circulo fluxo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2849350" y="2590713"/>
              <a:ext cx="1508775" cy="1508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g3a218d63378_2_48"/>
          <p:cNvSpPr txBox="1"/>
          <p:nvPr/>
        </p:nvSpPr>
        <p:spPr>
          <a:xfrm>
            <a:off x="1081475" y="3593100"/>
            <a:ext cx="2290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IV. MÉTRICAS: 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01) Definição de Indicadores e Metas para cada etapa dos Processos Envolvidos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3a218d63378_2_48"/>
          <p:cNvSpPr txBox="1"/>
          <p:nvPr/>
        </p:nvSpPr>
        <p:spPr>
          <a:xfrm>
            <a:off x="1081475" y="2019688"/>
            <a:ext cx="2029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I. ICPs: 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01) Definição de PERFIS DE CLIENTE IDEAL alvos da Campanha</a:t>
            </a:r>
            <a:endParaRPr b="1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g3a218d63378_2_48" title="Página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7676" y="1649263"/>
            <a:ext cx="371006" cy="367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a218d63378_2_48" title="Página 2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2284" y="3199536"/>
            <a:ext cx="348993" cy="36471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a218d63378_2_48"/>
          <p:cNvSpPr txBox="1"/>
          <p:nvPr/>
        </p:nvSpPr>
        <p:spPr>
          <a:xfrm>
            <a:off x="3924308" y="2801828"/>
            <a:ext cx="12957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DIAGNÓSTICO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a218d63378_2_48"/>
          <p:cNvSpPr txBox="1"/>
          <p:nvPr/>
        </p:nvSpPr>
        <p:spPr>
          <a:xfrm>
            <a:off x="3714841" y="2051656"/>
            <a:ext cx="173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endParaRPr b="0" i="0" sz="8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a218d63378_2_48"/>
          <p:cNvSpPr txBox="1"/>
          <p:nvPr/>
        </p:nvSpPr>
        <p:spPr>
          <a:xfrm>
            <a:off x="3677951" y="3621013"/>
            <a:ext cx="34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IV</a:t>
            </a:r>
            <a:endParaRPr b="0" i="0" sz="8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a218d63378_2_48"/>
          <p:cNvSpPr txBox="1"/>
          <p:nvPr/>
        </p:nvSpPr>
        <p:spPr>
          <a:xfrm>
            <a:off x="5113173" y="2051663"/>
            <a:ext cx="4248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II</a:t>
            </a:r>
            <a:endParaRPr b="0" i="0" sz="8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a218d63378_2_48"/>
          <p:cNvSpPr txBox="1"/>
          <p:nvPr/>
        </p:nvSpPr>
        <p:spPr>
          <a:xfrm>
            <a:off x="5209999" y="3607350"/>
            <a:ext cx="30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III </a:t>
            </a:r>
            <a:endParaRPr b="0" i="0" sz="800" u="none" cap="none" strike="noStrike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a218d63378_2_48"/>
          <p:cNvSpPr txBox="1"/>
          <p:nvPr/>
        </p:nvSpPr>
        <p:spPr>
          <a:xfrm>
            <a:off x="6261000" y="3593088"/>
            <a:ext cx="2290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III. DISCURSOS: 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01) Adequação dos Discursos da PUV para o contexto da Campanha (Estratégia, ICP e Processos)</a:t>
            </a:r>
            <a:endParaRPr b="1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g3a218d63378_2_48"/>
          <p:cNvSpPr txBox="1"/>
          <p:nvPr/>
        </p:nvSpPr>
        <p:spPr>
          <a:xfrm>
            <a:off x="6261000" y="2000250"/>
            <a:ext cx="2290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II. PROCESSOS: 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01) Definição dos Processos envolvidos: etapas, objetivos, checklists</a:t>
            </a:r>
            <a:endParaRPr b="1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g3a218d63378_2_48" title="[DEALWISE] Logotipo_Horizontal 03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a218d63378_2_48"/>
          <p:cNvSpPr txBox="1"/>
          <p:nvPr/>
        </p:nvSpPr>
        <p:spPr>
          <a:xfrm>
            <a:off x="3924308" y="1470097"/>
            <a:ext cx="12957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DIRECIONAMENTO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a218d63378_2_48"/>
          <p:cNvSpPr txBox="1"/>
          <p:nvPr/>
        </p:nvSpPr>
        <p:spPr>
          <a:xfrm>
            <a:off x="3924308" y="4133547"/>
            <a:ext cx="12957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MENSURAÇÃO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3a218d63378_2_48"/>
          <p:cNvSpPr txBox="1"/>
          <p:nvPr/>
        </p:nvSpPr>
        <p:spPr>
          <a:xfrm rot="-5400000">
            <a:off x="5247158" y="2801822"/>
            <a:ext cx="12954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ESPECIALIZAÇÃO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a218d63378_2_48"/>
          <p:cNvSpPr txBox="1"/>
          <p:nvPr/>
        </p:nvSpPr>
        <p:spPr>
          <a:xfrm rot="-5400000">
            <a:off x="2595952" y="2801822"/>
            <a:ext cx="12954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pt-BR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MELHORIA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" name="Google Shape;192;g3a218d63378_2_48"/>
          <p:cNvCxnSpPr/>
          <p:nvPr/>
        </p:nvCxnSpPr>
        <p:spPr>
          <a:xfrm>
            <a:off x="2164938" y="2142963"/>
            <a:ext cx="1410000" cy="0"/>
          </a:xfrm>
          <a:prstGeom prst="straightConnector1">
            <a:avLst/>
          </a:pr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g3a218d63378_2_48"/>
          <p:cNvCxnSpPr/>
          <p:nvPr/>
        </p:nvCxnSpPr>
        <p:spPr>
          <a:xfrm>
            <a:off x="2164938" y="3715050"/>
            <a:ext cx="1410000" cy="0"/>
          </a:xfrm>
          <a:prstGeom prst="straightConnector1">
            <a:avLst/>
          </a:pr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g3a218d63378_2_48"/>
          <p:cNvCxnSpPr/>
          <p:nvPr/>
        </p:nvCxnSpPr>
        <p:spPr>
          <a:xfrm>
            <a:off x="5582288" y="2142963"/>
            <a:ext cx="697800" cy="0"/>
          </a:xfrm>
          <a:prstGeom prst="straightConnector1">
            <a:avLst/>
          </a:pr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g3a218d63378_2_48"/>
          <p:cNvCxnSpPr/>
          <p:nvPr/>
        </p:nvCxnSpPr>
        <p:spPr>
          <a:xfrm>
            <a:off x="5582288" y="3715050"/>
            <a:ext cx="697800" cy="0"/>
          </a:xfrm>
          <a:prstGeom prst="straightConnector1">
            <a:avLst/>
          </a:prstGeom>
          <a:noFill/>
          <a:ln cap="flat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6" name="Google Shape;196;g3a218d63378_2_48" title="Página 4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2284" y="1666167"/>
            <a:ext cx="348993" cy="33407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a218d63378_2_48"/>
          <p:cNvSpPr txBox="1"/>
          <p:nvPr/>
        </p:nvSpPr>
        <p:spPr>
          <a:xfrm>
            <a:off x="25" y="50250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F5F5F5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 QUE É UMA: </a:t>
            </a:r>
            <a:r>
              <a:rPr b="0" i="0" lang="pt-BR" sz="2300" u="none" cap="none" strike="noStrike">
                <a:solidFill>
                  <a:srgbClr val="F5F5F5"/>
                </a:solidFill>
                <a:latin typeface="Roboto Black"/>
                <a:ea typeface="Roboto Black"/>
                <a:cs typeface="Roboto Black"/>
                <a:sym typeface="Roboto Black"/>
              </a:rPr>
              <a:t>CAMPANHA?</a:t>
            </a:r>
            <a:endParaRPr b="0" i="0" sz="2300" u="none" cap="none" strike="noStrike">
              <a:solidFill>
                <a:srgbClr val="F5F5F5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a218d63378_2_130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a218d63378_2_130"/>
          <p:cNvSpPr txBox="1"/>
          <p:nvPr/>
        </p:nvSpPr>
        <p:spPr>
          <a:xfrm>
            <a:off x="395400" y="356569"/>
            <a:ext cx="83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FLUXO DO PROCESSO</a:t>
            </a:r>
            <a:endParaRPr b="0" i="0" sz="2300" u="none" cap="none" strike="noStrike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4" name="Google Shape;204;g3a218d63378_2_130"/>
          <p:cNvSpPr txBox="1"/>
          <p:nvPr/>
        </p:nvSpPr>
        <p:spPr>
          <a:xfrm>
            <a:off x="4773528" y="1264844"/>
            <a:ext cx="14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25" lIns="37425" spcFirstLastPara="1" rIns="37425" wrap="square" tIns="3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chemeClr val="dk1"/>
              </a:buClr>
              <a:buSzPts val="491"/>
              <a:buFont typeface="Arial"/>
              <a:buNone/>
            </a:pPr>
            <a:r>
              <a:rPr b="1" i="0" lang="pt-BR" sz="1309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Receptiva</a:t>
            </a:r>
            <a:endParaRPr b="0" i="0" sz="572" u="none" cap="none" strike="noStrike">
              <a:solidFill>
                <a:schemeClr val="lt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5" name="Google Shape;205;g3a218d63378_2_130"/>
          <p:cNvSpPr txBox="1"/>
          <p:nvPr/>
        </p:nvSpPr>
        <p:spPr>
          <a:xfrm>
            <a:off x="6503745" y="1264854"/>
            <a:ext cx="15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25" lIns="37425" spcFirstLastPara="1" rIns="37425" wrap="square" tIns="3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9"/>
              </a:spcAft>
              <a:buClr>
                <a:schemeClr val="dk1"/>
              </a:buClr>
              <a:buSzPts val="491"/>
              <a:buFont typeface="Arial"/>
              <a:buNone/>
            </a:pPr>
            <a:r>
              <a:rPr b="1" i="0" lang="pt-BR" sz="1309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Expansão</a:t>
            </a:r>
            <a:endParaRPr b="0" i="0" sz="572" u="none" cap="none" strike="noStrike">
              <a:solidFill>
                <a:schemeClr val="lt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06" name="Google Shape;206;g3a218d63378_2_130" title="Página 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4171" y="1312620"/>
            <a:ext cx="173795" cy="18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a218d63378_2_130" title="efrgthj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2990" y="1255450"/>
            <a:ext cx="296164" cy="2959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g3a218d63378_2_130"/>
          <p:cNvGrpSpPr/>
          <p:nvPr/>
        </p:nvGrpSpPr>
        <p:grpSpPr>
          <a:xfrm>
            <a:off x="2682031" y="1261632"/>
            <a:ext cx="1427769" cy="295966"/>
            <a:chOff x="2682031" y="1261632"/>
            <a:chExt cx="1427769" cy="295966"/>
          </a:xfrm>
        </p:grpSpPr>
        <p:pic>
          <p:nvPicPr>
            <p:cNvPr id="209" name="Google Shape;209;g3a218d63378_2_130" title="efrgthj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82031" y="1261632"/>
              <a:ext cx="296164" cy="2959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g3a218d63378_2_130"/>
            <p:cNvSpPr txBox="1"/>
            <p:nvPr/>
          </p:nvSpPr>
          <p:spPr>
            <a:xfrm>
              <a:off x="3043300" y="1264850"/>
              <a:ext cx="106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425" lIns="37425" spcFirstLastPara="1" rIns="37425" wrap="square" tIns="37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409"/>
                </a:spcAft>
                <a:buClr>
                  <a:schemeClr val="dk1"/>
                </a:buClr>
                <a:buSzPts val="491"/>
                <a:buFont typeface="Arial"/>
                <a:buNone/>
              </a:pPr>
              <a:r>
                <a:rPr b="1" i="0" lang="pt-BR" sz="1309" u="none" cap="none" strike="noStrike">
                  <a:solidFill>
                    <a:srgbClr val="EBEBEB"/>
                  </a:solidFill>
                  <a:latin typeface="Roboto"/>
                  <a:ea typeface="Roboto"/>
                  <a:cs typeface="Roboto"/>
                  <a:sym typeface="Roboto"/>
                </a:rPr>
                <a:t>Recuperação</a:t>
              </a:r>
              <a:endParaRPr b="1" i="0" sz="736" u="none" cap="none" strike="noStrike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11" name="Google Shape;211;g3a218d63378_2_130" title="Página 4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43221" y="1326437"/>
              <a:ext cx="173794" cy="1663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2" name="Google Shape;212;g3a218d63378_2_130" title="Página 3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6921" y="1318809"/>
            <a:ext cx="96089" cy="181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a218d63378_2_130" title="efrgthj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6884" y="1261632"/>
            <a:ext cx="296164" cy="2959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g3a218d63378_2_130"/>
          <p:cNvGrpSpPr/>
          <p:nvPr/>
        </p:nvGrpSpPr>
        <p:grpSpPr>
          <a:xfrm>
            <a:off x="952601" y="1255450"/>
            <a:ext cx="1103005" cy="295966"/>
            <a:chOff x="952550" y="1255450"/>
            <a:chExt cx="1103005" cy="295966"/>
          </a:xfrm>
        </p:grpSpPr>
        <p:sp>
          <p:nvSpPr>
            <p:cNvPr id="215" name="Google Shape;215;g3a218d63378_2_130"/>
            <p:cNvSpPr txBox="1"/>
            <p:nvPr/>
          </p:nvSpPr>
          <p:spPr>
            <a:xfrm>
              <a:off x="1291455" y="1271050"/>
              <a:ext cx="764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425" lIns="37425" spcFirstLastPara="1" rIns="37425" wrap="square" tIns="37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409"/>
                </a:spcAft>
                <a:buClr>
                  <a:schemeClr val="dk1"/>
                </a:buClr>
                <a:buSzPts val="491"/>
                <a:buFont typeface="Arial"/>
                <a:buNone/>
              </a:pPr>
              <a:r>
                <a:rPr b="1" i="0" lang="pt-BR" sz="1309" u="none" cap="none" strike="noStrike">
                  <a:solidFill>
                    <a:srgbClr val="EBEBEB"/>
                  </a:solidFill>
                  <a:latin typeface="Roboto"/>
                  <a:ea typeface="Roboto"/>
                  <a:cs typeface="Roboto"/>
                  <a:sym typeface="Roboto"/>
                </a:rPr>
                <a:t>Ativa</a:t>
              </a:r>
              <a:endParaRPr b="0" i="0" sz="572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16" name="Google Shape;216;g3a218d63378_2_130" title="Página 1.png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13738" y="1317262"/>
              <a:ext cx="173795" cy="172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g3a218d63378_2_130" title="efrgthj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2550" y="1255450"/>
              <a:ext cx="296164" cy="2959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8" name="Google Shape;218;g3a218d63378_2_130" title="traço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17109" y="1255455"/>
            <a:ext cx="7794" cy="313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a218d63378_2_130" title="traço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48062" y="1255455"/>
            <a:ext cx="7794" cy="313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a218d63378_2_130" title="traço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225" y="1255455"/>
            <a:ext cx="7794" cy="313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a218d63378_2_130"/>
          <p:cNvSpPr/>
          <p:nvPr/>
        </p:nvSpPr>
        <p:spPr>
          <a:xfrm>
            <a:off x="952553" y="1909115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Lista de Leads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g3a218d63378_2_130"/>
          <p:cNvSpPr/>
          <p:nvPr/>
        </p:nvSpPr>
        <p:spPr>
          <a:xfrm>
            <a:off x="952553" y="2418717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Tentativas de Contato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a218d63378_2_130"/>
          <p:cNvSpPr/>
          <p:nvPr/>
        </p:nvSpPr>
        <p:spPr>
          <a:xfrm>
            <a:off x="952553" y="2928319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Lead Conectado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a218d63378_2_130"/>
          <p:cNvSpPr/>
          <p:nvPr/>
        </p:nvSpPr>
        <p:spPr>
          <a:xfrm>
            <a:off x="3701496" y="3699739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Reunião Marcada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a218d63378_2_130"/>
          <p:cNvSpPr/>
          <p:nvPr/>
        </p:nvSpPr>
        <p:spPr>
          <a:xfrm>
            <a:off x="3702059" y="4066066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Reunião Realizada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a218d63378_2_130"/>
          <p:cNvSpPr/>
          <p:nvPr/>
        </p:nvSpPr>
        <p:spPr>
          <a:xfrm>
            <a:off x="2844365" y="1909115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Leads a Recuperar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a218d63378_2_130"/>
          <p:cNvSpPr/>
          <p:nvPr/>
        </p:nvSpPr>
        <p:spPr>
          <a:xfrm>
            <a:off x="2844365" y="2418717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Tentativas de Contato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3a218d63378_2_130"/>
          <p:cNvSpPr/>
          <p:nvPr/>
        </p:nvSpPr>
        <p:spPr>
          <a:xfrm>
            <a:off x="2844365" y="2928319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Lead Conectado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3a218d63378_2_130"/>
          <p:cNvSpPr/>
          <p:nvPr/>
        </p:nvSpPr>
        <p:spPr>
          <a:xfrm>
            <a:off x="4647969" y="1909115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Atendimento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g3a218d63378_2_130"/>
          <p:cNvSpPr/>
          <p:nvPr/>
        </p:nvSpPr>
        <p:spPr>
          <a:xfrm>
            <a:off x="4647969" y="2418717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Lead Conectado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g3a218d63378_2_130"/>
          <p:cNvSpPr/>
          <p:nvPr/>
        </p:nvSpPr>
        <p:spPr>
          <a:xfrm>
            <a:off x="4647969" y="2928319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Em Qualificação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a218d63378_2_130"/>
          <p:cNvSpPr/>
          <p:nvPr/>
        </p:nvSpPr>
        <p:spPr>
          <a:xfrm>
            <a:off x="6343001" y="1909115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Oportunidade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a218d63378_2_130"/>
          <p:cNvSpPr/>
          <p:nvPr/>
        </p:nvSpPr>
        <p:spPr>
          <a:xfrm>
            <a:off x="6343001" y="2418717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Tentativas de Contato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a218d63378_2_130"/>
          <p:cNvSpPr/>
          <p:nvPr/>
        </p:nvSpPr>
        <p:spPr>
          <a:xfrm>
            <a:off x="6343001" y="2928319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Lead Conectado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5" name="Google Shape;235;g3a218d63378_2_130"/>
          <p:cNvCxnSpPr>
            <a:stCxn id="223" idx="2"/>
            <a:endCxn id="224" idx="1"/>
          </p:cNvCxnSpPr>
          <p:nvPr/>
        </p:nvCxnSpPr>
        <p:spPr>
          <a:xfrm flipH="1" rot="-5400000">
            <a:off x="2291153" y="2437369"/>
            <a:ext cx="623400" cy="21975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36" name="Google Shape;236;g3a218d63378_2_130"/>
          <p:cNvCxnSpPr>
            <a:stCxn id="228" idx="2"/>
            <a:endCxn id="224" idx="1"/>
          </p:cNvCxnSpPr>
          <p:nvPr/>
        </p:nvCxnSpPr>
        <p:spPr>
          <a:xfrm flipH="1" rot="-5400000">
            <a:off x="3237065" y="3383269"/>
            <a:ext cx="623400" cy="3057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37" name="Google Shape;237;g3a218d63378_2_130"/>
          <p:cNvCxnSpPr>
            <a:stCxn id="231" idx="2"/>
            <a:endCxn id="224" idx="3"/>
          </p:cNvCxnSpPr>
          <p:nvPr/>
        </p:nvCxnSpPr>
        <p:spPr>
          <a:xfrm rot="5400000">
            <a:off x="4690419" y="3338719"/>
            <a:ext cx="623400" cy="3948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38" name="Google Shape;238;g3a218d63378_2_130"/>
          <p:cNvCxnSpPr>
            <a:stCxn id="234" idx="2"/>
            <a:endCxn id="224" idx="3"/>
          </p:cNvCxnSpPr>
          <p:nvPr/>
        </p:nvCxnSpPr>
        <p:spPr>
          <a:xfrm rot="5400000">
            <a:off x="5537801" y="2491069"/>
            <a:ext cx="623400" cy="20901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39" name="Google Shape;239;g3a218d63378_2_130"/>
          <p:cNvSpPr/>
          <p:nvPr/>
        </p:nvSpPr>
        <p:spPr>
          <a:xfrm>
            <a:off x="3700959" y="4467416"/>
            <a:ext cx="11031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044" scaled="0"/>
          </a:gradFill>
          <a:ln>
            <a:noFill/>
          </a:ln>
        </p:spPr>
        <p:txBody>
          <a:bodyPr anchorCtr="0" anchor="ctr" bIns="37425" lIns="37425" spcFirstLastPara="1" rIns="37425" wrap="square" tIns="3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1"/>
              <a:buFont typeface="Arial"/>
              <a:buNone/>
            </a:pPr>
            <a:r>
              <a:rPr b="1" i="0" lang="pt-BR" sz="818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Entrada para o Funil de Vendas</a:t>
            </a:r>
            <a:endParaRPr b="1" i="0" sz="818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c570bbd36_2_111"/>
          <p:cNvSpPr txBox="1"/>
          <p:nvPr/>
        </p:nvSpPr>
        <p:spPr>
          <a:xfrm>
            <a:off x="1352425" y="2280588"/>
            <a:ext cx="25569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(17) 9 9777-0592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dealwise.com.br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linkedin.com/company/deal-wise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@deal.wise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5" name="Google Shape;245;g35c570bbd36_2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450" y="1586563"/>
            <a:ext cx="2672625" cy="50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5c570bbd36_2_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450" y="3460713"/>
            <a:ext cx="207980" cy="20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5c570bbd36_2_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1098" y="3083023"/>
            <a:ext cx="214689" cy="21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5c570bbd36_2_1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1098" y="2731588"/>
            <a:ext cx="214689" cy="21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5c570bbd36_2_1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1097" y="2380177"/>
            <a:ext cx="214689" cy="21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