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y="5143500" cx="9144000"/>
  <p:notesSz cx="6858000" cy="9144000"/>
  <p:embeddedFontLst>
    <p:embeddedFont>
      <p:font typeface="Roboto ExtraLight"/>
      <p:regular r:id="rId19"/>
      <p:bold r:id="rId20"/>
      <p:italic r:id="rId21"/>
      <p:boldItalic r:id="rId22"/>
    </p:embeddedFont>
    <p:embeddedFont>
      <p:font typeface="Roboto Black"/>
      <p:bold r:id="rId23"/>
      <p:boldItalic r:id="rId24"/>
    </p:embeddedFont>
    <p:embeddedFont>
      <p:font typeface="Roboto"/>
      <p:regular r:id="rId25"/>
      <p:bold r:id="rId26"/>
      <p:italic r:id="rId27"/>
      <p:boldItalic r:id="rId28"/>
    </p:embeddedFont>
    <p:embeddedFont>
      <p:font typeface="Roboto Light"/>
      <p:regular r:id="rId29"/>
      <p:bold r:id="rId30"/>
      <p:italic r:id="rId31"/>
      <p:boldItalic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3" roundtripDataSignature="AMtx7mioiHDbnUXvitN+Z5hH5BvOVOS+y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ExtraLight-bold.fntdata"/><Relationship Id="rId22" Type="http://schemas.openxmlformats.org/officeDocument/2006/relationships/font" Target="fonts/RobotoExtraLight-boldItalic.fntdata"/><Relationship Id="rId21" Type="http://schemas.openxmlformats.org/officeDocument/2006/relationships/font" Target="fonts/RobotoExtraLight-italic.fntdata"/><Relationship Id="rId24" Type="http://schemas.openxmlformats.org/officeDocument/2006/relationships/font" Target="fonts/RobotoBlack-boldItalic.fntdata"/><Relationship Id="rId23" Type="http://schemas.openxmlformats.org/officeDocument/2006/relationships/font" Target="fonts/RobotoBlack-bold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Roboto-bold.fntdata"/><Relationship Id="rId25" Type="http://schemas.openxmlformats.org/officeDocument/2006/relationships/font" Target="fonts/Roboto-regular.fntdata"/><Relationship Id="rId28" Type="http://schemas.openxmlformats.org/officeDocument/2006/relationships/font" Target="fonts/Roboto-boldItalic.fntdata"/><Relationship Id="rId27" Type="http://schemas.openxmlformats.org/officeDocument/2006/relationships/font" Target="fonts/Roboto-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RobotoLight-regular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RobotoLight-italic.fntdata"/><Relationship Id="rId30" Type="http://schemas.openxmlformats.org/officeDocument/2006/relationships/font" Target="fonts/RobotoLight-bold.fntdata"/><Relationship Id="rId11" Type="http://schemas.openxmlformats.org/officeDocument/2006/relationships/slide" Target="slides/slide7.xml"/><Relationship Id="rId33" Type="http://customschemas.google.com/relationships/presentationmetadata" Target="metadata"/><Relationship Id="rId10" Type="http://schemas.openxmlformats.org/officeDocument/2006/relationships/slide" Target="slides/slide6.xml"/><Relationship Id="rId32" Type="http://schemas.openxmlformats.org/officeDocument/2006/relationships/font" Target="fonts/RobotoLight-boldItalic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font" Target="fonts/RobotoExtraLight-regular.fntdata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1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pt-B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1:notes"/>
          <p:cNvSpPr/>
          <p:nvPr>
            <p:ph idx="3" type="sldImg"/>
          </p:nvPr>
        </p:nvSpPr>
        <p:spPr>
          <a:xfrm>
            <a:off x="2857500" y="512763"/>
            <a:ext cx="3429000" cy="256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" name="Google Shape;60;p1:notes"/>
          <p:cNvSpPr txBox="1"/>
          <p:nvPr>
            <p:ph idx="1" type="body"/>
          </p:nvPr>
        </p:nvSpPr>
        <p:spPr>
          <a:xfrm>
            <a:off x="914400" y="3251200"/>
            <a:ext cx="7315200" cy="30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/>
              <a:t>‹#›</a:t>
            </a:r>
            <a:endParaRPr/>
          </a:p>
        </p:txBody>
      </p:sp>
      <p:sp>
        <p:nvSpPr>
          <p:cNvPr id="61" name="Google Shape;61;p1:notes"/>
          <p:cNvSpPr txBox="1"/>
          <p:nvPr>
            <p:ph idx="11" type="ftr"/>
          </p:nvPr>
        </p:nvSpPr>
        <p:spPr>
          <a:xfrm>
            <a:off x="0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1:notes"/>
          <p:cNvSpPr txBox="1"/>
          <p:nvPr>
            <p:ph idx="12" type="sldNum"/>
          </p:nvPr>
        </p:nvSpPr>
        <p:spPr>
          <a:xfrm>
            <a:off x="5180013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pt-B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" name="Google Shape;71;p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2" name="Google Shape;72;p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" name="Google Shape;81;p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/>
              <a:t>Pegue os objetivos baseados na concepção da estratégia ou transcrições de assessment</a:t>
            </a:r>
            <a:endParaRPr/>
          </a:p>
        </p:txBody>
      </p:sp>
      <p:sp>
        <p:nvSpPr>
          <p:cNvPr id="82" name="Google Shape;82;p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" name="Google Shape;96;p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/>
              <a:t>Objetivo e destrinchamento do que foi realizado.</a:t>
            </a:r>
            <a:endParaRPr/>
          </a:p>
        </p:txBody>
      </p:sp>
      <p:sp>
        <p:nvSpPr>
          <p:cNvPr id="97" name="Google Shape;97;p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p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1" name="Google Shape;111;p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" name="Google Shape;127;p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8" name="Google Shape;128;p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" name="Google Shape;143;p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4" name="Google Shape;144;p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0" name="Google Shape;160;p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/>
              <a:t>Importante ter o Alcance x Meta, em numero e em conversão:</a:t>
            </a:r>
            <a:br>
              <a:rPr lang="pt-BR"/>
            </a:br>
            <a:br>
              <a:rPr lang="pt-BR"/>
            </a:br>
            <a:r>
              <a:rPr lang="pt-BR"/>
              <a:t>Cadencias abertas</a:t>
            </a:r>
            <a:br>
              <a:rPr lang="pt-BR"/>
            </a:br>
            <a:r>
              <a:rPr lang="pt-BR"/>
              <a:t>Leads conectados</a:t>
            </a:r>
            <a:br>
              <a:rPr lang="pt-BR"/>
            </a:br>
            <a:r>
              <a:rPr lang="pt-BR"/>
              <a:t>Reunioes agendadas</a:t>
            </a:r>
            <a:br>
              <a:rPr lang="pt-BR"/>
            </a:br>
            <a:r>
              <a:rPr lang="pt-BR"/>
              <a:t>Reunioes realizadas</a:t>
            </a:r>
            <a:br>
              <a:rPr lang="pt-BR"/>
            </a:br>
            <a:r>
              <a:rPr lang="pt-BR"/>
              <a:t>Propostas enviadas</a:t>
            </a:r>
            <a:br>
              <a:rPr lang="pt-BR"/>
            </a:br>
            <a:r>
              <a:rPr lang="pt-BR"/>
              <a:t>Fechamentos</a:t>
            </a:r>
            <a:br>
              <a:rPr lang="pt-BR"/>
            </a:br>
            <a:r>
              <a:rPr lang="pt-BR"/>
              <a:t>Faturamento</a:t>
            </a:r>
            <a:br>
              <a:rPr lang="pt-BR"/>
            </a:br>
            <a:br>
              <a:rPr lang="pt-BR"/>
            </a:br>
            <a:r>
              <a:rPr lang="pt-BR"/>
              <a:t>Com as observações de análise.</a:t>
            </a:r>
            <a:endParaRPr/>
          </a:p>
        </p:txBody>
      </p:sp>
      <p:sp>
        <p:nvSpPr>
          <p:cNvPr id="161" name="Google Shape;161;p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0" name="Google Shape;180;p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/>
              <a:t>Cole nesse slide uma tabela ou gráfico que compare mes a mes o avanço da estratégia</a:t>
            </a:r>
            <a:endParaRPr/>
          </a:p>
        </p:txBody>
      </p:sp>
      <p:sp>
        <p:nvSpPr>
          <p:cNvPr id="181" name="Google Shape;181;p1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8" name="Google Shape;18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2" name="Google Shape;202;p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3" name="Google Shape;203;p1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0" name="Google Shape;220;p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1" name="Google Shape;221;p1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8" name="Google Shape;238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8" name="Google Shape;248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9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Google Shape;13;p19"/>
          <p:cNvSpPr txBox="1"/>
          <p:nvPr>
            <p:ph idx="1" type="body"/>
          </p:nvPr>
        </p:nvSpPr>
        <p:spPr>
          <a:xfrm>
            <a:off x="628650" y="1369219"/>
            <a:ext cx="7886700" cy="32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4" name="Google Shape;14;p19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" name="Google Shape;15;p19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" name="Google Shape;16;p19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0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9" name="Google Shape;19;p20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0" name="Google Shape;20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1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3" name="Google Shape;23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6" name="Google Shape;26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7" name="Google Shape;27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" name="Google Shape;30;p23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23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5" name="Google Shape;35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5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8" name="Google Shape;38;p25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9" name="Google Shape;39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6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2" name="Google Shape;42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27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27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6" name="Google Shape;46;p27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7" name="Google Shape;47;p27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8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51" name="Google Shape;51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9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4" name="Google Shape;54;p29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5" name="Google Shape;55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4.png"/><Relationship Id="rId5" Type="http://schemas.openxmlformats.org/officeDocument/2006/relationships/image" Target="../media/image2.png"/><Relationship Id="rId6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Relationship Id="rId4" Type="http://schemas.openxmlformats.org/officeDocument/2006/relationships/image" Target="../media/image3.jpg"/><Relationship Id="rId5" Type="http://schemas.openxmlformats.org/officeDocument/2006/relationships/image" Target="../media/image5.png"/><Relationship Id="rId6" Type="http://schemas.openxmlformats.org/officeDocument/2006/relationships/image" Target="../media/image2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Relationship Id="rId4" Type="http://schemas.openxmlformats.org/officeDocument/2006/relationships/image" Target="../media/image21.png"/><Relationship Id="rId5" Type="http://schemas.openxmlformats.org/officeDocument/2006/relationships/image" Target="../media/image7.png"/><Relationship Id="rId6" Type="http://schemas.openxmlformats.org/officeDocument/2006/relationships/image" Target="../media/image10.png"/><Relationship Id="rId7" Type="http://schemas.openxmlformats.org/officeDocument/2006/relationships/image" Target="../media/image8.png"/><Relationship Id="rId8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Relationship Id="rId4" Type="http://schemas.openxmlformats.org/officeDocument/2006/relationships/image" Target="../media/image2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21.png"/><Relationship Id="rId5" Type="http://schemas.openxmlformats.org/officeDocument/2006/relationships/hyperlink" Target="https://drive.google.com/drive/folders/1658UQ4pY0fgK-vII9t4WfLIPbs_WZKTr?usp=sharing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Relationship Id="rId4" Type="http://schemas.openxmlformats.org/officeDocument/2006/relationships/image" Target="../media/image2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Relationship Id="rId4" Type="http://schemas.openxmlformats.org/officeDocument/2006/relationships/image" Target="../media/image21.png"/><Relationship Id="rId5" Type="http://schemas.openxmlformats.org/officeDocument/2006/relationships/hyperlink" Target="https://drive.google.com/drive/folders/1rVAsQYxtJ5V1xx5uF184nB1KUKBw0JBv?usp=sharing" TargetMode="External"/></Relationships>
</file>

<file path=ppt/slides/_rels/slide8.xml.rels><?xml version="1.0" encoding="UTF-8" standalone="yes"?><Relationships xmlns="http://schemas.openxmlformats.org/package/2006/relationships"><Relationship Id="rId10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Relationship Id="rId4" Type="http://schemas.openxmlformats.org/officeDocument/2006/relationships/image" Target="../media/image21.png"/><Relationship Id="rId9" Type="http://schemas.openxmlformats.org/officeDocument/2006/relationships/image" Target="../media/image15.png"/><Relationship Id="rId5" Type="http://schemas.openxmlformats.org/officeDocument/2006/relationships/image" Target="../media/image14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1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Relationship Id="rId4" Type="http://schemas.openxmlformats.org/officeDocument/2006/relationships/image" Target="../media/image2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2.png"/><Relationship Id="rId4" Type="http://schemas.openxmlformats.org/officeDocument/2006/relationships/image" Target="../media/image1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Relationship Id="rId4" Type="http://schemas.openxmlformats.org/officeDocument/2006/relationships/image" Target="../media/image2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Relationship Id="rId4" Type="http://schemas.openxmlformats.org/officeDocument/2006/relationships/image" Target="../media/image2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1.png"/><Relationship Id="rId4" Type="http://schemas.openxmlformats.org/officeDocument/2006/relationships/image" Target="../media/image17.png"/><Relationship Id="rId5" Type="http://schemas.openxmlformats.org/officeDocument/2006/relationships/image" Target="../media/image1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02238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1" title="imagemgenérica_2025_mesa-trabalho.jpg"/>
          <p:cNvPicPr preferRelativeResize="0"/>
          <p:nvPr/>
        </p:nvPicPr>
        <p:blipFill rotWithShape="1">
          <a:blip r:embed="rId3">
            <a:alphaModFix/>
          </a:blip>
          <a:srcRect b="35697" l="0" r="0" t="-401"/>
          <a:stretch/>
        </p:blipFill>
        <p:spPr>
          <a:xfrm>
            <a:off x="3783638" y="-31837"/>
            <a:ext cx="5360362" cy="5175337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8774486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1" title="ícone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763" y="4562588"/>
            <a:ext cx="846500" cy="274849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1" title="efrgty.png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1863" y="1545360"/>
            <a:ext cx="1450762" cy="274850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"/>
          <p:cNvSpPr txBox="1"/>
          <p:nvPr/>
        </p:nvSpPr>
        <p:spPr>
          <a:xfrm>
            <a:off x="548650" y="1980975"/>
            <a:ext cx="5681700" cy="168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pt-BR" sz="3600" u="none" cap="none" strike="noStrike">
                <a:solidFill>
                  <a:srgbClr val="EBEBEB"/>
                </a:solidFill>
                <a:latin typeface="Roboto Black"/>
                <a:ea typeface="Roboto Black"/>
                <a:cs typeface="Roboto Black"/>
                <a:sym typeface="Roboto Black"/>
              </a:rPr>
              <a:t>Análise Crítica</a:t>
            </a:r>
            <a:endParaRPr b="0" i="0" sz="3600" u="none" cap="none" strike="noStrike">
              <a:solidFill>
                <a:srgbClr val="EBEBEB"/>
              </a:solidFill>
              <a:latin typeface="Roboto Black"/>
              <a:ea typeface="Roboto Black"/>
              <a:cs typeface="Roboto Black"/>
              <a:sym typeface="Roboto Black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pt-BR" sz="3600" u="none" cap="none" strike="noStrike">
                <a:solidFill>
                  <a:srgbClr val="848FEC"/>
                </a:solidFill>
                <a:latin typeface="Roboto Black"/>
                <a:ea typeface="Roboto Black"/>
                <a:cs typeface="Roboto Black"/>
                <a:sym typeface="Roboto Black"/>
              </a:rPr>
              <a:t>Higia</a:t>
            </a:r>
            <a:endParaRPr b="0" i="0" sz="3600" u="none" cap="none" strike="noStrike">
              <a:solidFill>
                <a:srgbClr val="848FEC"/>
              </a:solidFill>
              <a:latin typeface="Roboto Black"/>
              <a:ea typeface="Roboto Black"/>
              <a:cs typeface="Roboto Black"/>
              <a:sym typeface="Roboto Black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0" i="0" sz="3600" u="none" cap="none" strike="noStrike">
              <a:solidFill>
                <a:srgbClr val="848FEC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2"/>
          <p:cNvPicPr preferRelativeResize="0"/>
          <p:nvPr/>
        </p:nvPicPr>
        <p:blipFill rotWithShape="1">
          <a:blip r:embed="rId4">
            <a:alphaModFix/>
          </a:blip>
          <a:srcRect b="0" l="13378" r="16432" t="0"/>
          <a:stretch/>
        </p:blipFill>
        <p:spPr>
          <a:xfrm>
            <a:off x="4846688" y="722925"/>
            <a:ext cx="3894072" cy="3697652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46687" y="722925"/>
            <a:ext cx="3894077" cy="369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2" title="[DEALWISE] Logotipo_Horizontal 03.png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27761" y="4763513"/>
            <a:ext cx="874225" cy="160513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2"/>
          <p:cNvSpPr txBox="1"/>
          <p:nvPr/>
        </p:nvSpPr>
        <p:spPr>
          <a:xfrm>
            <a:off x="473756" y="1872044"/>
            <a:ext cx="3811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rPr b="0" i="0" lang="pt-BR" sz="900" u="none" cap="none" strike="noStrike">
                <a:solidFill>
                  <a:srgbClr val="EBEBEB"/>
                </a:solidFill>
                <a:latin typeface="Roboto Light"/>
                <a:ea typeface="Roboto Light"/>
                <a:cs typeface="Roboto Light"/>
                <a:sym typeface="Roboto Light"/>
              </a:rPr>
              <a:t>Apresentar, de forma transparente, o panorama das entregas, resultados e próximos passos do programa Máquina de Vendas junto à Higia, alinhando percepções entre as partes e reforçando o compromisso com a evolução contínua do projeto.</a:t>
            </a:r>
            <a:endParaRPr b="0" i="0" sz="900" u="none" cap="none" strike="noStrike">
              <a:solidFill>
                <a:srgbClr val="EBEBEB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8" name="Google Shape;78;p2"/>
          <p:cNvSpPr txBox="1"/>
          <p:nvPr/>
        </p:nvSpPr>
        <p:spPr>
          <a:xfrm>
            <a:off x="473756" y="1355350"/>
            <a:ext cx="3811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pt-BR" sz="1900" u="none" cap="none" strike="noStrike">
                <a:solidFill>
                  <a:srgbClr val="EBEBEB"/>
                </a:solidFill>
                <a:latin typeface="Roboto ExtraLight"/>
                <a:ea typeface="Roboto ExtraLight"/>
                <a:cs typeface="Roboto ExtraLight"/>
                <a:sym typeface="Roboto ExtraLight"/>
              </a:rPr>
              <a:t>OBJETIVO DA</a:t>
            </a:r>
            <a:r>
              <a:rPr b="0" i="0" lang="pt-BR" sz="1900" u="none" cap="none" strike="noStrike">
                <a:solidFill>
                  <a:srgbClr val="EBEBEB"/>
                </a:solidFill>
                <a:latin typeface="Roboto Light"/>
                <a:ea typeface="Roboto Light"/>
                <a:cs typeface="Roboto Light"/>
                <a:sym typeface="Roboto Light"/>
              </a:rPr>
              <a:t> </a:t>
            </a:r>
            <a:r>
              <a:rPr b="0" i="0" lang="pt-BR" sz="1900" u="none" cap="none" strike="noStrike">
                <a:solidFill>
                  <a:srgbClr val="848FEC"/>
                </a:solidFill>
                <a:latin typeface="Roboto Black"/>
                <a:ea typeface="Roboto Black"/>
                <a:cs typeface="Roboto Black"/>
                <a:sym typeface="Roboto Black"/>
              </a:rPr>
              <a:t>ANÁLISE CRÍTICA</a:t>
            </a:r>
            <a:endParaRPr b="0" i="0" sz="1900" u="none" cap="none" strike="noStrike">
              <a:solidFill>
                <a:srgbClr val="848FEC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3" title="[DEALWISE] Logotipo_Horizontal 03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27761" y="4763513"/>
            <a:ext cx="874225" cy="160513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3" title="fdgnhj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25913" y="1868225"/>
            <a:ext cx="2009775" cy="2371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3" title="esfdgbh.png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43506" y="1868225"/>
            <a:ext cx="2005013" cy="2371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3" title="sfdgfh.png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95469" y="1868225"/>
            <a:ext cx="2005013" cy="2371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3" title="srdgf.png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508313" y="1868225"/>
            <a:ext cx="2009775" cy="23717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3"/>
          <p:cNvSpPr txBox="1"/>
          <p:nvPr/>
        </p:nvSpPr>
        <p:spPr>
          <a:xfrm>
            <a:off x="2605850" y="2274781"/>
            <a:ext cx="1814700" cy="102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rPr b="1" i="0" lang="pt-BR" sz="1600" u="none" cap="none" strike="noStrike">
                <a:solidFill>
                  <a:srgbClr val="EBEBEB"/>
                </a:solidFill>
                <a:latin typeface="Roboto"/>
                <a:ea typeface="Roboto"/>
                <a:cs typeface="Roboto"/>
                <a:sym typeface="Roboto"/>
              </a:rPr>
              <a:t>02</a:t>
            </a:r>
            <a:endParaRPr b="1" i="0" sz="1600" u="none" cap="none" strike="noStrike">
              <a:solidFill>
                <a:srgbClr val="EBEBEB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EBEBEB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rPr b="0" i="0" lang="pt-BR" sz="900" u="none" cap="none" strike="noStrike">
                <a:solidFill>
                  <a:srgbClr val="EBEBEB"/>
                </a:solidFill>
                <a:latin typeface="Roboto Light"/>
                <a:ea typeface="Roboto Light"/>
                <a:cs typeface="Roboto Light"/>
                <a:sym typeface="Roboto Light"/>
              </a:rPr>
              <a:t>Estruturar um processo de prospecção outbound com cadência multicanal e qualificação rigorosa de leads.</a:t>
            </a:r>
            <a:endParaRPr b="1" i="0" sz="1600" u="none" cap="none" strike="noStrike">
              <a:solidFill>
                <a:srgbClr val="EBEBEB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0" name="Google Shape;90;p3"/>
          <p:cNvSpPr txBox="1"/>
          <p:nvPr/>
        </p:nvSpPr>
        <p:spPr>
          <a:xfrm>
            <a:off x="6841050" y="2274781"/>
            <a:ext cx="1814700" cy="155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rPr b="1" i="0" lang="pt-BR" sz="1600" u="none" cap="none" strike="noStrike">
                <a:solidFill>
                  <a:srgbClr val="EBEBEB"/>
                </a:solidFill>
                <a:latin typeface="Roboto"/>
                <a:ea typeface="Roboto"/>
                <a:cs typeface="Roboto"/>
                <a:sym typeface="Roboto"/>
              </a:rPr>
              <a:t>04</a:t>
            </a:r>
            <a:endParaRPr b="1" i="0" sz="1600" u="none" cap="none" strike="noStrike">
              <a:solidFill>
                <a:srgbClr val="EBEBEB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EBEBEB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rPr b="0" i="0" lang="pt-BR" sz="900" u="none" cap="none" strike="noStrike">
                <a:solidFill>
                  <a:srgbClr val="EBEBEB"/>
                </a:solidFill>
                <a:latin typeface="Roboto Light"/>
                <a:ea typeface="Roboto Light"/>
                <a:cs typeface="Roboto Light"/>
                <a:sym typeface="Roboto Light"/>
              </a:rPr>
              <a:t>Capacitar a equipe comercial e consolidar indicadores de performance individuais e de equipe.</a:t>
            </a:r>
            <a:endParaRPr b="0" i="0" sz="900" u="none" cap="none" strike="noStrike">
              <a:solidFill>
                <a:srgbClr val="EBEBEB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EBEBEB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rPr b="0" i="0" lang="pt-BR" sz="900" u="none" cap="none" strike="noStrike">
                <a:solidFill>
                  <a:srgbClr val="EBEBEB"/>
                </a:solidFill>
                <a:latin typeface="Roboto Light"/>
                <a:ea typeface="Roboto Light"/>
                <a:cs typeface="Roboto Light"/>
                <a:sym typeface="Roboto Light"/>
              </a:rPr>
              <a:t>Estruturação em andamento, com conclusão prevista em nove semanas.</a:t>
            </a:r>
            <a:endParaRPr b="0" i="0" sz="900" u="none" cap="none" strike="noStrike">
              <a:solidFill>
                <a:srgbClr val="EBEBEB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91" name="Google Shape;91;p3"/>
          <p:cNvSpPr txBox="1"/>
          <p:nvPr/>
        </p:nvSpPr>
        <p:spPr>
          <a:xfrm>
            <a:off x="4723450" y="2274781"/>
            <a:ext cx="1814700" cy="86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rPr b="1" i="0" lang="pt-BR" sz="1600" u="none" cap="none" strike="noStrike">
                <a:solidFill>
                  <a:srgbClr val="EBEBEB"/>
                </a:solidFill>
                <a:latin typeface="Roboto"/>
                <a:ea typeface="Roboto"/>
                <a:cs typeface="Roboto"/>
                <a:sym typeface="Roboto"/>
              </a:rPr>
              <a:t>03</a:t>
            </a:r>
            <a:endParaRPr b="1" i="0" sz="1600" u="none" cap="none" strike="noStrike">
              <a:solidFill>
                <a:srgbClr val="EBEBEB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EBEBEB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rPr b="0" i="0" lang="pt-BR" sz="900" u="none" cap="none" strike="noStrike">
                <a:solidFill>
                  <a:srgbClr val="EBEBEB"/>
                </a:solidFill>
                <a:latin typeface="Roboto Light"/>
                <a:ea typeface="Roboto Light"/>
                <a:cs typeface="Roboto Light"/>
                <a:sym typeface="Roboto Light"/>
              </a:rPr>
              <a:t>Implantar o ferramental comercial (CRM e funil de vendas) para gerar previsibilidade analítica.</a:t>
            </a:r>
            <a:endParaRPr b="1" i="0" sz="1600" u="none" cap="none" strike="noStrike">
              <a:solidFill>
                <a:srgbClr val="EBEBEB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2" name="Google Shape;92;p3"/>
          <p:cNvSpPr txBox="1"/>
          <p:nvPr/>
        </p:nvSpPr>
        <p:spPr>
          <a:xfrm>
            <a:off x="490631" y="2274781"/>
            <a:ext cx="1814700" cy="11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pt-BR" sz="1600" u="none" cap="none" strike="noStrike">
                <a:solidFill>
                  <a:srgbClr val="EBEBEB"/>
                </a:solidFill>
                <a:latin typeface="Roboto"/>
                <a:ea typeface="Roboto"/>
                <a:cs typeface="Roboto"/>
                <a:sym typeface="Roboto"/>
              </a:rPr>
              <a:t>01</a:t>
            </a:r>
            <a:endParaRPr b="1" i="0" sz="1600" u="none" cap="none" strike="noStrike">
              <a:solidFill>
                <a:srgbClr val="EBEBEB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EBEBEB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rPr b="0" i="0" lang="pt-BR" sz="900" u="none" cap="none" strike="noStrike">
                <a:solidFill>
                  <a:srgbClr val="EBEBEB"/>
                </a:solidFill>
                <a:latin typeface="Roboto Light"/>
                <a:ea typeface="Roboto Light"/>
                <a:cs typeface="Roboto Light"/>
                <a:sym typeface="Roboto Light"/>
              </a:rPr>
              <a:t>Tornar o funil comercial previsível e disciplinado, reduzindo a dependência dos sócios.</a:t>
            </a:r>
            <a:endParaRPr b="0" i="0" sz="800" u="none" cap="none" strike="noStrike">
              <a:solidFill>
                <a:srgbClr val="EBEBEB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93" name="Google Shape;93;p3"/>
          <p:cNvSpPr txBox="1"/>
          <p:nvPr/>
        </p:nvSpPr>
        <p:spPr>
          <a:xfrm>
            <a:off x="349400" y="778869"/>
            <a:ext cx="8353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pt-BR" sz="2300" u="none" cap="none" strike="noStrike">
                <a:solidFill>
                  <a:srgbClr val="EBEBEB"/>
                </a:solidFill>
                <a:latin typeface="Roboto ExtraLight"/>
                <a:ea typeface="Roboto ExtraLight"/>
                <a:cs typeface="Roboto ExtraLight"/>
                <a:sym typeface="Roboto ExtraLight"/>
              </a:rPr>
              <a:t>OBJETIVOS ALINHADOS</a:t>
            </a:r>
            <a:r>
              <a:rPr b="0" i="0" lang="pt-BR" sz="2300" u="none" cap="none" strike="noStrike">
                <a:solidFill>
                  <a:srgbClr val="EBEBEB"/>
                </a:solidFill>
                <a:latin typeface="Roboto Black"/>
                <a:ea typeface="Roboto Black"/>
                <a:cs typeface="Roboto Black"/>
                <a:sym typeface="Roboto Black"/>
              </a:rPr>
              <a:t> PARA O PROJETO</a:t>
            </a:r>
            <a:endParaRPr b="0" i="0" sz="2300" u="none" cap="none" strike="noStrike">
              <a:solidFill>
                <a:srgbClr val="EBEBEB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"/>
          <p:cNvSpPr txBox="1"/>
          <p:nvPr/>
        </p:nvSpPr>
        <p:spPr>
          <a:xfrm>
            <a:off x="581985" y="813075"/>
            <a:ext cx="77598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pt-BR" sz="2300" u="none" cap="none" strike="noStrike">
                <a:solidFill>
                  <a:srgbClr val="EBEBEB"/>
                </a:solidFill>
                <a:latin typeface="Roboto ExtraLight"/>
                <a:ea typeface="Roboto ExtraLight"/>
                <a:cs typeface="Roboto ExtraLight"/>
                <a:sym typeface="Roboto ExtraLight"/>
              </a:rPr>
              <a:t>01. </a:t>
            </a:r>
            <a:r>
              <a:rPr b="0" i="0" lang="pt-BR" sz="2300" u="none" cap="none" strike="noStrike">
                <a:solidFill>
                  <a:srgbClr val="EBEBEB"/>
                </a:solidFill>
                <a:latin typeface="Roboto"/>
                <a:ea typeface="Roboto"/>
                <a:cs typeface="Roboto"/>
                <a:sym typeface="Roboto"/>
              </a:rPr>
              <a:t>Tornar o funil comercial previsível e disciplinado, reduzindo a dependência dos sócios.</a:t>
            </a:r>
            <a:endParaRPr b="0" i="0" sz="2300" u="none" cap="none" strike="noStrike">
              <a:solidFill>
                <a:srgbClr val="848FEC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0" name="Google Shape;100;p4"/>
          <p:cNvSpPr/>
          <p:nvPr/>
        </p:nvSpPr>
        <p:spPr>
          <a:xfrm>
            <a:off x="629747" y="2388406"/>
            <a:ext cx="7886700" cy="20700"/>
          </a:xfrm>
          <a:prstGeom prst="rect">
            <a:avLst/>
          </a:prstGeom>
          <a:gradFill>
            <a:gsLst>
              <a:gs pos="0">
                <a:srgbClr val="848FEC"/>
              </a:gs>
              <a:gs pos="60000">
                <a:srgbClr val="373F8A"/>
              </a:gs>
              <a:gs pos="100000">
                <a:srgbClr val="373F8A"/>
              </a:gs>
            </a:gsLst>
            <a:lin ang="12000143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4"/>
          <p:cNvSpPr/>
          <p:nvPr/>
        </p:nvSpPr>
        <p:spPr>
          <a:xfrm>
            <a:off x="627553" y="2333275"/>
            <a:ext cx="131100" cy="131100"/>
          </a:xfrm>
          <a:prstGeom prst="flowChartConnector">
            <a:avLst/>
          </a:prstGeom>
          <a:gradFill>
            <a:gsLst>
              <a:gs pos="0">
                <a:srgbClr val="848FEC"/>
              </a:gs>
              <a:gs pos="60000">
                <a:srgbClr val="373F8A"/>
              </a:gs>
              <a:gs pos="100000">
                <a:srgbClr val="373F8A"/>
              </a:gs>
            </a:gsLst>
            <a:lin ang="12000143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4"/>
          <p:cNvSpPr/>
          <p:nvPr/>
        </p:nvSpPr>
        <p:spPr>
          <a:xfrm>
            <a:off x="2638014" y="2333277"/>
            <a:ext cx="131100" cy="131100"/>
          </a:xfrm>
          <a:prstGeom prst="flowChartConnector">
            <a:avLst/>
          </a:prstGeom>
          <a:gradFill>
            <a:gsLst>
              <a:gs pos="0">
                <a:srgbClr val="848FEC"/>
              </a:gs>
              <a:gs pos="100000">
                <a:srgbClr val="373F8A"/>
              </a:gs>
            </a:gsLst>
            <a:lin ang="12000143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4"/>
          <p:cNvSpPr/>
          <p:nvPr/>
        </p:nvSpPr>
        <p:spPr>
          <a:xfrm>
            <a:off x="4704594" y="2333277"/>
            <a:ext cx="131100" cy="131100"/>
          </a:xfrm>
          <a:prstGeom prst="flowChartConnector">
            <a:avLst/>
          </a:prstGeom>
          <a:gradFill>
            <a:gsLst>
              <a:gs pos="0">
                <a:srgbClr val="848FEC"/>
              </a:gs>
              <a:gs pos="60000">
                <a:srgbClr val="373F8A"/>
              </a:gs>
              <a:gs pos="100000">
                <a:srgbClr val="373F8A"/>
              </a:gs>
            </a:gsLst>
            <a:lin ang="12000143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4"/>
          <p:cNvSpPr txBox="1"/>
          <p:nvPr/>
        </p:nvSpPr>
        <p:spPr>
          <a:xfrm>
            <a:off x="627553" y="2640831"/>
            <a:ext cx="1623900" cy="5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rgbClr val="EBEBEB"/>
                </a:solidFill>
                <a:latin typeface="Roboto Light"/>
                <a:ea typeface="Roboto Light"/>
                <a:cs typeface="Roboto Light"/>
                <a:sym typeface="Roboto Light"/>
              </a:rPr>
              <a:t>Alinhamento de expectativas e definição dos objetivos macro do projeto</a:t>
            </a:r>
            <a:endParaRPr b="0" i="0" sz="1100" u="none" cap="none" strike="noStrike">
              <a:solidFill>
                <a:srgbClr val="3B3B3B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05" name="Google Shape;105;p4"/>
          <p:cNvSpPr txBox="1"/>
          <p:nvPr/>
        </p:nvSpPr>
        <p:spPr>
          <a:xfrm>
            <a:off x="2638022" y="2640831"/>
            <a:ext cx="1623900" cy="7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rgbClr val="EBEBEB"/>
                </a:solidFill>
                <a:latin typeface="Roboto Light"/>
                <a:ea typeface="Roboto Light"/>
                <a:cs typeface="Roboto Light"/>
                <a:sym typeface="Roboto Light"/>
              </a:rPr>
              <a:t>Diagnóstico do modelo As Is e mapeamento dos gargalos estruturais e comerciais</a:t>
            </a:r>
            <a:endParaRPr b="0" i="0" sz="1100" u="none" cap="none" strike="noStrike">
              <a:solidFill>
                <a:srgbClr val="3B3B3B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06" name="Google Shape;106;p4"/>
          <p:cNvSpPr txBox="1"/>
          <p:nvPr/>
        </p:nvSpPr>
        <p:spPr>
          <a:xfrm>
            <a:off x="4704591" y="2640831"/>
            <a:ext cx="1623900" cy="4365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rgbClr val="EBEBEB"/>
                </a:solidFill>
                <a:latin typeface="Roboto Light"/>
                <a:ea typeface="Roboto Light"/>
                <a:cs typeface="Roboto Light"/>
                <a:sym typeface="Roboto Light"/>
              </a:rPr>
              <a:t>Construção do Blueprint Estratégico, com definição do ICP e da proposta de valor</a:t>
            </a:r>
            <a:endParaRPr b="0" i="0" sz="1100" u="none" cap="none" strike="noStrike">
              <a:solidFill>
                <a:srgbClr val="3B3B3B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107" name="Google Shape;107;p4" title="[DEALWISE] Logotipo_Horizontal 03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27761" y="4763513"/>
            <a:ext cx="874225" cy="1605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"/>
          <p:cNvSpPr txBox="1"/>
          <p:nvPr/>
        </p:nvSpPr>
        <p:spPr>
          <a:xfrm>
            <a:off x="581963" y="813075"/>
            <a:ext cx="4243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pt-BR" sz="2300" u="none" cap="none" strike="noStrike">
                <a:solidFill>
                  <a:srgbClr val="EBEBEB"/>
                </a:solidFill>
                <a:latin typeface="Roboto ExtraLight"/>
                <a:ea typeface="Roboto ExtraLight"/>
                <a:cs typeface="Roboto ExtraLight"/>
                <a:sym typeface="Roboto ExtraLight"/>
              </a:rPr>
              <a:t>02. </a:t>
            </a:r>
            <a:r>
              <a:rPr b="0" i="0" lang="pt-BR" sz="2300" u="none" cap="none" strike="noStrike">
                <a:solidFill>
                  <a:srgbClr val="EBEBEB"/>
                </a:solidFill>
                <a:latin typeface="Roboto"/>
                <a:ea typeface="Roboto"/>
                <a:cs typeface="Roboto"/>
                <a:sym typeface="Roboto"/>
              </a:rPr>
              <a:t>Estruturar o processo comercial outbound, com cadência multicanal e </a:t>
            </a:r>
            <a:r>
              <a:rPr b="0" i="0" lang="pt-BR" sz="2300" u="none" cap="none" strike="noStrike">
                <a:solidFill>
                  <a:srgbClr val="848FEC"/>
                </a:solidFill>
                <a:latin typeface="Roboto"/>
                <a:ea typeface="Roboto"/>
                <a:cs typeface="Roboto"/>
                <a:sym typeface="Roboto"/>
              </a:rPr>
              <a:t>qualificação rigorosa de leads.</a:t>
            </a:r>
            <a:endParaRPr b="0" i="0" sz="2300" u="none" cap="none" strike="noStrike">
              <a:solidFill>
                <a:srgbClr val="848FEC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4" name="Google Shape;114;p5"/>
          <p:cNvSpPr/>
          <p:nvPr/>
        </p:nvSpPr>
        <p:spPr>
          <a:xfrm>
            <a:off x="629747" y="2388406"/>
            <a:ext cx="7886700" cy="20700"/>
          </a:xfrm>
          <a:prstGeom prst="rect">
            <a:avLst/>
          </a:prstGeom>
          <a:gradFill>
            <a:gsLst>
              <a:gs pos="0">
                <a:srgbClr val="848FEC"/>
              </a:gs>
              <a:gs pos="60000">
                <a:srgbClr val="373F8A"/>
              </a:gs>
              <a:gs pos="100000">
                <a:srgbClr val="373F8A"/>
              </a:gs>
            </a:gsLst>
            <a:lin ang="12000143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5"/>
          <p:cNvSpPr/>
          <p:nvPr/>
        </p:nvSpPr>
        <p:spPr>
          <a:xfrm>
            <a:off x="627553" y="2333275"/>
            <a:ext cx="131100" cy="131100"/>
          </a:xfrm>
          <a:prstGeom prst="flowChartConnector">
            <a:avLst/>
          </a:prstGeom>
          <a:gradFill>
            <a:gsLst>
              <a:gs pos="0">
                <a:srgbClr val="848FEC"/>
              </a:gs>
              <a:gs pos="60000">
                <a:srgbClr val="373F8A"/>
              </a:gs>
              <a:gs pos="100000">
                <a:srgbClr val="373F8A"/>
              </a:gs>
            </a:gsLst>
            <a:lin ang="12000143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5"/>
          <p:cNvSpPr/>
          <p:nvPr/>
        </p:nvSpPr>
        <p:spPr>
          <a:xfrm>
            <a:off x="2638014" y="2333277"/>
            <a:ext cx="131100" cy="131100"/>
          </a:xfrm>
          <a:prstGeom prst="flowChartConnector">
            <a:avLst/>
          </a:prstGeom>
          <a:gradFill>
            <a:gsLst>
              <a:gs pos="0">
                <a:srgbClr val="848FEC"/>
              </a:gs>
              <a:gs pos="100000">
                <a:srgbClr val="373F8A"/>
              </a:gs>
            </a:gsLst>
            <a:lin ang="12000143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5"/>
          <p:cNvSpPr/>
          <p:nvPr/>
        </p:nvSpPr>
        <p:spPr>
          <a:xfrm>
            <a:off x="4704594" y="2333277"/>
            <a:ext cx="131100" cy="131100"/>
          </a:xfrm>
          <a:prstGeom prst="flowChartConnector">
            <a:avLst/>
          </a:prstGeom>
          <a:gradFill>
            <a:gsLst>
              <a:gs pos="0">
                <a:srgbClr val="848FEC"/>
              </a:gs>
              <a:gs pos="60000">
                <a:srgbClr val="373F8A"/>
              </a:gs>
              <a:gs pos="100000">
                <a:srgbClr val="373F8A"/>
              </a:gs>
            </a:gsLst>
            <a:lin ang="12000143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5"/>
          <p:cNvSpPr/>
          <p:nvPr/>
        </p:nvSpPr>
        <p:spPr>
          <a:xfrm>
            <a:off x="6771174" y="2333277"/>
            <a:ext cx="131100" cy="131100"/>
          </a:xfrm>
          <a:prstGeom prst="flowChartConnector">
            <a:avLst/>
          </a:prstGeom>
          <a:gradFill>
            <a:gsLst>
              <a:gs pos="0">
                <a:srgbClr val="848FEC"/>
              </a:gs>
              <a:gs pos="100000">
                <a:srgbClr val="373F8A"/>
              </a:gs>
            </a:gsLst>
            <a:lin ang="12000143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5"/>
          <p:cNvSpPr txBox="1"/>
          <p:nvPr/>
        </p:nvSpPr>
        <p:spPr>
          <a:xfrm>
            <a:off x="627550" y="2640821"/>
            <a:ext cx="1623900" cy="7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rgbClr val="EBEBEB"/>
                </a:solidFill>
                <a:latin typeface="Roboto Light"/>
                <a:ea typeface="Roboto Light"/>
                <a:cs typeface="Roboto Light"/>
                <a:sym typeface="Roboto Light"/>
              </a:rPr>
              <a:t>Elaboração do manual de pré-vendas outbound, com scripts baseados na metodologia AIDA</a:t>
            </a:r>
            <a:endParaRPr b="0" i="0" sz="1100" u="none" cap="none" strike="noStrike">
              <a:solidFill>
                <a:srgbClr val="3B3B3B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20" name="Google Shape;120;p5"/>
          <p:cNvSpPr txBox="1"/>
          <p:nvPr/>
        </p:nvSpPr>
        <p:spPr>
          <a:xfrm>
            <a:off x="2638025" y="2640819"/>
            <a:ext cx="1623900" cy="5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rgbClr val="EBEBEB"/>
                </a:solidFill>
                <a:latin typeface="Roboto Light"/>
                <a:ea typeface="Roboto Light"/>
                <a:cs typeface="Roboto Light"/>
                <a:sym typeface="Roboto Light"/>
              </a:rPr>
              <a:t>Definição da cadência mista de prospecção: LinkedIn, e-mail e telefone</a:t>
            </a:r>
            <a:endParaRPr b="0" i="0" sz="1100" u="none" cap="none" strike="noStrike">
              <a:solidFill>
                <a:srgbClr val="3B3B3B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21" name="Google Shape;121;p5"/>
          <p:cNvSpPr txBox="1"/>
          <p:nvPr/>
        </p:nvSpPr>
        <p:spPr>
          <a:xfrm>
            <a:off x="4704600" y="2640819"/>
            <a:ext cx="1623900" cy="5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rgbClr val="EBEBEB"/>
                </a:solidFill>
                <a:latin typeface="Roboto Light"/>
                <a:ea typeface="Roboto Light"/>
                <a:cs typeface="Roboto Light"/>
                <a:sym typeface="Roboto Light"/>
              </a:rPr>
              <a:t>Roteiros de qualificação (GPCT) e cadências de reengajamento</a:t>
            </a:r>
            <a:endParaRPr b="0" i="0" sz="1100" u="none" cap="none" strike="noStrike">
              <a:solidFill>
                <a:srgbClr val="3B3B3B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22" name="Google Shape;122;p5"/>
          <p:cNvSpPr txBox="1"/>
          <p:nvPr/>
        </p:nvSpPr>
        <p:spPr>
          <a:xfrm>
            <a:off x="6771150" y="2640818"/>
            <a:ext cx="1623900" cy="5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rgbClr val="EBEBEB"/>
                </a:solidFill>
                <a:latin typeface="Roboto Light"/>
                <a:ea typeface="Roboto Light"/>
                <a:cs typeface="Roboto Light"/>
                <a:sym typeface="Roboto Light"/>
              </a:rPr>
              <a:t>Modelagem de filtros de prospecção no Apollo para os ICPs 01 e 02</a:t>
            </a:r>
            <a:endParaRPr b="0" i="0" sz="1100" u="none" cap="none" strike="noStrike">
              <a:solidFill>
                <a:srgbClr val="3B3B3B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123" name="Google Shape;123;p5" title="[DEALWISE] Logotipo_Horizontal 03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27761" y="4763513"/>
            <a:ext cx="874225" cy="160513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5"/>
          <p:cNvSpPr txBox="1"/>
          <p:nvPr/>
        </p:nvSpPr>
        <p:spPr>
          <a:xfrm>
            <a:off x="3072000" y="405585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u="sng">
                <a:solidFill>
                  <a:schemeClr val="hlink"/>
                </a:solidFill>
                <a:hlinkClick r:id="rId5"/>
              </a:rPr>
              <a:t>Central de entregáveis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6"/>
          <p:cNvSpPr txBox="1"/>
          <p:nvPr/>
        </p:nvSpPr>
        <p:spPr>
          <a:xfrm>
            <a:off x="581963" y="813075"/>
            <a:ext cx="4243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pt-BR" sz="2300" u="none" cap="none" strike="noStrike">
                <a:solidFill>
                  <a:srgbClr val="EBEBEB"/>
                </a:solidFill>
                <a:latin typeface="Roboto ExtraLight"/>
                <a:ea typeface="Roboto ExtraLight"/>
                <a:cs typeface="Roboto ExtraLight"/>
                <a:sym typeface="Roboto ExtraLight"/>
              </a:rPr>
              <a:t>03. </a:t>
            </a:r>
            <a:r>
              <a:rPr b="0" i="0" lang="pt-BR" sz="2300" u="none" cap="none" strike="noStrike">
                <a:solidFill>
                  <a:srgbClr val="EBEBEB"/>
                </a:solidFill>
                <a:latin typeface="Roboto"/>
                <a:ea typeface="Roboto"/>
                <a:cs typeface="Roboto"/>
                <a:sym typeface="Roboto"/>
              </a:rPr>
              <a:t>Implantar o ferramental comercial (CRM e funil) para gerar </a:t>
            </a:r>
            <a:r>
              <a:rPr b="0" i="0" lang="pt-BR" sz="2300" u="none" cap="none" strike="noStrike">
                <a:solidFill>
                  <a:srgbClr val="848FEC"/>
                </a:solidFill>
                <a:latin typeface="Roboto"/>
                <a:ea typeface="Roboto"/>
                <a:cs typeface="Roboto"/>
                <a:sym typeface="Roboto"/>
              </a:rPr>
              <a:t>previsibilidade analítica.</a:t>
            </a:r>
            <a:endParaRPr b="0" i="0" sz="2300" u="none" cap="none" strike="noStrike">
              <a:solidFill>
                <a:srgbClr val="848FEC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1" name="Google Shape;131;p6"/>
          <p:cNvSpPr/>
          <p:nvPr/>
        </p:nvSpPr>
        <p:spPr>
          <a:xfrm>
            <a:off x="629747" y="2388406"/>
            <a:ext cx="7886700" cy="20700"/>
          </a:xfrm>
          <a:prstGeom prst="rect">
            <a:avLst/>
          </a:prstGeom>
          <a:gradFill>
            <a:gsLst>
              <a:gs pos="0">
                <a:srgbClr val="848FEC"/>
              </a:gs>
              <a:gs pos="60000">
                <a:srgbClr val="373F8A"/>
              </a:gs>
              <a:gs pos="100000">
                <a:srgbClr val="373F8A"/>
              </a:gs>
            </a:gsLst>
            <a:lin ang="12000143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6"/>
          <p:cNvSpPr/>
          <p:nvPr/>
        </p:nvSpPr>
        <p:spPr>
          <a:xfrm>
            <a:off x="627553" y="2333275"/>
            <a:ext cx="131100" cy="131100"/>
          </a:xfrm>
          <a:prstGeom prst="flowChartConnector">
            <a:avLst/>
          </a:prstGeom>
          <a:gradFill>
            <a:gsLst>
              <a:gs pos="0">
                <a:srgbClr val="848FEC"/>
              </a:gs>
              <a:gs pos="60000">
                <a:srgbClr val="373F8A"/>
              </a:gs>
              <a:gs pos="100000">
                <a:srgbClr val="373F8A"/>
              </a:gs>
            </a:gsLst>
            <a:lin ang="12000143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6"/>
          <p:cNvSpPr/>
          <p:nvPr/>
        </p:nvSpPr>
        <p:spPr>
          <a:xfrm>
            <a:off x="2638014" y="2333277"/>
            <a:ext cx="131100" cy="131100"/>
          </a:xfrm>
          <a:prstGeom prst="flowChartConnector">
            <a:avLst/>
          </a:prstGeom>
          <a:gradFill>
            <a:gsLst>
              <a:gs pos="0">
                <a:srgbClr val="848FEC"/>
              </a:gs>
              <a:gs pos="100000">
                <a:srgbClr val="373F8A"/>
              </a:gs>
            </a:gsLst>
            <a:lin ang="12000143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6"/>
          <p:cNvSpPr/>
          <p:nvPr/>
        </p:nvSpPr>
        <p:spPr>
          <a:xfrm>
            <a:off x="4704594" y="2333277"/>
            <a:ext cx="131100" cy="131100"/>
          </a:xfrm>
          <a:prstGeom prst="flowChartConnector">
            <a:avLst/>
          </a:prstGeom>
          <a:gradFill>
            <a:gsLst>
              <a:gs pos="0">
                <a:srgbClr val="848FEC"/>
              </a:gs>
              <a:gs pos="60000">
                <a:srgbClr val="373F8A"/>
              </a:gs>
              <a:gs pos="100000">
                <a:srgbClr val="373F8A"/>
              </a:gs>
            </a:gsLst>
            <a:lin ang="12000143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6"/>
          <p:cNvSpPr/>
          <p:nvPr/>
        </p:nvSpPr>
        <p:spPr>
          <a:xfrm>
            <a:off x="6771174" y="2333277"/>
            <a:ext cx="131100" cy="131100"/>
          </a:xfrm>
          <a:prstGeom prst="flowChartConnector">
            <a:avLst/>
          </a:prstGeom>
          <a:gradFill>
            <a:gsLst>
              <a:gs pos="0">
                <a:srgbClr val="848FEC"/>
              </a:gs>
              <a:gs pos="100000">
                <a:srgbClr val="373F8A"/>
              </a:gs>
            </a:gsLst>
            <a:lin ang="12000143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6"/>
          <p:cNvSpPr txBox="1"/>
          <p:nvPr/>
        </p:nvSpPr>
        <p:spPr>
          <a:xfrm>
            <a:off x="627553" y="2640831"/>
            <a:ext cx="1623900" cy="5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rgbClr val="EBEBEB"/>
                </a:solidFill>
                <a:latin typeface="Roboto Light"/>
                <a:ea typeface="Roboto Light"/>
                <a:cs typeface="Roboto Light"/>
                <a:sym typeface="Roboto Light"/>
              </a:rPr>
              <a:t>Estruturação da planilha de planejamento comercial e do funil de vendas</a:t>
            </a:r>
            <a:endParaRPr b="0" i="0" sz="1100" u="none" cap="none" strike="noStrike">
              <a:solidFill>
                <a:srgbClr val="3B3B3B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37" name="Google Shape;137;p6"/>
          <p:cNvSpPr txBox="1"/>
          <p:nvPr/>
        </p:nvSpPr>
        <p:spPr>
          <a:xfrm>
            <a:off x="2638025" y="2640815"/>
            <a:ext cx="1623900" cy="5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rgbClr val="EBEBEB"/>
                </a:solidFill>
                <a:latin typeface="Roboto Light"/>
                <a:ea typeface="Roboto Light"/>
                <a:cs typeface="Roboto Light"/>
                <a:sym typeface="Roboto Light"/>
              </a:rPr>
              <a:t>Definição das etapas da jornada comercial e dos critérios de validação</a:t>
            </a:r>
            <a:endParaRPr b="0" i="0" sz="1100" u="none" cap="none" strike="noStrike">
              <a:solidFill>
                <a:srgbClr val="3B3B3B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38" name="Google Shape;138;p6"/>
          <p:cNvSpPr txBox="1"/>
          <p:nvPr/>
        </p:nvSpPr>
        <p:spPr>
          <a:xfrm>
            <a:off x="4704600" y="2640816"/>
            <a:ext cx="1623900" cy="4365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rgbClr val="EBEBEB"/>
                </a:solidFill>
                <a:latin typeface="Roboto Light"/>
                <a:ea typeface="Roboto Light"/>
                <a:cs typeface="Roboto Light"/>
                <a:sym typeface="Roboto Light"/>
              </a:rPr>
              <a:t>Aplicação de metodologias: Spin Selling</a:t>
            </a:r>
            <a:endParaRPr b="0" i="0" sz="1100" u="none" cap="none" strike="noStrike">
              <a:solidFill>
                <a:srgbClr val="3B3B3B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39" name="Google Shape;139;p6"/>
          <p:cNvSpPr txBox="1"/>
          <p:nvPr/>
        </p:nvSpPr>
        <p:spPr>
          <a:xfrm>
            <a:off x="6771150" y="2640820"/>
            <a:ext cx="1623900" cy="4365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rgbClr val="EBEBEB"/>
                </a:solidFill>
                <a:latin typeface="Roboto Light"/>
                <a:ea typeface="Roboto Light"/>
                <a:cs typeface="Roboto Light"/>
                <a:sym typeface="Roboto Light"/>
              </a:rPr>
              <a:t>Implantação final do CRM, em andamento</a:t>
            </a:r>
            <a:endParaRPr b="0" i="0" sz="1100" u="none" cap="none" strike="noStrike">
              <a:solidFill>
                <a:srgbClr val="3B3B3B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140" name="Google Shape;140;p6" title="[DEALWISE] Logotipo_Horizontal 03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27761" y="4763513"/>
            <a:ext cx="874225" cy="1605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7"/>
          <p:cNvSpPr txBox="1"/>
          <p:nvPr/>
        </p:nvSpPr>
        <p:spPr>
          <a:xfrm>
            <a:off x="581963" y="813075"/>
            <a:ext cx="4243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pt-BR" sz="2300" u="none" cap="none" strike="noStrike">
                <a:solidFill>
                  <a:srgbClr val="EBEBEB"/>
                </a:solidFill>
                <a:latin typeface="Roboto ExtraLight"/>
                <a:ea typeface="Roboto ExtraLight"/>
                <a:cs typeface="Roboto ExtraLight"/>
                <a:sym typeface="Roboto ExtraLight"/>
              </a:rPr>
              <a:t>04. </a:t>
            </a:r>
            <a:r>
              <a:rPr b="0" i="0" lang="pt-BR" sz="2300" u="none" cap="none" strike="noStrike">
                <a:solidFill>
                  <a:srgbClr val="EBEBEB"/>
                </a:solidFill>
                <a:latin typeface="Roboto"/>
                <a:ea typeface="Roboto"/>
                <a:cs typeface="Roboto"/>
                <a:sym typeface="Roboto"/>
              </a:rPr>
              <a:t>Capacitar a equipe comercial e consolidar indicadores de </a:t>
            </a:r>
            <a:r>
              <a:rPr b="0" i="0" lang="pt-BR" sz="2300" u="none" cap="none" strike="noStrike">
                <a:solidFill>
                  <a:srgbClr val="848FEC"/>
                </a:solidFill>
                <a:latin typeface="Roboto"/>
                <a:ea typeface="Roboto"/>
                <a:cs typeface="Roboto"/>
                <a:sym typeface="Roboto"/>
              </a:rPr>
              <a:t>performance.</a:t>
            </a:r>
            <a:endParaRPr b="0" i="0" sz="2300" u="none" cap="none" strike="noStrike">
              <a:solidFill>
                <a:srgbClr val="848FEC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7" name="Google Shape;147;p7"/>
          <p:cNvSpPr/>
          <p:nvPr/>
        </p:nvSpPr>
        <p:spPr>
          <a:xfrm>
            <a:off x="629747" y="2388406"/>
            <a:ext cx="7886700" cy="20700"/>
          </a:xfrm>
          <a:prstGeom prst="rect">
            <a:avLst/>
          </a:prstGeom>
          <a:gradFill>
            <a:gsLst>
              <a:gs pos="0">
                <a:srgbClr val="848FEC"/>
              </a:gs>
              <a:gs pos="60000">
                <a:srgbClr val="373F8A"/>
              </a:gs>
              <a:gs pos="100000">
                <a:srgbClr val="373F8A"/>
              </a:gs>
            </a:gsLst>
            <a:lin ang="12000143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7"/>
          <p:cNvSpPr/>
          <p:nvPr/>
        </p:nvSpPr>
        <p:spPr>
          <a:xfrm>
            <a:off x="627553" y="2333275"/>
            <a:ext cx="131100" cy="131100"/>
          </a:xfrm>
          <a:prstGeom prst="flowChartConnector">
            <a:avLst/>
          </a:prstGeom>
          <a:gradFill>
            <a:gsLst>
              <a:gs pos="0">
                <a:srgbClr val="848FEC"/>
              </a:gs>
              <a:gs pos="60000">
                <a:srgbClr val="373F8A"/>
              </a:gs>
              <a:gs pos="100000">
                <a:srgbClr val="373F8A"/>
              </a:gs>
            </a:gsLst>
            <a:lin ang="12000143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7"/>
          <p:cNvSpPr/>
          <p:nvPr/>
        </p:nvSpPr>
        <p:spPr>
          <a:xfrm>
            <a:off x="2638014" y="2333277"/>
            <a:ext cx="131100" cy="131100"/>
          </a:xfrm>
          <a:prstGeom prst="flowChartConnector">
            <a:avLst/>
          </a:prstGeom>
          <a:gradFill>
            <a:gsLst>
              <a:gs pos="0">
                <a:srgbClr val="848FEC"/>
              </a:gs>
              <a:gs pos="100000">
                <a:srgbClr val="373F8A"/>
              </a:gs>
            </a:gsLst>
            <a:lin ang="12000143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7"/>
          <p:cNvSpPr/>
          <p:nvPr/>
        </p:nvSpPr>
        <p:spPr>
          <a:xfrm>
            <a:off x="4704594" y="2333277"/>
            <a:ext cx="131100" cy="131100"/>
          </a:xfrm>
          <a:prstGeom prst="flowChartConnector">
            <a:avLst/>
          </a:prstGeom>
          <a:gradFill>
            <a:gsLst>
              <a:gs pos="0">
                <a:srgbClr val="848FEC"/>
              </a:gs>
              <a:gs pos="60000">
                <a:srgbClr val="373F8A"/>
              </a:gs>
              <a:gs pos="100000">
                <a:srgbClr val="373F8A"/>
              </a:gs>
            </a:gsLst>
            <a:lin ang="12000143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7"/>
          <p:cNvSpPr/>
          <p:nvPr/>
        </p:nvSpPr>
        <p:spPr>
          <a:xfrm>
            <a:off x="6771174" y="2333277"/>
            <a:ext cx="131100" cy="131100"/>
          </a:xfrm>
          <a:prstGeom prst="flowChartConnector">
            <a:avLst/>
          </a:prstGeom>
          <a:gradFill>
            <a:gsLst>
              <a:gs pos="0">
                <a:srgbClr val="848FEC"/>
              </a:gs>
              <a:gs pos="100000">
                <a:srgbClr val="373F8A"/>
              </a:gs>
            </a:gsLst>
            <a:lin ang="12000143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7"/>
          <p:cNvSpPr txBox="1"/>
          <p:nvPr/>
        </p:nvSpPr>
        <p:spPr>
          <a:xfrm>
            <a:off x="627553" y="2640831"/>
            <a:ext cx="1623900" cy="7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rgbClr val="EBEBEB"/>
                </a:solidFill>
                <a:latin typeface="Roboto Light"/>
                <a:ea typeface="Roboto Light"/>
                <a:cs typeface="Roboto Light"/>
                <a:sym typeface="Roboto Light"/>
              </a:rPr>
              <a:t>Acompanhamento da rotina comercial de </a:t>
            </a:r>
            <a:r>
              <a:rPr lang="pt-BR" sz="900">
                <a:solidFill>
                  <a:srgbClr val="EBEBEB"/>
                </a:solidFill>
                <a:latin typeface="Roboto Light"/>
                <a:ea typeface="Roboto Light"/>
                <a:cs typeface="Roboto Light"/>
                <a:sym typeface="Roboto Light"/>
              </a:rPr>
              <a:t>Jesus</a:t>
            </a:r>
            <a:r>
              <a:rPr b="0" i="0" lang="pt-BR" sz="900" u="none" cap="none" strike="noStrike">
                <a:solidFill>
                  <a:srgbClr val="EBEBEB"/>
                </a:solidFill>
                <a:latin typeface="Roboto Light"/>
                <a:ea typeface="Roboto Light"/>
                <a:cs typeface="Roboto Light"/>
                <a:sym typeface="Roboto Light"/>
              </a:rPr>
              <a:t>, com treinamento em contorno de </a:t>
            </a:r>
            <a:r>
              <a:rPr lang="pt-BR" sz="900">
                <a:solidFill>
                  <a:srgbClr val="EBEBEB"/>
                </a:solidFill>
                <a:latin typeface="Roboto Light"/>
                <a:ea typeface="Roboto Light"/>
                <a:cs typeface="Roboto Light"/>
                <a:sym typeface="Roboto Light"/>
              </a:rPr>
              <a:t>objeções</a:t>
            </a:r>
            <a:endParaRPr b="0" i="0" sz="1100" u="none" cap="none" strike="noStrike">
              <a:solidFill>
                <a:srgbClr val="3B3B3B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53" name="Google Shape;153;p7"/>
          <p:cNvSpPr txBox="1"/>
          <p:nvPr/>
        </p:nvSpPr>
        <p:spPr>
          <a:xfrm>
            <a:off x="2638025" y="2640820"/>
            <a:ext cx="1623900" cy="5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rgbClr val="EBEBEB"/>
                </a:solidFill>
                <a:latin typeface="Roboto Light"/>
                <a:ea typeface="Roboto Light"/>
                <a:cs typeface="Roboto Light"/>
                <a:sym typeface="Roboto Light"/>
              </a:rPr>
              <a:t>Realização de treinamentos de roleplay com o time comercial</a:t>
            </a:r>
            <a:endParaRPr b="0" i="0" sz="1100" u="none" cap="none" strike="noStrike">
              <a:solidFill>
                <a:srgbClr val="3B3B3B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54" name="Google Shape;154;p7"/>
          <p:cNvSpPr txBox="1"/>
          <p:nvPr/>
        </p:nvSpPr>
        <p:spPr>
          <a:xfrm>
            <a:off x="4704600" y="2640819"/>
            <a:ext cx="1623900" cy="4365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rgbClr val="EBEBEB"/>
                </a:solidFill>
                <a:latin typeface="Roboto Light"/>
                <a:ea typeface="Roboto Light"/>
                <a:cs typeface="Roboto Light"/>
                <a:sym typeface="Roboto Light"/>
              </a:rPr>
              <a:t>Definição de indicadores de metas individuais e de equipe</a:t>
            </a:r>
            <a:endParaRPr b="0" i="0" sz="1100" u="none" cap="none" strike="noStrike">
              <a:solidFill>
                <a:srgbClr val="3B3B3B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55" name="Google Shape;155;p7"/>
          <p:cNvSpPr txBox="1"/>
          <p:nvPr/>
        </p:nvSpPr>
        <p:spPr>
          <a:xfrm>
            <a:off x="6771150" y="2640816"/>
            <a:ext cx="1623900" cy="4365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rgbClr val="EBEBEB"/>
                </a:solidFill>
                <a:latin typeface="Roboto Light"/>
                <a:ea typeface="Roboto Light"/>
                <a:cs typeface="Roboto Light"/>
                <a:sym typeface="Roboto Light"/>
              </a:rPr>
              <a:t>Acompanhamento da pipe e finalização do projeto</a:t>
            </a:r>
            <a:endParaRPr b="0" i="0" sz="1100" u="none" cap="none" strike="noStrike">
              <a:solidFill>
                <a:srgbClr val="3B3B3B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156" name="Google Shape;156;p7" title="[DEALWISE] Logotipo_Horizontal 03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27761" y="4763513"/>
            <a:ext cx="874225" cy="160513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7"/>
          <p:cNvSpPr txBox="1"/>
          <p:nvPr/>
        </p:nvSpPr>
        <p:spPr>
          <a:xfrm>
            <a:off x="3270150" y="414732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u="sng">
                <a:solidFill>
                  <a:schemeClr val="hlink"/>
                </a:solidFill>
                <a:hlinkClick r:id="rId5"/>
              </a:rPr>
              <a:t>Treinamento Higia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8"/>
          <p:cNvSpPr txBox="1"/>
          <p:nvPr/>
        </p:nvSpPr>
        <p:spPr>
          <a:xfrm>
            <a:off x="295675" y="379669"/>
            <a:ext cx="8353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pt-BR" sz="2300" u="none" cap="none" strike="noStrike">
                <a:solidFill>
                  <a:srgbClr val="EBEBEB"/>
                </a:solidFill>
                <a:latin typeface="Roboto ExtraLight"/>
                <a:ea typeface="Roboto ExtraLight"/>
                <a:cs typeface="Roboto ExtraLight"/>
                <a:sym typeface="Roboto ExtraLight"/>
              </a:rPr>
              <a:t>VISÃO GERAL DOS</a:t>
            </a:r>
            <a:r>
              <a:rPr b="0" i="0" lang="pt-BR" sz="2300" u="none" cap="none" strike="noStrike">
                <a:solidFill>
                  <a:srgbClr val="EBEBEB"/>
                </a:solidFill>
                <a:latin typeface="Roboto Black"/>
                <a:ea typeface="Roboto Black"/>
                <a:cs typeface="Roboto Black"/>
                <a:sym typeface="Roboto Black"/>
              </a:rPr>
              <a:t> </a:t>
            </a:r>
            <a:r>
              <a:rPr b="0" i="0" lang="pt-BR" sz="2300" u="none" cap="none" strike="noStrike">
                <a:solidFill>
                  <a:srgbClr val="EBEBEB"/>
                </a:solidFill>
                <a:latin typeface="Roboto"/>
                <a:ea typeface="Roboto"/>
                <a:cs typeface="Roboto"/>
                <a:sym typeface="Roboto"/>
              </a:rPr>
              <a:t>RESULTADOS: </a:t>
            </a:r>
            <a:r>
              <a:rPr b="0" i="0" lang="pt-BR" sz="2300" u="none" cap="none" strike="noStrike">
                <a:solidFill>
                  <a:srgbClr val="848FEC"/>
                </a:solidFill>
                <a:latin typeface="Roboto Black"/>
                <a:ea typeface="Roboto Black"/>
                <a:cs typeface="Roboto Black"/>
                <a:sym typeface="Roboto Black"/>
              </a:rPr>
              <a:t>ATIVA</a:t>
            </a:r>
            <a:endParaRPr b="0" i="0" sz="2300" u="none" cap="none" strike="noStrike">
              <a:solidFill>
                <a:srgbClr val="EBEBEB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pic>
        <p:nvPicPr>
          <p:cNvPr id="164" name="Google Shape;164;p8" title="[DEALWISE] Logotipo_Horizontal 03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27761" y="4763513"/>
            <a:ext cx="874225" cy="160513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8"/>
          <p:cNvSpPr txBox="1"/>
          <p:nvPr/>
        </p:nvSpPr>
        <p:spPr>
          <a:xfrm>
            <a:off x="5456186" y="1517838"/>
            <a:ext cx="3445800" cy="294900"/>
          </a:xfrm>
          <a:prstGeom prst="rect">
            <a:avLst/>
          </a:prstGeom>
          <a:noFill/>
          <a:ln>
            <a:noFill/>
          </a:ln>
        </p:spPr>
        <p:txBody>
          <a:bodyPr anchorCtr="0" anchor="t" bIns="80600" lIns="80600" spcFirstLastPara="1" rIns="80600" wrap="square" tIns="806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588"/>
              </a:spcAft>
              <a:buClr>
                <a:srgbClr val="000000"/>
              </a:buClr>
              <a:buSzPts val="858"/>
              <a:buFont typeface="Arial"/>
              <a:buNone/>
            </a:pPr>
            <a:r>
              <a:rPr b="1" i="0" lang="pt-BR" sz="858" u="none" cap="none" strike="noStrike">
                <a:solidFill>
                  <a:srgbClr val="EBEBEB"/>
                </a:solidFill>
                <a:latin typeface="Roboto"/>
                <a:ea typeface="Roboto"/>
                <a:cs typeface="Roboto"/>
                <a:sym typeface="Roboto"/>
              </a:rPr>
              <a:t>Taxa de conexão:</a:t>
            </a:r>
            <a:r>
              <a:rPr b="0" i="0" lang="pt-BR" sz="858" u="none" cap="none" strike="noStrike">
                <a:solidFill>
                  <a:srgbClr val="EBEBEB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pt-BR" sz="858">
                <a:solidFill>
                  <a:srgbClr val="EBEBEB"/>
                </a:solidFill>
                <a:latin typeface="Roboto"/>
                <a:ea typeface="Roboto"/>
                <a:cs typeface="Roboto"/>
                <a:sym typeface="Roboto"/>
              </a:rPr>
              <a:t>Abaixo do esperado.</a:t>
            </a:r>
            <a:endParaRPr b="0" i="0" sz="858" u="none" cap="none" strike="noStrike">
              <a:solidFill>
                <a:srgbClr val="EBEBEB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66" name="Google Shape;166;p8" title="efrgthj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61764" y="1555957"/>
            <a:ext cx="425461" cy="4251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8" title="efrgthj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61764" y="2137298"/>
            <a:ext cx="425461" cy="4251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8" title="Página 3.png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992197" y="2219530"/>
            <a:ext cx="137912" cy="2607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8" title="ergtedhrytu.png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946839" y="1666318"/>
            <a:ext cx="255310" cy="2044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8" title="Página 1.png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966021" y="3769506"/>
            <a:ext cx="190263" cy="1886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8" title="efrgthj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61764" y="3651240"/>
            <a:ext cx="425461" cy="4251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8" title="egrthdyfug.png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953481" y="2857851"/>
            <a:ext cx="242018" cy="1886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8" title="efrgthj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61764" y="2739598"/>
            <a:ext cx="425461" cy="425178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8"/>
          <p:cNvSpPr txBox="1"/>
          <p:nvPr/>
        </p:nvSpPr>
        <p:spPr>
          <a:xfrm>
            <a:off x="5456167" y="2186819"/>
            <a:ext cx="3445800" cy="4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80600" lIns="80600" spcFirstLastPara="1" rIns="80600" wrap="square" tIns="806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588"/>
              </a:spcAft>
              <a:buClr>
                <a:srgbClr val="000000"/>
              </a:buClr>
              <a:buSzPts val="858"/>
              <a:buFont typeface="Arial"/>
              <a:buNone/>
            </a:pPr>
            <a:r>
              <a:rPr b="1" i="0" lang="pt-BR" sz="858" u="none" cap="none" strike="noStrike">
                <a:solidFill>
                  <a:srgbClr val="EBEBEB"/>
                </a:solidFill>
                <a:latin typeface="Roboto"/>
                <a:ea typeface="Roboto"/>
                <a:cs typeface="Roboto"/>
                <a:sym typeface="Roboto"/>
              </a:rPr>
              <a:t>Taxa de agendamento:</a:t>
            </a:r>
            <a:r>
              <a:rPr b="0" i="0" lang="pt-BR" sz="858" u="none" cap="none" strike="noStrike">
                <a:solidFill>
                  <a:srgbClr val="EBEBEB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pt-BR" sz="858">
                <a:solidFill>
                  <a:srgbClr val="EBEBEB"/>
                </a:solidFill>
                <a:latin typeface="Roboto"/>
                <a:ea typeface="Roboto"/>
                <a:cs typeface="Roboto"/>
                <a:sym typeface="Roboto"/>
              </a:rPr>
              <a:t>Abaixo do esperado, sistema faz a leitura de dois, mas não teve. </a:t>
            </a:r>
            <a:endParaRPr b="0" i="0" sz="858" u="none" cap="none" strike="noStrike">
              <a:solidFill>
                <a:srgbClr val="EBEBEB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5" name="Google Shape;175;p8"/>
          <p:cNvSpPr txBox="1"/>
          <p:nvPr/>
        </p:nvSpPr>
        <p:spPr>
          <a:xfrm>
            <a:off x="5456161" y="2721441"/>
            <a:ext cx="3445800" cy="294900"/>
          </a:xfrm>
          <a:prstGeom prst="rect">
            <a:avLst/>
          </a:prstGeom>
          <a:noFill/>
          <a:ln>
            <a:noFill/>
          </a:ln>
        </p:spPr>
        <p:txBody>
          <a:bodyPr anchorCtr="0" anchor="t" bIns="80600" lIns="80600" spcFirstLastPara="1" rIns="80600" wrap="square" tIns="806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588"/>
              </a:spcAft>
              <a:buClr>
                <a:srgbClr val="000000"/>
              </a:buClr>
              <a:buSzPts val="858"/>
              <a:buFont typeface="Arial"/>
              <a:buNone/>
            </a:pPr>
            <a:r>
              <a:rPr b="1" i="0" lang="pt-BR" sz="858" u="none" cap="none" strike="noStrike">
                <a:solidFill>
                  <a:srgbClr val="EBEBEB"/>
                </a:solidFill>
                <a:latin typeface="Roboto"/>
                <a:ea typeface="Roboto"/>
                <a:cs typeface="Roboto"/>
                <a:sym typeface="Roboto"/>
              </a:rPr>
              <a:t>Taxa de comparecimento:</a:t>
            </a:r>
            <a:r>
              <a:rPr b="0" i="0" lang="pt-BR" sz="858" u="none" cap="none" strike="noStrike">
                <a:solidFill>
                  <a:srgbClr val="EBEBEB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pt-BR" sz="858">
                <a:solidFill>
                  <a:srgbClr val="EBEBEB"/>
                </a:solidFill>
                <a:latin typeface="Roboto"/>
                <a:ea typeface="Roboto"/>
                <a:cs typeface="Roboto"/>
                <a:sym typeface="Roboto"/>
              </a:rPr>
              <a:t>Abaixo do esperado, não teve.</a:t>
            </a:r>
            <a:endParaRPr b="0" i="0" sz="858" u="none" cap="none" strike="noStrike">
              <a:solidFill>
                <a:srgbClr val="EBEBEB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6" name="Google Shape;176;p8"/>
          <p:cNvSpPr txBox="1"/>
          <p:nvPr/>
        </p:nvSpPr>
        <p:spPr>
          <a:xfrm>
            <a:off x="5456186" y="3526787"/>
            <a:ext cx="3445800" cy="825900"/>
          </a:xfrm>
          <a:prstGeom prst="rect">
            <a:avLst/>
          </a:prstGeom>
          <a:noFill/>
          <a:ln>
            <a:noFill/>
          </a:ln>
        </p:spPr>
        <p:txBody>
          <a:bodyPr anchorCtr="0" anchor="t" bIns="80600" lIns="80600" spcFirstLastPara="1" rIns="80600" wrap="square" tIns="806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8"/>
              <a:buFont typeface="Arial"/>
              <a:buNone/>
            </a:pPr>
            <a:r>
              <a:rPr b="1" i="0" lang="pt-BR" sz="858" u="none" cap="none" strike="noStrike">
                <a:solidFill>
                  <a:srgbClr val="848FEC"/>
                </a:solidFill>
                <a:latin typeface="Roboto"/>
                <a:ea typeface="Roboto"/>
                <a:cs typeface="Roboto"/>
                <a:sym typeface="Roboto"/>
              </a:rPr>
              <a:t>Onde está o gap real? </a:t>
            </a:r>
            <a:endParaRPr b="1" i="0" sz="858" u="none" cap="none" strike="noStrike">
              <a:solidFill>
                <a:srgbClr val="848FEC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83078" lvl="0" marL="457200" marR="0" rtl="0" algn="l">
              <a:lnSpc>
                <a:spcPct val="115000"/>
              </a:lnSpc>
              <a:spcBef>
                <a:spcPts val="588"/>
              </a:spcBef>
              <a:spcAft>
                <a:spcPts val="0"/>
              </a:spcAft>
              <a:buClr>
                <a:srgbClr val="848FEC"/>
              </a:buClr>
              <a:buSzPts val="858"/>
              <a:buFont typeface="Roboto"/>
              <a:buAutoNum type="arabicPeriod"/>
            </a:pPr>
            <a:r>
              <a:rPr b="1" lang="pt-BR" sz="858">
                <a:solidFill>
                  <a:srgbClr val="848FEC"/>
                </a:solidFill>
                <a:latin typeface="Roboto"/>
                <a:ea typeface="Roboto"/>
                <a:cs typeface="Roboto"/>
                <a:sym typeface="Roboto"/>
              </a:rPr>
              <a:t>Rotina e organização do CRM</a:t>
            </a:r>
            <a:endParaRPr b="1" i="0" sz="858" u="none" cap="none" strike="noStrike">
              <a:solidFill>
                <a:srgbClr val="848FEC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83078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48FEC"/>
              </a:buClr>
              <a:buSzPts val="858"/>
              <a:buFont typeface="Roboto"/>
              <a:buAutoNum type="arabicPeriod"/>
            </a:pPr>
            <a:r>
              <a:rPr b="1" lang="pt-BR" sz="858">
                <a:solidFill>
                  <a:srgbClr val="848FEC"/>
                </a:solidFill>
                <a:latin typeface="Roboto"/>
                <a:ea typeface="Roboto"/>
                <a:cs typeface="Roboto"/>
                <a:sym typeface="Roboto"/>
              </a:rPr>
              <a:t>Contorno de </a:t>
            </a:r>
            <a:r>
              <a:rPr b="1" lang="pt-BR" sz="858">
                <a:solidFill>
                  <a:srgbClr val="848FEC"/>
                </a:solidFill>
                <a:latin typeface="Roboto"/>
                <a:ea typeface="Roboto"/>
                <a:cs typeface="Roboto"/>
                <a:sym typeface="Roboto"/>
              </a:rPr>
              <a:t>objeções</a:t>
            </a:r>
            <a:r>
              <a:rPr b="1" lang="pt-BR" sz="858">
                <a:solidFill>
                  <a:srgbClr val="848FEC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b="1" sz="858">
              <a:solidFill>
                <a:srgbClr val="848FEC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83078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48FEC"/>
              </a:buClr>
              <a:buSzPts val="858"/>
              <a:buFont typeface="Roboto"/>
              <a:buAutoNum type="arabicPeriod"/>
            </a:pPr>
            <a:r>
              <a:rPr b="1" lang="pt-BR" sz="858">
                <a:solidFill>
                  <a:srgbClr val="848FEC"/>
                </a:solidFill>
                <a:latin typeface="Roboto"/>
                <a:ea typeface="Roboto"/>
                <a:cs typeface="Roboto"/>
                <a:sym typeface="Roboto"/>
              </a:rPr>
              <a:t>Condução de chamada. </a:t>
            </a:r>
            <a:endParaRPr b="1" sz="858">
              <a:solidFill>
                <a:srgbClr val="848FEC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77" name="Google Shape;177;p8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35850" y="1555944"/>
            <a:ext cx="4556964" cy="24816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0"/>
          <p:cNvSpPr txBox="1"/>
          <p:nvPr/>
        </p:nvSpPr>
        <p:spPr>
          <a:xfrm>
            <a:off x="395475" y="502494"/>
            <a:ext cx="8353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2000" u="none" cap="none" strike="noStrike">
                <a:solidFill>
                  <a:srgbClr val="EBEBEB"/>
                </a:solidFill>
                <a:latin typeface="Roboto"/>
                <a:ea typeface="Roboto"/>
                <a:cs typeface="Roboto"/>
                <a:sym typeface="Roboto"/>
              </a:rPr>
              <a:t>PANORAMA ATIVA: VISÃO GERAL </a:t>
            </a:r>
            <a:r>
              <a:rPr b="0" i="0" lang="pt-BR" sz="2000" u="none" cap="none" strike="noStrike">
                <a:solidFill>
                  <a:srgbClr val="848FEC"/>
                </a:solidFill>
                <a:latin typeface="Roboto"/>
                <a:ea typeface="Roboto"/>
                <a:cs typeface="Roboto"/>
                <a:sym typeface="Roboto"/>
              </a:rPr>
              <a:t>MÊS A MÊS</a:t>
            </a:r>
            <a:endParaRPr b="0" i="0" sz="2000" u="none" cap="none" strike="noStrike">
              <a:solidFill>
                <a:srgbClr val="848FEC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84" name="Google Shape;184;p10" title="[DEALWISE] Logotipo_Horizontal 03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27761" y="4763513"/>
            <a:ext cx="874225" cy="160513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10"/>
          <p:cNvSpPr txBox="1"/>
          <p:nvPr/>
        </p:nvSpPr>
        <p:spPr>
          <a:xfrm>
            <a:off x="5738400" y="1283250"/>
            <a:ext cx="2851200" cy="27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137150" lIns="137150" spcFirstLastPara="1" rIns="137150" wrap="square" tIns="13715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pt-BR" sz="1000" u="none" cap="none" strike="noStrike">
                <a:solidFill>
                  <a:srgbClr val="EBEBEB"/>
                </a:solidFill>
                <a:latin typeface="Roboto"/>
                <a:ea typeface="Roboto"/>
                <a:cs typeface="Roboto"/>
                <a:sym typeface="Roboto"/>
              </a:rPr>
              <a:t>Principais avanços do período:</a:t>
            </a:r>
            <a:endParaRPr b="0" i="0" sz="1000" u="none" cap="none" strike="noStrike">
              <a:solidFill>
                <a:srgbClr val="EBEBEB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pt-BR" sz="1000" u="none" cap="none" strike="noStrike">
                <a:solidFill>
                  <a:srgbClr val="EBEBEB"/>
                </a:solidFill>
                <a:latin typeface="Roboto"/>
                <a:ea typeface="Roboto"/>
                <a:cs typeface="Roboto"/>
                <a:sym typeface="Roboto"/>
              </a:rPr>
              <a:t>Onboarding e Discovery concluídos, com diagnóstico completo da operação</a:t>
            </a:r>
            <a:endParaRPr b="0" i="0" sz="1000" u="none" cap="none" strike="noStrike">
              <a:solidFill>
                <a:srgbClr val="EBEBEB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pt-BR" sz="1000" u="none" cap="none" strike="noStrike">
                <a:solidFill>
                  <a:srgbClr val="EBEBEB"/>
                </a:solidFill>
                <a:latin typeface="Roboto"/>
                <a:ea typeface="Roboto"/>
                <a:cs typeface="Roboto"/>
                <a:sym typeface="Roboto"/>
              </a:rPr>
              <a:t>Arquitetura da Estratégia e Processos finalizada, com playbook outbound implementado</a:t>
            </a:r>
            <a:endParaRPr b="0" i="0" sz="1000" u="none" cap="none" strike="noStrike">
              <a:solidFill>
                <a:srgbClr val="EBEBEB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pt-BR" sz="1000" u="none" cap="none" strike="noStrike">
                <a:solidFill>
                  <a:srgbClr val="EBEBEB"/>
                </a:solidFill>
                <a:latin typeface="Roboto"/>
                <a:ea typeface="Roboto"/>
                <a:cs typeface="Roboto"/>
                <a:sym typeface="Roboto"/>
              </a:rPr>
              <a:t>Estruturação Operacional e Ferramental em andamento, com conclusão prevista em nove semanas</a:t>
            </a:r>
            <a:endParaRPr b="0" i="0" sz="1000" u="none" cap="none" strike="noStrike">
              <a:solidFill>
                <a:srgbClr val="EBEBEB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pt-BR" sz="1000" u="none" cap="none" strike="noStrike">
                <a:solidFill>
                  <a:srgbClr val="EBEBEB"/>
                </a:solidFill>
                <a:latin typeface="Roboto"/>
                <a:ea typeface="Roboto"/>
                <a:cs typeface="Roboto"/>
                <a:sym typeface="Roboto"/>
              </a:rPr>
              <a:t>Próximo foco: acompanhamento da pipe comercial e finalização do projeto</a:t>
            </a:r>
            <a:endParaRPr b="0" i="0" sz="1000" u="none" cap="none" strike="noStrike">
              <a:solidFill>
                <a:srgbClr val="EBEBEB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0" name="Google Shape;190;p11"/>
          <p:cNvPicPr preferRelativeResize="0"/>
          <p:nvPr/>
        </p:nvPicPr>
        <p:blipFill rotWithShape="1">
          <a:blip r:embed="rId3">
            <a:alphaModFix/>
          </a:blip>
          <a:srcRect b="5607" l="6498" r="0" t="0"/>
          <a:stretch/>
        </p:blipFill>
        <p:spPr>
          <a:xfrm>
            <a:off x="2911412" y="1209326"/>
            <a:ext cx="3230377" cy="31815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1" name="Google Shape;191;p11"/>
          <p:cNvCxnSpPr/>
          <p:nvPr/>
        </p:nvCxnSpPr>
        <p:spPr>
          <a:xfrm>
            <a:off x="5705362" y="1754651"/>
            <a:ext cx="988500" cy="0"/>
          </a:xfrm>
          <a:prstGeom prst="straightConnector1">
            <a:avLst/>
          </a:prstGeom>
          <a:noFill/>
          <a:ln cap="flat" cmpd="sng" w="19050">
            <a:solidFill>
              <a:srgbClr val="373F8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2" name="Google Shape;192;p11"/>
          <p:cNvSpPr txBox="1"/>
          <p:nvPr/>
        </p:nvSpPr>
        <p:spPr>
          <a:xfrm>
            <a:off x="6693862" y="1632495"/>
            <a:ext cx="20202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pt-BR" sz="900" u="none" cap="none" strike="noStrike">
                <a:solidFill>
                  <a:srgbClr val="373F8A"/>
                </a:solidFill>
                <a:latin typeface="Roboto"/>
                <a:ea typeface="Roboto"/>
                <a:cs typeface="Roboto"/>
                <a:sym typeface="Roboto"/>
              </a:rPr>
              <a:t>Playbook comercial outbound: Implementado</a:t>
            </a:r>
            <a:endParaRPr b="1" i="0" sz="900" u="none" cap="none" strike="noStrike">
              <a:solidFill>
                <a:srgbClr val="373F8A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373F8A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pt-BR" sz="900" u="none" cap="none" strike="noStrike">
                <a:solidFill>
                  <a:srgbClr val="373F8A"/>
                </a:solidFill>
                <a:latin typeface="Roboto Light"/>
                <a:ea typeface="Roboto Light"/>
                <a:cs typeface="Roboto Light"/>
                <a:sym typeface="Roboto Light"/>
              </a:rPr>
              <a:t>Documento consolidado e em uso pela equipe comercial </a:t>
            </a:r>
            <a:endParaRPr b="0" i="0" sz="900" u="none" cap="none" strike="noStrike">
              <a:solidFill>
                <a:srgbClr val="373F8A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cxnSp>
        <p:nvCxnSpPr>
          <p:cNvPr id="193" name="Google Shape;193;p11"/>
          <p:cNvCxnSpPr/>
          <p:nvPr/>
        </p:nvCxnSpPr>
        <p:spPr>
          <a:xfrm>
            <a:off x="5791337" y="3728292"/>
            <a:ext cx="988500" cy="0"/>
          </a:xfrm>
          <a:prstGeom prst="straightConnector1">
            <a:avLst/>
          </a:prstGeom>
          <a:noFill/>
          <a:ln cap="flat" cmpd="sng" w="19050">
            <a:solidFill>
              <a:srgbClr val="848FE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4" name="Google Shape;194;p11"/>
          <p:cNvSpPr txBox="1"/>
          <p:nvPr/>
        </p:nvSpPr>
        <p:spPr>
          <a:xfrm>
            <a:off x="6779837" y="3606135"/>
            <a:ext cx="20202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pt-BR" sz="900" u="none" cap="none" strike="noStrike">
                <a:solidFill>
                  <a:srgbClr val="848FEC"/>
                </a:solidFill>
                <a:latin typeface="Roboto"/>
                <a:ea typeface="Roboto"/>
                <a:cs typeface="Roboto"/>
                <a:sym typeface="Roboto"/>
              </a:rPr>
              <a:t>Estratégia de Expansão: Não implementado</a:t>
            </a:r>
            <a:endParaRPr b="1" i="0" sz="900" u="none" cap="none" strike="noStrike">
              <a:solidFill>
                <a:srgbClr val="848FEC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848FEC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pt-BR" sz="900" u="none" cap="none" strike="noStrike">
                <a:solidFill>
                  <a:srgbClr val="848FEC"/>
                </a:solidFill>
                <a:latin typeface="Roboto Light"/>
                <a:ea typeface="Roboto Light"/>
                <a:cs typeface="Roboto Light"/>
                <a:sym typeface="Roboto Light"/>
              </a:rPr>
              <a:t>Fora do escopo atual do projeto</a:t>
            </a:r>
            <a:endParaRPr b="0" i="0" sz="900" u="none" cap="none" strike="noStrike">
              <a:solidFill>
                <a:srgbClr val="848FEC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cxnSp>
        <p:nvCxnSpPr>
          <p:cNvPr id="195" name="Google Shape;195;p11"/>
          <p:cNvCxnSpPr/>
          <p:nvPr/>
        </p:nvCxnSpPr>
        <p:spPr>
          <a:xfrm>
            <a:off x="2373635" y="1754651"/>
            <a:ext cx="988500" cy="0"/>
          </a:xfrm>
          <a:prstGeom prst="straightConnector1">
            <a:avLst/>
          </a:prstGeom>
          <a:noFill/>
          <a:ln cap="flat" cmpd="sng" w="19050">
            <a:solidFill>
              <a:srgbClr val="14185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6" name="Google Shape;196;p11"/>
          <p:cNvSpPr txBox="1"/>
          <p:nvPr/>
        </p:nvSpPr>
        <p:spPr>
          <a:xfrm>
            <a:off x="339137" y="1624802"/>
            <a:ext cx="20202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pt-BR" sz="900" u="none" cap="none" strike="noStrike">
                <a:solidFill>
                  <a:srgbClr val="141856"/>
                </a:solidFill>
                <a:latin typeface="Roboto"/>
                <a:ea typeface="Roboto"/>
                <a:cs typeface="Roboto"/>
                <a:sym typeface="Roboto"/>
              </a:rPr>
              <a:t>Estratégia Receptiva: Não implementado</a:t>
            </a:r>
            <a:endParaRPr b="1" i="0" sz="900" u="none" cap="none" strike="noStrike">
              <a:solidFill>
                <a:srgbClr val="14185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141856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pt-BR" sz="900" u="none" cap="none" strike="noStrike">
                <a:solidFill>
                  <a:srgbClr val="141856"/>
                </a:solidFill>
                <a:latin typeface="Roboto Light"/>
                <a:ea typeface="Roboto Light"/>
                <a:cs typeface="Roboto Light"/>
                <a:sym typeface="Roboto Light"/>
              </a:rPr>
              <a:t>Fora do escopo atual do projeto</a:t>
            </a:r>
            <a:endParaRPr b="0" i="0" sz="900" u="none" cap="none" strike="noStrike">
              <a:solidFill>
                <a:srgbClr val="141856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cxnSp>
        <p:nvCxnSpPr>
          <p:cNvPr id="197" name="Google Shape;197;p11"/>
          <p:cNvCxnSpPr/>
          <p:nvPr/>
        </p:nvCxnSpPr>
        <p:spPr>
          <a:xfrm>
            <a:off x="2335260" y="3735976"/>
            <a:ext cx="988500" cy="0"/>
          </a:xfrm>
          <a:prstGeom prst="straightConnector1">
            <a:avLst/>
          </a:prstGeom>
          <a:noFill/>
          <a:ln cap="flat" cmpd="sng" w="19050">
            <a:solidFill>
              <a:srgbClr val="0A0A0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8" name="Google Shape;198;p11"/>
          <p:cNvSpPr txBox="1"/>
          <p:nvPr/>
        </p:nvSpPr>
        <p:spPr>
          <a:xfrm>
            <a:off x="300762" y="3606127"/>
            <a:ext cx="20202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pt-BR" sz="900" u="none" cap="none" strike="noStrike">
                <a:solidFill>
                  <a:srgbClr val="0A0A0A"/>
                </a:solidFill>
                <a:latin typeface="Roboto"/>
                <a:ea typeface="Roboto"/>
                <a:cs typeface="Roboto"/>
                <a:sym typeface="Roboto"/>
              </a:rPr>
              <a:t>Estratégia de Recuperação: Não implementado</a:t>
            </a:r>
            <a:endParaRPr b="1" i="0" sz="900" u="none" cap="none" strike="noStrike">
              <a:solidFill>
                <a:srgbClr val="0A0A0A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A0A0A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pt-BR" sz="900" u="none" cap="none" strike="noStrike">
                <a:solidFill>
                  <a:srgbClr val="0A0A0A"/>
                </a:solidFill>
                <a:latin typeface="Roboto Light"/>
                <a:ea typeface="Roboto Light"/>
                <a:cs typeface="Roboto Light"/>
                <a:sym typeface="Roboto Light"/>
              </a:rPr>
              <a:t>Fora do escopo atual do projeto</a:t>
            </a:r>
            <a:endParaRPr b="0" i="0" sz="900" u="none" cap="none" strike="noStrike">
              <a:solidFill>
                <a:srgbClr val="0A0A0A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199" name="Google Shape;199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80825" y="235197"/>
            <a:ext cx="1182362" cy="222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2"/>
          <p:cNvSpPr txBox="1"/>
          <p:nvPr/>
        </p:nvSpPr>
        <p:spPr>
          <a:xfrm>
            <a:off x="669075" y="728625"/>
            <a:ext cx="65010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2000" u="none" cap="none" strike="noStrike">
                <a:solidFill>
                  <a:schemeClr val="lt1"/>
                </a:solidFill>
                <a:latin typeface="Roboto Black"/>
                <a:ea typeface="Roboto Black"/>
                <a:cs typeface="Roboto Black"/>
                <a:sym typeface="Roboto Black"/>
              </a:rPr>
              <a:t>GARGALOS x</a:t>
            </a:r>
            <a:r>
              <a:rPr b="0" i="0" lang="pt-BR" sz="2000" u="none" cap="none" strike="noStrike">
                <a:solidFill>
                  <a:srgbClr val="848FEC"/>
                </a:solidFill>
                <a:latin typeface="Roboto Black"/>
                <a:ea typeface="Roboto Black"/>
                <a:cs typeface="Roboto Black"/>
                <a:sym typeface="Roboto Black"/>
              </a:rPr>
              <a:t> COMO FORAM CORRIGIDOS</a:t>
            </a:r>
            <a:endParaRPr b="0" i="0" sz="2000" u="none" cap="none" strike="noStrike">
              <a:solidFill>
                <a:srgbClr val="848FEC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206" name="Google Shape;206;p12"/>
          <p:cNvSpPr/>
          <p:nvPr/>
        </p:nvSpPr>
        <p:spPr>
          <a:xfrm>
            <a:off x="652701" y="2388474"/>
            <a:ext cx="11374800" cy="29700"/>
          </a:xfrm>
          <a:prstGeom prst="rect">
            <a:avLst/>
          </a:prstGeom>
          <a:gradFill>
            <a:gsLst>
              <a:gs pos="0">
                <a:srgbClr val="848FEC"/>
              </a:gs>
              <a:gs pos="60000">
                <a:srgbClr val="373F8A"/>
              </a:gs>
              <a:gs pos="100000">
                <a:srgbClr val="373F8A"/>
              </a:gs>
            </a:gsLst>
            <a:lin ang="12000143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2"/>
          <p:cNvSpPr/>
          <p:nvPr/>
        </p:nvSpPr>
        <p:spPr>
          <a:xfrm>
            <a:off x="627553" y="2333275"/>
            <a:ext cx="131100" cy="131100"/>
          </a:xfrm>
          <a:prstGeom prst="flowChartConnector">
            <a:avLst/>
          </a:prstGeom>
          <a:gradFill>
            <a:gsLst>
              <a:gs pos="0">
                <a:srgbClr val="848FEC"/>
              </a:gs>
              <a:gs pos="60000">
                <a:srgbClr val="373F8A"/>
              </a:gs>
              <a:gs pos="100000">
                <a:srgbClr val="373F8A"/>
              </a:gs>
            </a:gsLst>
            <a:lin ang="12000143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2"/>
          <p:cNvSpPr/>
          <p:nvPr/>
        </p:nvSpPr>
        <p:spPr>
          <a:xfrm>
            <a:off x="2638014" y="2333277"/>
            <a:ext cx="131100" cy="131100"/>
          </a:xfrm>
          <a:prstGeom prst="flowChartConnector">
            <a:avLst/>
          </a:prstGeom>
          <a:gradFill>
            <a:gsLst>
              <a:gs pos="0">
                <a:srgbClr val="848FEC"/>
              </a:gs>
              <a:gs pos="100000">
                <a:srgbClr val="373F8A"/>
              </a:gs>
            </a:gsLst>
            <a:lin ang="12000143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2"/>
          <p:cNvSpPr/>
          <p:nvPr/>
        </p:nvSpPr>
        <p:spPr>
          <a:xfrm>
            <a:off x="6892494" y="2348627"/>
            <a:ext cx="131100" cy="131100"/>
          </a:xfrm>
          <a:prstGeom prst="flowChartConnector">
            <a:avLst/>
          </a:prstGeom>
          <a:gradFill>
            <a:gsLst>
              <a:gs pos="0">
                <a:srgbClr val="848FEC"/>
              </a:gs>
              <a:gs pos="60000">
                <a:srgbClr val="373F8A"/>
              </a:gs>
              <a:gs pos="100000">
                <a:srgbClr val="373F8A"/>
              </a:gs>
            </a:gsLst>
            <a:lin ang="12000143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2"/>
          <p:cNvSpPr txBox="1"/>
          <p:nvPr/>
        </p:nvSpPr>
        <p:spPr>
          <a:xfrm>
            <a:off x="652709" y="2640831"/>
            <a:ext cx="1623900" cy="5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rgbClr val="EBEBEB"/>
                </a:solidFill>
                <a:latin typeface="Roboto Light"/>
                <a:ea typeface="Roboto Light"/>
                <a:cs typeface="Roboto Light"/>
                <a:sym typeface="Roboto Light"/>
              </a:rPr>
              <a:t>Acompanhamento da rotina comercial da </a:t>
            </a:r>
            <a:r>
              <a:rPr lang="pt-BR" sz="900">
                <a:solidFill>
                  <a:srgbClr val="EBEBEB"/>
                </a:solidFill>
                <a:latin typeface="Roboto Light"/>
                <a:ea typeface="Roboto Light"/>
                <a:cs typeface="Roboto Light"/>
                <a:sym typeface="Roboto Light"/>
              </a:rPr>
              <a:t>Jesus </a:t>
            </a:r>
            <a:r>
              <a:rPr b="0" i="0" lang="pt-BR" sz="900" u="none" cap="none" strike="noStrike">
                <a:solidFill>
                  <a:srgbClr val="EBEBEB"/>
                </a:solidFill>
                <a:latin typeface="Roboto Light"/>
                <a:ea typeface="Roboto Light"/>
                <a:cs typeface="Roboto Light"/>
                <a:sym typeface="Roboto Light"/>
              </a:rPr>
              <a:t>nas últimas calls.</a:t>
            </a:r>
            <a:endParaRPr b="0" i="0" sz="900" u="none" cap="none" strike="noStrike">
              <a:solidFill>
                <a:srgbClr val="EBEBEB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211" name="Google Shape;211;p12" title="[DEALWISE] Logotipo_Horizontal 03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27761" y="4763513"/>
            <a:ext cx="874225" cy="160513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12"/>
          <p:cNvSpPr txBox="1"/>
          <p:nvPr/>
        </p:nvSpPr>
        <p:spPr>
          <a:xfrm>
            <a:off x="2587275" y="2640812"/>
            <a:ext cx="1623900" cy="5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rgbClr val="EBEBEB"/>
                </a:solidFill>
                <a:latin typeface="Roboto Light"/>
                <a:ea typeface="Roboto Light"/>
                <a:cs typeface="Roboto Light"/>
                <a:sym typeface="Roboto Light"/>
              </a:rPr>
              <a:t>Identificação de dificuldades no contorno de objeções durante as ligações</a:t>
            </a:r>
            <a:endParaRPr b="0" i="0" sz="900" u="none" cap="none" strike="noStrike">
              <a:solidFill>
                <a:srgbClr val="EBEBEB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213" name="Google Shape;213;p12"/>
          <p:cNvSpPr txBox="1"/>
          <p:nvPr/>
        </p:nvSpPr>
        <p:spPr>
          <a:xfrm>
            <a:off x="4690759" y="2640831"/>
            <a:ext cx="1623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EBEBEB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214" name="Google Shape;214;p12"/>
          <p:cNvSpPr txBox="1"/>
          <p:nvPr/>
        </p:nvSpPr>
        <p:spPr>
          <a:xfrm>
            <a:off x="4721450" y="2640814"/>
            <a:ext cx="1623900" cy="5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rgbClr val="EBEBEB"/>
                </a:solidFill>
                <a:latin typeface="Roboto Light"/>
                <a:ea typeface="Roboto Light"/>
                <a:cs typeface="Roboto Light"/>
                <a:sym typeface="Roboto Light"/>
              </a:rPr>
              <a:t>Realização de treinamento específico em contorno de objeção com a equipe</a:t>
            </a:r>
            <a:endParaRPr b="0" i="0" sz="900" u="none" cap="none" strike="noStrike">
              <a:solidFill>
                <a:srgbClr val="EBEBEB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215" name="Google Shape;215;p12"/>
          <p:cNvSpPr/>
          <p:nvPr/>
        </p:nvSpPr>
        <p:spPr>
          <a:xfrm>
            <a:off x="4721444" y="2333277"/>
            <a:ext cx="131100" cy="131100"/>
          </a:xfrm>
          <a:prstGeom prst="flowChartConnector">
            <a:avLst/>
          </a:prstGeom>
          <a:gradFill>
            <a:gsLst>
              <a:gs pos="0">
                <a:srgbClr val="848FEC"/>
              </a:gs>
              <a:gs pos="60000">
                <a:srgbClr val="373F8A"/>
              </a:gs>
              <a:gs pos="100000">
                <a:srgbClr val="373F8A"/>
              </a:gs>
            </a:gsLst>
            <a:lin ang="12000143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2"/>
          <p:cNvSpPr txBox="1"/>
          <p:nvPr/>
        </p:nvSpPr>
        <p:spPr>
          <a:xfrm>
            <a:off x="6892509" y="2640831"/>
            <a:ext cx="1623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EBEBEB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217" name="Google Shape;217;p12"/>
          <p:cNvSpPr txBox="1"/>
          <p:nvPr/>
        </p:nvSpPr>
        <p:spPr>
          <a:xfrm>
            <a:off x="6923200" y="2640810"/>
            <a:ext cx="1623900" cy="7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rgbClr val="EBEBEB"/>
                </a:solidFill>
                <a:latin typeface="Roboto Light"/>
                <a:ea typeface="Roboto Light"/>
                <a:cs typeface="Roboto Light"/>
                <a:sym typeface="Roboto Light"/>
              </a:rPr>
              <a:t>Fortalecimento da abordagem comercial nas próximas interações com leads</a:t>
            </a:r>
            <a:endParaRPr b="0" i="0" sz="900" u="none" cap="none" strike="noStrike">
              <a:solidFill>
                <a:srgbClr val="EBEBEB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3"/>
          <p:cNvSpPr txBox="1"/>
          <p:nvPr/>
        </p:nvSpPr>
        <p:spPr>
          <a:xfrm>
            <a:off x="627575" y="713275"/>
            <a:ext cx="7348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pt-BR" sz="2300" u="none" cap="none" strike="noStrike">
                <a:solidFill>
                  <a:schemeClr val="lt1"/>
                </a:solidFill>
                <a:latin typeface="Roboto Black"/>
                <a:ea typeface="Roboto Black"/>
                <a:cs typeface="Roboto Black"/>
                <a:sym typeface="Roboto Black"/>
              </a:rPr>
              <a:t>GARGALOS x PRÓXIMOS</a:t>
            </a:r>
            <a:r>
              <a:rPr b="0" i="0" lang="pt-BR" sz="2300" u="none" cap="none" strike="noStrike">
                <a:solidFill>
                  <a:srgbClr val="848FEC"/>
                </a:solidFill>
                <a:latin typeface="Roboto Black"/>
                <a:ea typeface="Roboto Black"/>
                <a:cs typeface="Roboto Black"/>
                <a:sym typeface="Roboto Black"/>
              </a:rPr>
              <a:t> PASSOS ESTRATÉGICOS</a:t>
            </a:r>
            <a:endParaRPr b="0" i="0" sz="2300" u="none" cap="none" strike="noStrike">
              <a:solidFill>
                <a:srgbClr val="848FEC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224" name="Google Shape;224;p13"/>
          <p:cNvSpPr/>
          <p:nvPr/>
        </p:nvSpPr>
        <p:spPr>
          <a:xfrm>
            <a:off x="652701" y="2388474"/>
            <a:ext cx="11374800" cy="29700"/>
          </a:xfrm>
          <a:prstGeom prst="rect">
            <a:avLst/>
          </a:prstGeom>
          <a:gradFill>
            <a:gsLst>
              <a:gs pos="0">
                <a:srgbClr val="848FEC"/>
              </a:gs>
              <a:gs pos="60000">
                <a:srgbClr val="373F8A"/>
              </a:gs>
              <a:gs pos="100000">
                <a:srgbClr val="373F8A"/>
              </a:gs>
            </a:gsLst>
            <a:lin ang="12000143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3"/>
          <p:cNvSpPr/>
          <p:nvPr/>
        </p:nvSpPr>
        <p:spPr>
          <a:xfrm>
            <a:off x="627553" y="2333275"/>
            <a:ext cx="131100" cy="131100"/>
          </a:xfrm>
          <a:prstGeom prst="flowChartConnector">
            <a:avLst/>
          </a:prstGeom>
          <a:gradFill>
            <a:gsLst>
              <a:gs pos="0">
                <a:srgbClr val="848FEC"/>
              </a:gs>
              <a:gs pos="60000">
                <a:srgbClr val="373F8A"/>
              </a:gs>
              <a:gs pos="100000">
                <a:srgbClr val="373F8A"/>
              </a:gs>
            </a:gsLst>
            <a:lin ang="12000143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3"/>
          <p:cNvSpPr/>
          <p:nvPr/>
        </p:nvSpPr>
        <p:spPr>
          <a:xfrm>
            <a:off x="2638014" y="2333277"/>
            <a:ext cx="131100" cy="131100"/>
          </a:xfrm>
          <a:prstGeom prst="flowChartConnector">
            <a:avLst/>
          </a:prstGeom>
          <a:gradFill>
            <a:gsLst>
              <a:gs pos="0">
                <a:srgbClr val="848FEC"/>
              </a:gs>
              <a:gs pos="100000">
                <a:srgbClr val="373F8A"/>
              </a:gs>
            </a:gsLst>
            <a:lin ang="12000143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3"/>
          <p:cNvSpPr/>
          <p:nvPr/>
        </p:nvSpPr>
        <p:spPr>
          <a:xfrm>
            <a:off x="6892494" y="2348627"/>
            <a:ext cx="131100" cy="131100"/>
          </a:xfrm>
          <a:prstGeom prst="flowChartConnector">
            <a:avLst/>
          </a:prstGeom>
          <a:gradFill>
            <a:gsLst>
              <a:gs pos="0">
                <a:srgbClr val="848FEC"/>
              </a:gs>
              <a:gs pos="60000">
                <a:srgbClr val="373F8A"/>
              </a:gs>
              <a:gs pos="100000">
                <a:srgbClr val="373F8A"/>
              </a:gs>
            </a:gsLst>
            <a:lin ang="12000143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3"/>
          <p:cNvSpPr txBox="1"/>
          <p:nvPr/>
        </p:nvSpPr>
        <p:spPr>
          <a:xfrm>
            <a:off x="652700" y="2640823"/>
            <a:ext cx="1623900" cy="7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pt-BR" sz="900">
                <a:solidFill>
                  <a:srgbClr val="EBEBEB"/>
                </a:solidFill>
                <a:latin typeface="Roboto Light"/>
                <a:ea typeface="Roboto Light"/>
                <a:cs typeface="Roboto Light"/>
                <a:sym typeface="Roboto Light"/>
              </a:rPr>
              <a:t>Higia</a:t>
            </a:r>
            <a:r>
              <a:rPr b="0" i="0" lang="pt-BR" sz="900" u="none" cap="none" strike="noStrike">
                <a:solidFill>
                  <a:srgbClr val="EBEBEB"/>
                </a:solidFill>
                <a:latin typeface="Roboto Light"/>
                <a:ea typeface="Roboto Light"/>
                <a:cs typeface="Roboto Light"/>
                <a:sym typeface="Roboto Light"/>
              </a:rPr>
              <a:t>: apoiar a adoção do CRM e a validação dos processos comerciais junto à equipe</a:t>
            </a:r>
            <a:endParaRPr b="0" i="0" sz="900" u="none" cap="none" strike="noStrike">
              <a:solidFill>
                <a:srgbClr val="EBEBEB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229" name="Google Shape;229;p13" title="[DEALWISE] Logotipo_Horizontal 03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27761" y="4763513"/>
            <a:ext cx="874225" cy="160513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13"/>
          <p:cNvSpPr txBox="1"/>
          <p:nvPr/>
        </p:nvSpPr>
        <p:spPr>
          <a:xfrm>
            <a:off x="2587275" y="2640814"/>
            <a:ext cx="1623900" cy="7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pt-BR" sz="900">
                <a:solidFill>
                  <a:srgbClr val="EBEBEB"/>
                </a:solidFill>
                <a:latin typeface="Roboto Light"/>
                <a:ea typeface="Roboto Light"/>
                <a:cs typeface="Roboto Light"/>
                <a:sym typeface="Roboto Light"/>
              </a:rPr>
              <a:t>Higia</a:t>
            </a:r>
            <a:r>
              <a:rPr b="0" i="0" lang="pt-BR" sz="900" u="none" cap="none" strike="noStrike">
                <a:solidFill>
                  <a:srgbClr val="EBEBEB"/>
                </a:solidFill>
                <a:latin typeface="Roboto Light"/>
                <a:ea typeface="Roboto Light"/>
                <a:cs typeface="Roboto Light"/>
                <a:sym typeface="Roboto Light"/>
              </a:rPr>
              <a:t>: garantir a disponibilidade da </a:t>
            </a:r>
            <a:r>
              <a:rPr lang="pt-BR" sz="900">
                <a:solidFill>
                  <a:srgbClr val="EBEBEB"/>
                </a:solidFill>
                <a:latin typeface="Roboto Light"/>
                <a:ea typeface="Roboto Light"/>
                <a:cs typeface="Roboto Light"/>
                <a:sym typeface="Roboto Light"/>
              </a:rPr>
              <a:t>Jesus </a:t>
            </a:r>
            <a:r>
              <a:rPr b="0" i="0" lang="pt-BR" sz="900" u="none" cap="none" strike="noStrike">
                <a:solidFill>
                  <a:srgbClr val="EBEBEB"/>
                </a:solidFill>
                <a:latin typeface="Roboto Light"/>
                <a:ea typeface="Roboto Light"/>
                <a:cs typeface="Roboto Light"/>
                <a:sym typeface="Roboto Light"/>
              </a:rPr>
              <a:t>para os treinamentos e follow-ups da pipe</a:t>
            </a:r>
            <a:endParaRPr b="0" i="0" sz="900" u="none" cap="none" strike="noStrike">
              <a:solidFill>
                <a:srgbClr val="EBEBEB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231" name="Google Shape;231;p13"/>
          <p:cNvSpPr txBox="1"/>
          <p:nvPr/>
        </p:nvSpPr>
        <p:spPr>
          <a:xfrm>
            <a:off x="4690759" y="2640831"/>
            <a:ext cx="1623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EBEBEB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232" name="Google Shape;232;p13"/>
          <p:cNvSpPr txBox="1"/>
          <p:nvPr/>
        </p:nvSpPr>
        <p:spPr>
          <a:xfrm>
            <a:off x="4721459" y="2640831"/>
            <a:ext cx="1623900" cy="5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rgbClr val="EBEBEB"/>
                </a:solidFill>
                <a:latin typeface="Roboto Light"/>
                <a:ea typeface="Roboto Light"/>
                <a:cs typeface="Roboto Light"/>
                <a:sym typeface="Roboto Light"/>
              </a:rPr>
              <a:t>Dealwise: dar continuidade ao suporte no contorno de objeções junto à equipe</a:t>
            </a:r>
            <a:endParaRPr b="0" i="0" sz="900" u="none" cap="none" strike="noStrike">
              <a:solidFill>
                <a:srgbClr val="EBEBEB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233" name="Google Shape;233;p13"/>
          <p:cNvSpPr/>
          <p:nvPr/>
        </p:nvSpPr>
        <p:spPr>
          <a:xfrm>
            <a:off x="4721444" y="2333277"/>
            <a:ext cx="131100" cy="131100"/>
          </a:xfrm>
          <a:prstGeom prst="flowChartConnector">
            <a:avLst/>
          </a:prstGeom>
          <a:gradFill>
            <a:gsLst>
              <a:gs pos="0">
                <a:srgbClr val="848FEC"/>
              </a:gs>
              <a:gs pos="60000">
                <a:srgbClr val="373F8A"/>
              </a:gs>
              <a:gs pos="100000">
                <a:srgbClr val="373F8A"/>
              </a:gs>
            </a:gsLst>
            <a:lin ang="12000143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3"/>
          <p:cNvSpPr txBox="1"/>
          <p:nvPr/>
        </p:nvSpPr>
        <p:spPr>
          <a:xfrm>
            <a:off x="6892509" y="2640831"/>
            <a:ext cx="1623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EBEBEB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235" name="Google Shape;235;p13"/>
          <p:cNvSpPr txBox="1"/>
          <p:nvPr/>
        </p:nvSpPr>
        <p:spPr>
          <a:xfrm>
            <a:off x="6923200" y="2640816"/>
            <a:ext cx="1623900" cy="5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rgbClr val="EBEBEB"/>
                </a:solidFill>
                <a:latin typeface="Roboto Light"/>
                <a:ea typeface="Roboto Light"/>
                <a:cs typeface="Roboto Light"/>
                <a:sym typeface="Roboto Light"/>
              </a:rPr>
              <a:t>Dealwise: acompanhar a pipe comercial e conduzir a finalização do projeto</a:t>
            </a:r>
            <a:endParaRPr b="0" i="0" sz="900" u="none" cap="none" strike="noStrike">
              <a:solidFill>
                <a:srgbClr val="EBEBEB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0" name="Google Shape;240;p15" title="[DEALWISE] Logotipo_Horizontal 03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7761" y="4763513"/>
            <a:ext cx="874225" cy="160513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79125" y="4701172"/>
            <a:ext cx="1182362" cy="222850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15"/>
          <p:cNvSpPr txBox="1"/>
          <p:nvPr/>
        </p:nvSpPr>
        <p:spPr>
          <a:xfrm>
            <a:off x="4189412" y="1576650"/>
            <a:ext cx="41775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pt-BR" sz="1100" u="none" cap="none" strike="noStrike">
                <a:solidFill>
                  <a:srgbClr val="373F8A"/>
                </a:solidFill>
                <a:latin typeface="Roboto Light"/>
                <a:ea typeface="Roboto Light"/>
                <a:cs typeface="Roboto Light"/>
                <a:sym typeface="Roboto Light"/>
              </a:rPr>
              <a:t>O CSAT uma métrica que utilizamos para medir o seu nível de satisfação imediata com nossos serviços </a:t>
            </a:r>
            <a:r>
              <a:rPr b="0" i="0" lang="pt-BR" sz="1100" u="sng" cap="none" strike="noStrike">
                <a:solidFill>
                  <a:srgbClr val="373F8A"/>
                </a:solidFill>
                <a:latin typeface="Roboto Light"/>
                <a:ea typeface="Roboto Light"/>
                <a:cs typeface="Roboto Light"/>
                <a:sym typeface="Roboto Light"/>
              </a:rPr>
              <a:t>dentro desse mês. </a:t>
            </a:r>
            <a:endParaRPr b="0" i="0" sz="1100" u="sng" cap="none" strike="noStrike">
              <a:solidFill>
                <a:srgbClr val="373F8A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243" name="Google Shape;243;p15"/>
          <p:cNvSpPr txBox="1"/>
          <p:nvPr/>
        </p:nvSpPr>
        <p:spPr>
          <a:xfrm>
            <a:off x="4189412" y="2140338"/>
            <a:ext cx="41775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pt-BR" sz="1100" u="none" cap="none" strike="noStrike">
                <a:solidFill>
                  <a:srgbClr val="373F8A"/>
                </a:solidFill>
                <a:latin typeface="Roboto"/>
                <a:ea typeface="Roboto"/>
                <a:cs typeface="Roboto"/>
                <a:sym typeface="Roboto"/>
              </a:rPr>
              <a:t>Por favor, aponte a câmera do seu celular para o QR Code ao lado e responda à nossa breve pesquisa. Leva menos de 30 segundos!</a:t>
            </a:r>
            <a:endParaRPr b="0" i="0" sz="1100" u="none" cap="none" strike="noStrike">
              <a:solidFill>
                <a:srgbClr val="373F8A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244" name="Google Shape;244;p15" title="qr-code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6325" y="815700"/>
            <a:ext cx="3332276" cy="3332276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15"/>
          <p:cNvSpPr txBox="1"/>
          <p:nvPr/>
        </p:nvSpPr>
        <p:spPr>
          <a:xfrm>
            <a:off x="4273025" y="2969000"/>
            <a:ext cx="3836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pt-BR" sz="1600" u="none" cap="none" strike="noStrike">
                <a:solidFill>
                  <a:schemeClr val="lt1"/>
                </a:solidFill>
                <a:highlight>
                  <a:srgbClr val="848FEC"/>
                </a:highlight>
                <a:latin typeface="Roboto Light"/>
                <a:ea typeface="Roboto Light"/>
                <a:cs typeface="Roboto Light"/>
                <a:sym typeface="Roboto Light"/>
              </a:rPr>
              <a:t>https://forms.gle/5jFZ7e8CQMv92mom9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